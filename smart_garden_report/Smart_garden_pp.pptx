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9"/>
  </p:notesMasterIdLst>
  <p:handoutMasterIdLst>
    <p:handoutMasterId r:id="rId30"/>
  </p:handoutMasterIdLst>
  <p:sldIdLst>
    <p:sldId id="275" r:id="rId2"/>
    <p:sldId id="257" r:id="rId3"/>
    <p:sldId id="265" r:id="rId4"/>
    <p:sldId id="292" r:id="rId5"/>
    <p:sldId id="293" r:id="rId6"/>
    <p:sldId id="261" r:id="rId7"/>
    <p:sldId id="280" r:id="rId8"/>
    <p:sldId id="281" r:id="rId9"/>
    <p:sldId id="277" r:id="rId10"/>
    <p:sldId id="278" r:id="rId11"/>
    <p:sldId id="276" r:id="rId12"/>
    <p:sldId id="266" r:id="rId13"/>
    <p:sldId id="279" r:id="rId14"/>
    <p:sldId id="283" r:id="rId15"/>
    <p:sldId id="284" r:id="rId16"/>
    <p:sldId id="271" r:id="rId17"/>
    <p:sldId id="282" r:id="rId18"/>
    <p:sldId id="285" r:id="rId19"/>
    <p:sldId id="286" r:id="rId20"/>
    <p:sldId id="273" r:id="rId21"/>
    <p:sldId id="287" r:id="rId22"/>
    <p:sldId id="288" r:id="rId23"/>
    <p:sldId id="289" r:id="rId24"/>
    <p:sldId id="290" r:id="rId25"/>
    <p:sldId id="291" r:id="rId26"/>
    <p:sldId id="274" r:id="rId27"/>
    <p:sldId id="269"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3" d="100"/>
          <a:sy n="83" d="100"/>
        </p:scale>
        <p:origin x="143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6/19/2026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6/19/2026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6/19/2026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6/19/2026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6/19/2026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6/19/2026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6/19/2026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6/19/2026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6/19/2026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6/19/2026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6/19/2026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74" r:id="rId4"/>
    <p:sldLayoutId id="2147483675" r:id="rId5"/>
    <p:sldLayoutId id="2147483683" r:id="rId6"/>
    <p:sldLayoutId id="2147483679" r:id="rId7"/>
    <p:sldLayoutId id="2147483680" r:id="rId8"/>
    <p:sldLayoutId id="2147483681" r:id="rId9"/>
    <p:sldLayoutId id="2147483682" r:id="rId10"/>
    <p:sldLayoutId id="214748367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hyperlink" Target="https://studio.youtube.com/video/q0S_oU_FBuk" TargetMode="External"/><Relationship Id="rId2" Type="http://schemas.openxmlformats.org/officeDocument/2006/relationships/hyperlink" Target="https://www.youtube.com/watch?v=mZzxr0jQyzQ" TargetMode="Externa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161342" y="2060909"/>
            <a:ext cx="7942424" cy="3186016"/>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dirty="0"/>
              <a:t>ỨNG DỤNG </a:t>
            </a:r>
            <a:r>
              <a:rPr lang="en-US" dirty="0"/>
              <a:t>IOT </a:t>
            </a:r>
            <a:r>
              <a:rPr lang="vi-VN" dirty="0"/>
              <a:t> TRONG NÔNG NGHIỆP</a:t>
            </a:r>
            <a:endParaRPr lang="en-US" dirty="0"/>
          </a:p>
          <a:p>
            <a:r>
              <a:rPr lang="en-US" dirty="0"/>
              <a:t>THÔNG MINH </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161342" y="439813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sz="2800" b="0" dirty="0"/>
              <a:t>Nguyễn Quốc Anh</a:t>
            </a:r>
            <a:endParaRPr lang="en-US" sz="2800" b="0" dirty="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I. Xu </a:t>
            </a:r>
            <a:r>
              <a:rPr lang="en-US" dirty="0" err="1"/>
              <a:t>hướng</a:t>
            </a:r>
            <a:r>
              <a:rPr lang="en-US" dirty="0"/>
              <a:t> </a:t>
            </a:r>
            <a:r>
              <a:rPr lang="en-US" dirty="0" err="1"/>
              <a:t>nông</a:t>
            </a:r>
            <a:r>
              <a:rPr lang="en-US" dirty="0"/>
              <a:t> </a:t>
            </a:r>
            <a:r>
              <a:rPr lang="en-US" dirty="0" err="1"/>
              <a:t>nghiệp</a:t>
            </a:r>
            <a:endParaRPr lang="en-US" dirty="0"/>
          </a:p>
        </p:txBody>
      </p:sp>
      <p:sp>
        <p:nvSpPr>
          <p:cNvPr id="5" name="TextBox 4">
            <a:extLst>
              <a:ext uri="{FF2B5EF4-FFF2-40B4-BE49-F238E27FC236}">
                <a16:creationId xmlns:a16="http://schemas.microsoft.com/office/drawing/2014/main" id="{754872CB-7035-4AC0-9351-190800475119}"/>
              </a:ext>
            </a:extLst>
          </p:cNvPr>
          <p:cNvSpPr txBox="1"/>
          <p:nvPr/>
        </p:nvSpPr>
        <p:spPr>
          <a:xfrm>
            <a:off x="528506" y="1073791"/>
            <a:ext cx="8396277" cy="4247317"/>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err="1">
                <a:latin typeface="Aptos" panose="020B0004020202020204" pitchFamily="34" charset="0"/>
              </a:rPr>
              <a:t>Với</a:t>
            </a:r>
            <a:r>
              <a:rPr lang="en-US" dirty="0">
                <a:latin typeface="Aptos" panose="020B0004020202020204" pitchFamily="34" charset="0"/>
              </a:rPr>
              <a:t> </a:t>
            </a:r>
            <a:r>
              <a:rPr lang="en-US" dirty="0" err="1">
                <a:latin typeface="Aptos" panose="020B0004020202020204" pitchFamily="34" charset="0"/>
              </a:rPr>
              <a:t>sự</a:t>
            </a:r>
            <a:r>
              <a:rPr lang="en-US" dirty="0">
                <a:latin typeface="Aptos" panose="020B0004020202020204" pitchFamily="34" charset="0"/>
              </a:rPr>
              <a:t> </a:t>
            </a:r>
            <a:r>
              <a:rPr lang="en-US" dirty="0" err="1">
                <a:latin typeface="Aptos" panose="020B0004020202020204" pitchFamily="34" charset="0"/>
              </a:rPr>
              <a:t>phát</a:t>
            </a:r>
            <a:r>
              <a:rPr lang="en-US" dirty="0">
                <a:latin typeface="Aptos" panose="020B0004020202020204" pitchFamily="34" charset="0"/>
              </a:rPr>
              <a:t> </a:t>
            </a:r>
            <a:r>
              <a:rPr lang="en-US" dirty="0" err="1">
                <a:latin typeface="Aptos" panose="020B0004020202020204" pitchFamily="34" charset="0"/>
              </a:rPr>
              <a:t>triển</a:t>
            </a:r>
            <a:r>
              <a:rPr lang="en-US" dirty="0">
                <a:latin typeface="Aptos" panose="020B0004020202020204" pitchFamily="34" charset="0"/>
              </a:rPr>
              <a:t> </a:t>
            </a:r>
            <a:r>
              <a:rPr lang="en-US" dirty="0" err="1">
                <a:latin typeface="Aptos" panose="020B0004020202020204" pitchFamily="34" charset="0"/>
              </a:rPr>
              <a:t>của</a:t>
            </a:r>
            <a:r>
              <a:rPr lang="en-US" dirty="0">
                <a:latin typeface="Aptos" panose="020B0004020202020204" pitchFamily="34" charset="0"/>
              </a:rPr>
              <a:t> </a:t>
            </a:r>
            <a:r>
              <a:rPr lang="en-US" dirty="0" err="1">
                <a:latin typeface="Aptos" panose="020B0004020202020204" pitchFamily="34" charset="0"/>
              </a:rPr>
              <a:t>công</a:t>
            </a:r>
            <a:r>
              <a:rPr lang="en-US" dirty="0">
                <a:latin typeface="Aptos" panose="020B0004020202020204" pitchFamily="34" charset="0"/>
              </a:rPr>
              <a:t> </a:t>
            </a:r>
            <a:r>
              <a:rPr lang="en-US" dirty="0" err="1">
                <a:latin typeface="Aptos" panose="020B0004020202020204" pitchFamily="34" charset="0"/>
              </a:rPr>
              <a:t>nghệ</a:t>
            </a:r>
            <a:r>
              <a:rPr lang="en-US" dirty="0">
                <a:latin typeface="Aptos" panose="020B0004020202020204" pitchFamily="34" charset="0"/>
              </a:rPr>
              <a:t> </a:t>
            </a:r>
            <a:r>
              <a:rPr lang="en-US" dirty="0" err="1">
                <a:latin typeface="Aptos" panose="020B0004020202020204" pitchFamily="34" charset="0"/>
              </a:rPr>
              <a:t>số</a:t>
            </a:r>
            <a:r>
              <a:rPr lang="en-US" dirty="0">
                <a:latin typeface="Aptos" panose="020B0004020202020204" pitchFamily="34" charset="0"/>
              </a:rPr>
              <a:t>, </a:t>
            </a:r>
            <a:r>
              <a:rPr lang="vi-VN" dirty="0">
                <a:latin typeface="Aptos" panose="020B0004020202020204" pitchFamily="34" charset="0"/>
              </a:rPr>
              <a:t>ngành nông nghiệp đang dần chuyển đổi theo hướng thông minh, tự động hóa và bền vững. Một số xu hướng nổi bật hiện nay gồm:</a:t>
            </a:r>
            <a:endParaRPr lang="en-US" dirty="0">
              <a:latin typeface="Aptos" panose="020B0004020202020204" pitchFamily="34" charset="0"/>
            </a:endParaRPr>
          </a:p>
          <a:p>
            <a:r>
              <a:rPr lang="vi-VN" dirty="0">
                <a:latin typeface="Aptos" panose="020B0004020202020204" pitchFamily="34" charset="0"/>
              </a:rPr>
              <a:t>• Nông nghiệp thông minh (Smart Agriculture) ứng dụng IoT, AI và tự động hóa trong sản xuất.</a:t>
            </a:r>
            <a:br>
              <a:rPr lang="vi-VN" dirty="0">
                <a:latin typeface="Aptos" panose="020B0004020202020204" pitchFamily="34" charset="0"/>
              </a:rPr>
            </a:br>
            <a:r>
              <a:rPr lang="vi-VN" dirty="0">
                <a:latin typeface="Aptos" panose="020B0004020202020204" pitchFamily="34" charset="0"/>
              </a:rPr>
              <a:t>• Canh tác chính xác (Precision Farming) giúp tối ưu nước, phân bón và năng suất cây trồng.</a:t>
            </a:r>
            <a:br>
              <a:rPr lang="vi-VN" dirty="0">
                <a:latin typeface="Aptos" panose="020B0004020202020204" pitchFamily="34" charset="0"/>
              </a:rPr>
            </a:br>
            <a:r>
              <a:rPr lang="vi-VN" dirty="0">
                <a:latin typeface="Aptos" panose="020B0004020202020204" pitchFamily="34" charset="0"/>
              </a:rPr>
              <a:t>• Sử dụng drone và cảm biến để giám sát đồng ruộng và phát hiện sâu bệnh sớm.</a:t>
            </a:r>
            <a:br>
              <a:rPr lang="vi-VN" dirty="0">
                <a:latin typeface="Aptos" panose="020B0004020202020204" pitchFamily="34" charset="0"/>
              </a:rPr>
            </a:br>
            <a:r>
              <a:rPr lang="vi-VN" dirty="0">
                <a:latin typeface="Aptos" panose="020B0004020202020204" pitchFamily="34" charset="0"/>
              </a:rPr>
              <a:t>• Nhà kính và hệ thống tưới tự động ngày càng phổ biến.</a:t>
            </a:r>
            <a:br>
              <a:rPr lang="vi-VN" dirty="0">
                <a:latin typeface="Aptos" panose="020B0004020202020204" pitchFamily="34" charset="0"/>
              </a:rPr>
            </a:br>
            <a:r>
              <a:rPr lang="vi-VN" dirty="0">
                <a:latin typeface="Aptos" panose="020B0004020202020204" pitchFamily="34" charset="0"/>
              </a:rPr>
              <a:t>• Nông nghiệp xanh, hữu cơ và bền vững được quan tâm nhằm giảm tác động môi trường.</a:t>
            </a:r>
            <a:br>
              <a:rPr lang="vi-VN" dirty="0">
                <a:latin typeface="Aptos" panose="020B0004020202020204" pitchFamily="34" charset="0"/>
              </a:rPr>
            </a:br>
            <a:r>
              <a:rPr lang="vi-VN" dirty="0">
                <a:latin typeface="Aptos" panose="020B0004020202020204" pitchFamily="34" charset="0"/>
              </a:rPr>
              <a:t>• Truy xuất nguồn gốc nông sản bằng QR code và blockchain phát triển mạnh.</a:t>
            </a:r>
            <a:br>
              <a:rPr lang="vi-VN" dirty="0">
                <a:latin typeface="Aptos" panose="020B0004020202020204" pitchFamily="34" charset="0"/>
              </a:rPr>
            </a:br>
            <a:r>
              <a:rPr lang="vi-VN" dirty="0">
                <a:latin typeface="Aptos" panose="020B0004020202020204" pitchFamily="34" charset="0"/>
              </a:rPr>
              <a:t>• Ứng dụng Big Data và AI để dự báo thời tiết, mùa vụ và thị trường.</a:t>
            </a:r>
            <a:br>
              <a:rPr lang="vi-VN" dirty="0">
                <a:latin typeface="Aptos" panose="020B0004020202020204" pitchFamily="34" charset="0"/>
              </a:rPr>
            </a:br>
            <a:r>
              <a:rPr lang="vi-VN" dirty="0">
                <a:latin typeface="Aptos" panose="020B0004020202020204" pitchFamily="34" charset="0"/>
              </a:rPr>
              <a:t>• Robot và máy móc tự hành dần được áp dụng trong thu hoạch và chăm sóc cây trồng.</a:t>
            </a:r>
          </a:p>
        </p:txBody>
      </p:sp>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I. Xu </a:t>
            </a:r>
            <a:r>
              <a:rPr lang="en-US" dirty="0" err="1"/>
              <a:t>hướng</a:t>
            </a:r>
            <a:r>
              <a:rPr lang="en-US" dirty="0"/>
              <a:t> </a:t>
            </a:r>
            <a:r>
              <a:rPr lang="en-US" dirty="0" err="1"/>
              <a:t>nông</a:t>
            </a:r>
            <a:r>
              <a:rPr lang="en-US" dirty="0"/>
              <a:t> </a:t>
            </a:r>
            <a:r>
              <a:rPr lang="en-US" dirty="0" err="1"/>
              <a:t>nghiệp</a:t>
            </a:r>
            <a:endParaRPr lang="en-US" dirty="0"/>
          </a:p>
        </p:txBody>
      </p:sp>
      <p:sp>
        <p:nvSpPr>
          <p:cNvPr id="5" name="TextBox 4">
            <a:extLst>
              <a:ext uri="{FF2B5EF4-FFF2-40B4-BE49-F238E27FC236}">
                <a16:creationId xmlns:a16="http://schemas.microsoft.com/office/drawing/2014/main" id="{754872CB-7035-4AC0-9351-190800475119}"/>
              </a:ext>
            </a:extLst>
          </p:cNvPr>
          <p:cNvSpPr txBox="1"/>
          <p:nvPr/>
        </p:nvSpPr>
        <p:spPr>
          <a:xfrm>
            <a:off x="528506" y="1073791"/>
            <a:ext cx="8396277" cy="4524315"/>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Aptos" panose="020B0004020202020204" pitchFamily="34" charset="0"/>
              </a:rPr>
              <a:t>Vai </a:t>
            </a:r>
            <a:r>
              <a:rPr lang="en-US" dirty="0" err="1">
                <a:latin typeface="Aptos" panose="020B0004020202020204" pitchFamily="34" charset="0"/>
              </a:rPr>
              <a:t>trò</a:t>
            </a:r>
            <a:r>
              <a:rPr lang="en-US" dirty="0">
                <a:latin typeface="Aptos" panose="020B0004020202020204" pitchFamily="34" charset="0"/>
              </a:rPr>
              <a:t> </a:t>
            </a:r>
            <a:r>
              <a:rPr lang="en-US" dirty="0" err="1">
                <a:latin typeface="Aptos" panose="020B0004020202020204" pitchFamily="34" charset="0"/>
              </a:rPr>
              <a:t>của</a:t>
            </a:r>
            <a:r>
              <a:rPr lang="en-US" dirty="0">
                <a:latin typeface="Aptos" panose="020B0004020202020204" pitchFamily="34" charset="0"/>
              </a:rPr>
              <a:t> </a:t>
            </a:r>
            <a:r>
              <a:rPr lang="en-US" dirty="0" err="1">
                <a:latin typeface="Aptos" panose="020B0004020202020204" pitchFamily="34" charset="0"/>
              </a:rPr>
              <a:t>mạng</a:t>
            </a:r>
            <a:r>
              <a:rPr lang="en-US" dirty="0">
                <a:latin typeface="Aptos" panose="020B0004020202020204" pitchFamily="34" charset="0"/>
              </a:rPr>
              <a:t> </a:t>
            </a:r>
            <a:r>
              <a:rPr lang="en-US" dirty="0" err="1">
                <a:latin typeface="Aptos" panose="020B0004020202020204" pitchFamily="34" charset="0"/>
              </a:rPr>
              <a:t>cảm</a:t>
            </a:r>
            <a:r>
              <a:rPr lang="en-US" dirty="0">
                <a:latin typeface="Aptos" panose="020B0004020202020204" pitchFamily="34" charset="0"/>
              </a:rPr>
              <a:t> </a:t>
            </a:r>
            <a:r>
              <a:rPr lang="en-US" dirty="0" err="1">
                <a:latin typeface="Aptos" panose="020B0004020202020204" pitchFamily="34" charset="0"/>
              </a:rPr>
              <a:t>biến</a:t>
            </a:r>
            <a:r>
              <a:rPr lang="en-US" dirty="0">
                <a:latin typeface="Aptos" panose="020B0004020202020204" pitchFamily="34" charset="0"/>
              </a:rPr>
              <a:t> </a:t>
            </a:r>
            <a:r>
              <a:rPr lang="en-US" dirty="0" err="1">
                <a:latin typeface="Aptos" panose="020B0004020202020204" pitchFamily="34" charset="0"/>
              </a:rPr>
              <a:t>không</a:t>
            </a:r>
            <a:r>
              <a:rPr lang="en-US" dirty="0">
                <a:latin typeface="Aptos" panose="020B0004020202020204" pitchFamily="34" charset="0"/>
              </a:rPr>
              <a:t> </a:t>
            </a:r>
            <a:r>
              <a:rPr lang="en-US" dirty="0" err="1">
                <a:latin typeface="Aptos" panose="020B0004020202020204" pitchFamily="34" charset="0"/>
              </a:rPr>
              <a:t>dây</a:t>
            </a:r>
            <a:r>
              <a:rPr lang="en-US" dirty="0">
                <a:latin typeface="Aptos" panose="020B0004020202020204" pitchFamily="34" charset="0"/>
              </a:rPr>
              <a:t> (WNS) </a:t>
            </a:r>
            <a:r>
              <a:rPr lang="en-US" dirty="0" err="1">
                <a:latin typeface="Aptos" panose="020B0004020202020204" pitchFamily="34" charset="0"/>
              </a:rPr>
              <a:t>trông</a:t>
            </a:r>
            <a:r>
              <a:rPr lang="en-US" dirty="0">
                <a:latin typeface="Aptos" panose="020B0004020202020204" pitchFamily="34" charset="0"/>
              </a:rPr>
              <a:t> </a:t>
            </a:r>
            <a:r>
              <a:rPr lang="en-US" dirty="0" err="1">
                <a:latin typeface="Aptos" panose="020B0004020202020204" pitchFamily="34" charset="0"/>
              </a:rPr>
              <a:t>nông</a:t>
            </a:r>
            <a:r>
              <a:rPr lang="en-US" dirty="0">
                <a:latin typeface="Aptos" panose="020B0004020202020204" pitchFamily="34" charset="0"/>
              </a:rPr>
              <a:t> </a:t>
            </a:r>
            <a:r>
              <a:rPr lang="en-US" dirty="0" err="1">
                <a:latin typeface="Aptos" panose="020B0004020202020204" pitchFamily="34" charset="0"/>
              </a:rPr>
              <a:t>nghiệp</a:t>
            </a:r>
            <a:r>
              <a:rPr lang="en-US" dirty="0">
                <a:latin typeface="Aptos" panose="020B0004020202020204" pitchFamily="34" charset="0"/>
              </a:rPr>
              <a:t> </a:t>
            </a:r>
            <a:r>
              <a:rPr lang="en-US" dirty="0" err="1">
                <a:latin typeface="Aptos" panose="020B0004020202020204" pitchFamily="34" charset="0"/>
              </a:rPr>
              <a:t>tự</a:t>
            </a:r>
            <a:r>
              <a:rPr lang="en-US" dirty="0">
                <a:latin typeface="Aptos" panose="020B0004020202020204" pitchFamily="34" charset="0"/>
              </a:rPr>
              <a:t> </a:t>
            </a:r>
            <a:r>
              <a:rPr lang="en-US" dirty="0" err="1">
                <a:latin typeface="Aptos" panose="020B0004020202020204" pitchFamily="34" charset="0"/>
              </a:rPr>
              <a:t>động</a:t>
            </a:r>
            <a:r>
              <a:rPr lang="en-US" dirty="0">
                <a:latin typeface="Aptos" panose="020B0004020202020204" pitchFamily="34" charset="0"/>
              </a:rPr>
              <a:t>:</a:t>
            </a:r>
          </a:p>
          <a:p>
            <a:pPr lvl="1"/>
            <a:r>
              <a:rPr lang="vi-VN" dirty="0">
                <a:latin typeface="Aptos" panose="020B0004020202020204" pitchFamily="34" charset="0"/>
              </a:rPr>
              <a:t>• Thu thập dữ liệu môi trường như nhiệt độ, độ ẩm, ánh sáng và độ ẩm đất theo thời gian thực.</a:t>
            </a:r>
            <a:br>
              <a:rPr lang="vi-VN" dirty="0">
                <a:latin typeface="Aptos" panose="020B0004020202020204" pitchFamily="34" charset="0"/>
              </a:rPr>
            </a:br>
            <a:r>
              <a:rPr lang="vi-VN" dirty="0">
                <a:latin typeface="Aptos" panose="020B0004020202020204" pitchFamily="34" charset="0"/>
              </a:rPr>
              <a:t>• Giám sát liên tục điều kiện canh tác nhằm phát hiện sớm các yếu tố ảnh hưởng đến cây trồng.</a:t>
            </a:r>
            <a:br>
              <a:rPr lang="vi-VN" dirty="0">
                <a:latin typeface="Aptos" panose="020B0004020202020204" pitchFamily="34" charset="0"/>
              </a:rPr>
            </a:br>
            <a:r>
              <a:rPr lang="vi-VN" dirty="0">
                <a:latin typeface="Aptos" panose="020B0004020202020204" pitchFamily="34" charset="0"/>
              </a:rPr>
              <a:t>• Hỗ trợ hệ thống tưới tiêu và bón phân tự động dựa trên dữ liệu cảm biến..</a:t>
            </a:r>
            <a:br>
              <a:rPr lang="vi-VN" dirty="0">
                <a:latin typeface="Aptos" panose="020B0004020202020204" pitchFamily="34" charset="0"/>
              </a:rPr>
            </a:br>
            <a:r>
              <a:rPr lang="vi-VN" dirty="0">
                <a:latin typeface="Aptos" panose="020B0004020202020204" pitchFamily="34" charset="0"/>
              </a:rPr>
              <a:t>• Hỗ trợ quản lý và điều khiển từ xa thông qua Internet hoặc thiết bị di động.</a:t>
            </a:r>
            <a:br>
              <a:rPr lang="vi-VN" dirty="0">
                <a:latin typeface="Aptos" panose="020B0004020202020204" pitchFamily="34" charset="0"/>
              </a:rPr>
            </a:br>
            <a:r>
              <a:rPr lang="vi-VN" dirty="0">
                <a:latin typeface="Aptos" panose="020B0004020202020204" pitchFamily="34" charset="0"/>
              </a:rPr>
              <a:t>• Tiết kiệm năng lượng và chi phí nhân công.</a:t>
            </a:r>
            <a:endParaRPr lang="en-US" dirty="0">
              <a:latin typeface="Aptos" panose="020B0004020202020204" pitchFamily="34" charset="0"/>
            </a:endParaRPr>
          </a:p>
          <a:p>
            <a:pPr marL="742950" lvl="1" indent="-285750">
              <a:buFont typeface="Wingdings" panose="05000000000000000000" pitchFamily="2" charset="2"/>
              <a:buChar char="Ø"/>
            </a:pPr>
            <a:r>
              <a:rPr lang="en-US" dirty="0" err="1">
                <a:latin typeface="Aptos" panose="020B0004020202020204" pitchFamily="34" charset="0"/>
              </a:rPr>
              <a:t>Mạng</a:t>
            </a:r>
            <a:r>
              <a:rPr lang="en-US" dirty="0">
                <a:latin typeface="Aptos" panose="020B0004020202020204" pitchFamily="34" charset="0"/>
              </a:rPr>
              <a:t> </a:t>
            </a:r>
            <a:r>
              <a:rPr lang="en-US" dirty="0" err="1">
                <a:latin typeface="Aptos" panose="020B0004020202020204" pitchFamily="34" charset="0"/>
              </a:rPr>
              <a:t>cảm</a:t>
            </a:r>
            <a:r>
              <a:rPr lang="en-US" dirty="0">
                <a:latin typeface="Aptos" panose="020B0004020202020204" pitchFamily="34" charset="0"/>
              </a:rPr>
              <a:t> </a:t>
            </a:r>
            <a:r>
              <a:rPr lang="en-US" dirty="0" err="1">
                <a:latin typeface="Aptos" panose="020B0004020202020204" pitchFamily="34" charset="0"/>
              </a:rPr>
              <a:t>biến</a:t>
            </a:r>
            <a:r>
              <a:rPr lang="en-US" dirty="0">
                <a:latin typeface="Aptos" panose="020B0004020202020204" pitchFamily="34" charset="0"/>
              </a:rPr>
              <a:t> </a:t>
            </a:r>
            <a:r>
              <a:rPr lang="en-US" dirty="0" err="1">
                <a:latin typeface="Aptos" panose="020B0004020202020204" pitchFamily="34" charset="0"/>
              </a:rPr>
              <a:t>như</a:t>
            </a:r>
            <a:r>
              <a:rPr lang="en-US" dirty="0">
                <a:latin typeface="Aptos" panose="020B0004020202020204" pitchFamily="34" charset="0"/>
              </a:rPr>
              <a:t> </a:t>
            </a:r>
            <a:r>
              <a:rPr lang="en-US" dirty="0" err="1">
                <a:latin typeface="Aptos" panose="020B0004020202020204" pitchFamily="34" charset="0"/>
              </a:rPr>
              <a:t>cầu</a:t>
            </a:r>
            <a:r>
              <a:rPr lang="en-US" dirty="0">
                <a:latin typeface="Aptos" panose="020B0004020202020204" pitchFamily="34" charset="0"/>
              </a:rPr>
              <a:t> </a:t>
            </a:r>
            <a:r>
              <a:rPr lang="en-US" dirty="0" err="1">
                <a:latin typeface="Aptos" panose="020B0004020202020204" pitchFamily="34" charset="0"/>
              </a:rPr>
              <a:t>nối</a:t>
            </a:r>
            <a:r>
              <a:rPr lang="en-US" dirty="0">
                <a:latin typeface="Aptos" panose="020B0004020202020204" pitchFamily="34" charset="0"/>
              </a:rPr>
              <a:t> </a:t>
            </a:r>
            <a:r>
              <a:rPr lang="en-US" dirty="0" err="1">
                <a:latin typeface="Aptos" panose="020B0004020202020204" pitchFamily="34" charset="0"/>
              </a:rPr>
              <a:t>giữa</a:t>
            </a:r>
            <a:r>
              <a:rPr lang="en-US" dirty="0">
                <a:latin typeface="Aptos" panose="020B0004020202020204" pitchFamily="34" charset="0"/>
              </a:rPr>
              <a:t> </a:t>
            </a:r>
            <a:r>
              <a:rPr lang="en-US" dirty="0" err="1">
                <a:latin typeface="Aptos" panose="020B0004020202020204" pitchFamily="34" charset="0"/>
              </a:rPr>
              <a:t>môi</a:t>
            </a:r>
            <a:r>
              <a:rPr lang="en-US" dirty="0">
                <a:latin typeface="Aptos" panose="020B0004020202020204" pitchFamily="34" charset="0"/>
              </a:rPr>
              <a:t> </a:t>
            </a:r>
            <a:r>
              <a:rPr lang="en-US" dirty="0" err="1">
                <a:latin typeface="Aptos" panose="020B0004020202020204" pitchFamily="34" charset="0"/>
              </a:rPr>
              <a:t>trường</a:t>
            </a:r>
            <a:r>
              <a:rPr lang="en-US" dirty="0">
                <a:latin typeface="Aptos" panose="020B0004020202020204" pitchFamily="34" charset="0"/>
              </a:rPr>
              <a:t> </a:t>
            </a:r>
            <a:r>
              <a:rPr lang="en-US" dirty="0" err="1">
                <a:latin typeface="Aptos" panose="020B0004020202020204" pitchFamily="34" charset="0"/>
              </a:rPr>
              <a:t>thực</a:t>
            </a:r>
            <a:r>
              <a:rPr lang="en-US" dirty="0">
                <a:latin typeface="Aptos" panose="020B0004020202020204" pitchFamily="34" charset="0"/>
              </a:rPr>
              <a:t> </a:t>
            </a:r>
            <a:r>
              <a:rPr lang="en-US" dirty="0" err="1">
                <a:latin typeface="Aptos" panose="020B0004020202020204" pitchFamily="34" charset="0"/>
              </a:rPr>
              <a:t>tế</a:t>
            </a:r>
            <a:r>
              <a:rPr lang="en-US" dirty="0">
                <a:latin typeface="Aptos" panose="020B0004020202020204" pitchFamily="34" charset="0"/>
              </a:rPr>
              <a:t> </a:t>
            </a:r>
            <a:r>
              <a:rPr lang="en-US" dirty="0" err="1">
                <a:latin typeface="Aptos" panose="020B0004020202020204" pitchFamily="34" charset="0"/>
              </a:rPr>
              <a:t>và</a:t>
            </a:r>
            <a:r>
              <a:rPr lang="en-US" dirty="0">
                <a:latin typeface="Aptos" panose="020B0004020202020204" pitchFamily="34" charset="0"/>
              </a:rPr>
              <a:t> </a:t>
            </a:r>
            <a:r>
              <a:rPr lang="en-US" dirty="0" err="1">
                <a:latin typeface="Aptos" panose="020B0004020202020204" pitchFamily="34" charset="0"/>
              </a:rPr>
              <a:t>hệ</a:t>
            </a:r>
            <a:r>
              <a:rPr lang="en-US" dirty="0">
                <a:latin typeface="Aptos" panose="020B0004020202020204" pitchFamily="34" charset="0"/>
              </a:rPr>
              <a:t> </a:t>
            </a:r>
            <a:r>
              <a:rPr lang="en-US" dirty="0" err="1">
                <a:latin typeface="Aptos" panose="020B0004020202020204" pitchFamily="34" charset="0"/>
              </a:rPr>
              <a:t>thống</a:t>
            </a:r>
            <a:r>
              <a:rPr lang="en-US" dirty="0">
                <a:latin typeface="Aptos" panose="020B0004020202020204" pitchFamily="34" charset="0"/>
              </a:rPr>
              <a:t> </a:t>
            </a:r>
            <a:r>
              <a:rPr lang="en-US" dirty="0" err="1">
                <a:latin typeface="Aptos" panose="020B0004020202020204" pitchFamily="34" charset="0"/>
              </a:rPr>
              <a:t>điều</a:t>
            </a:r>
            <a:r>
              <a:rPr lang="en-US" dirty="0">
                <a:latin typeface="Aptos" panose="020B0004020202020204" pitchFamily="34" charset="0"/>
              </a:rPr>
              <a:t> </a:t>
            </a:r>
            <a:r>
              <a:rPr lang="en-US" dirty="0" err="1">
                <a:latin typeface="Aptos" panose="020B0004020202020204" pitchFamily="34" charset="0"/>
              </a:rPr>
              <a:t>khiển</a:t>
            </a:r>
            <a:endParaRPr lang="en-US" dirty="0">
              <a:latin typeface="Aptos" panose="020B0004020202020204" pitchFamily="34" charset="0"/>
            </a:endParaRPr>
          </a:p>
          <a:p>
            <a:pPr marL="285750" indent="-285750">
              <a:buFont typeface="Wingdings" panose="05000000000000000000" pitchFamily="2" charset="2"/>
              <a:buChar char="q"/>
            </a:pPr>
            <a:r>
              <a:rPr lang="en-US" dirty="0" err="1">
                <a:latin typeface="Aptos" panose="020B0004020202020204" pitchFamily="34" charset="0"/>
              </a:rPr>
              <a:t>Một</a:t>
            </a:r>
            <a:r>
              <a:rPr lang="en-US" dirty="0">
                <a:latin typeface="Aptos" panose="020B0004020202020204" pitchFamily="34" charset="0"/>
              </a:rPr>
              <a:t> </a:t>
            </a:r>
            <a:r>
              <a:rPr lang="en-US" dirty="0" err="1">
                <a:latin typeface="Aptos" panose="020B0004020202020204" pitchFamily="34" charset="0"/>
              </a:rPr>
              <a:t>số</a:t>
            </a:r>
            <a:r>
              <a:rPr lang="en-US" dirty="0">
                <a:latin typeface="Aptos" panose="020B0004020202020204" pitchFamily="34" charset="0"/>
              </a:rPr>
              <a:t> </a:t>
            </a:r>
            <a:r>
              <a:rPr lang="en-US" dirty="0" err="1">
                <a:latin typeface="Aptos" panose="020B0004020202020204" pitchFamily="34" charset="0"/>
              </a:rPr>
              <a:t>yêu</a:t>
            </a:r>
            <a:r>
              <a:rPr lang="en-US" dirty="0">
                <a:latin typeface="Aptos" panose="020B0004020202020204" pitchFamily="34" charset="0"/>
              </a:rPr>
              <a:t> </a:t>
            </a:r>
            <a:r>
              <a:rPr lang="en-US" dirty="0" err="1">
                <a:latin typeface="Aptos" panose="020B0004020202020204" pitchFamily="34" charset="0"/>
              </a:rPr>
              <a:t>cầu</a:t>
            </a:r>
            <a:r>
              <a:rPr lang="en-US" dirty="0">
                <a:latin typeface="Aptos" panose="020B0004020202020204" pitchFamily="34" charset="0"/>
              </a:rPr>
              <a:t> </a:t>
            </a:r>
            <a:r>
              <a:rPr lang="en-US" dirty="0" err="1">
                <a:latin typeface="Aptos" panose="020B0004020202020204" pitchFamily="34" charset="0"/>
              </a:rPr>
              <a:t>đối</a:t>
            </a:r>
            <a:r>
              <a:rPr lang="en-US" dirty="0">
                <a:latin typeface="Aptos" panose="020B0004020202020204" pitchFamily="34" charset="0"/>
              </a:rPr>
              <a:t> </a:t>
            </a:r>
            <a:r>
              <a:rPr lang="en-US" dirty="0" err="1">
                <a:latin typeface="Aptos" panose="020B0004020202020204" pitchFamily="34" charset="0"/>
              </a:rPr>
              <a:t>với</a:t>
            </a:r>
            <a:r>
              <a:rPr lang="en-US" dirty="0">
                <a:latin typeface="Aptos" panose="020B0004020202020204" pitchFamily="34" charset="0"/>
              </a:rPr>
              <a:t> </a:t>
            </a:r>
            <a:r>
              <a:rPr lang="en-US" dirty="0" err="1">
                <a:latin typeface="Aptos" panose="020B0004020202020204" pitchFamily="34" charset="0"/>
              </a:rPr>
              <a:t>mạng</a:t>
            </a:r>
            <a:r>
              <a:rPr lang="en-US" dirty="0">
                <a:latin typeface="Aptos" panose="020B0004020202020204" pitchFamily="34" charset="0"/>
              </a:rPr>
              <a:t> </a:t>
            </a:r>
            <a:r>
              <a:rPr lang="en-US" dirty="0" err="1">
                <a:latin typeface="Aptos" panose="020B0004020202020204" pitchFamily="34" charset="0"/>
              </a:rPr>
              <a:t>cảm</a:t>
            </a:r>
            <a:r>
              <a:rPr lang="en-US" dirty="0">
                <a:latin typeface="Aptos" panose="020B0004020202020204" pitchFamily="34" charset="0"/>
              </a:rPr>
              <a:t> </a:t>
            </a:r>
            <a:r>
              <a:rPr lang="en-US" dirty="0" err="1">
                <a:latin typeface="Aptos" panose="020B0004020202020204" pitchFamily="34" charset="0"/>
              </a:rPr>
              <a:t>biến</a:t>
            </a:r>
            <a:r>
              <a:rPr lang="en-US" dirty="0">
                <a:latin typeface="Aptos" panose="020B0004020202020204" pitchFamily="34" charset="0"/>
              </a:rPr>
              <a:t> </a:t>
            </a:r>
            <a:r>
              <a:rPr lang="en-US" dirty="0" err="1">
                <a:latin typeface="Aptos" panose="020B0004020202020204" pitchFamily="34" charset="0"/>
              </a:rPr>
              <a:t>nông</a:t>
            </a:r>
            <a:r>
              <a:rPr lang="en-US" dirty="0">
                <a:latin typeface="Aptos" panose="020B0004020202020204" pitchFamily="34" charset="0"/>
              </a:rPr>
              <a:t> </a:t>
            </a:r>
            <a:r>
              <a:rPr lang="en-US" dirty="0" err="1">
                <a:latin typeface="Aptos" panose="020B0004020202020204" pitchFamily="34" charset="0"/>
              </a:rPr>
              <a:t>nghiệp</a:t>
            </a:r>
            <a:r>
              <a:rPr lang="en-US" dirty="0">
                <a:latin typeface="Aptos" panose="020B0004020202020204" pitchFamily="34" charset="0"/>
              </a:rPr>
              <a:t>:</a:t>
            </a:r>
          </a:p>
          <a:p>
            <a:pPr lvl="1"/>
            <a:r>
              <a:rPr lang="vi-VN" dirty="0">
                <a:latin typeface="Aptos" panose="020B0004020202020204" pitchFamily="34" charset="0"/>
              </a:rPr>
              <a:t>• Tiêu thụ năng lượng thấp để hoạt động lâu dài ngoài thực địa.</a:t>
            </a:r>
            <a:br>
              <a:rPr lang="vi-VN" dirty="0">
                <a:latin typeface="Aptos" panose="020B0004020202020204" pitchFamily="34" charset="0"/>
              </a:rPr>
            </a:br>
            <a:r>
              <a:rPr lang="vi-VN" dirty="0">
                <a:latin typeface="Aptos" panose="020B0004020202020204" pitchFamily="34" charset="0"/>
              </a:rPr>
              <a:t>• Khả năng truyền dữ liệu ổn định và khoảng cách truyền xa.</a:t>
            </a:r>
            <a:br>
              <a:rPr lang="vi-VN" dirty="0">
                <a:latin typeface="Aptos" panose="020B0004020202020204" pitchFamily="34" charset="0"/>
              </a:rPr>
            </a:br>
            <a:r>
              <a:rPr lang="vi-VN" dirty="0">
                <a:latin typeface="Aptos" panose="020B0004020202020204" pitchFamily="34" charset="0"/>
              </a:rPr>
              <a:t>• Độ chính xác cao trong việc thu thập dữ liệu môi trường.</a:t>
            </a:r>
            <a:br>
              <a:rPr lang="vi-VN" dirty="0">
                <a:latin typeface="Aptos" panose="020B0004020202020204" pitchFamily="34" charset="0"/>
              </a:rPr>
            </a:br>
            <a:r>
              <a:rPr lang="vi-VN" dirty="0">
                <a:latin typeface="Aptos" panose="020B0004020202020204" pitchFamily="34" charset="0"/>
              </a:rPr>
              <a:t>• Khả năng chống chịu tốt với điều kiện thời tiết khắc nghiệt.</a:t>
            </a:r>
            <a:br>
              <a:rPr lang="vi-VN" dirty="0">
                <a:latin typeface="Aptos" panose="020B0004020202020204" pitchFamily="34" charset="0"/>
              </a:rPr>
            </a:br>
            <a:r>
              <a:rPr lang="vi-VN" dirty="0">
                <a:latin typeface="Aptos" panose="020B0004020202020204" pitchFamily="34" charset="0"/>
              </a:rPr>
              <a:t>• Dễ dàng triển khai, mở rộng và bảo trì hệ thống.</a:t>
            </a:r>
            <a:endParaRPr lang="en-US" dirty="0">
              <a:latin typeface="Aptos" panose="020B0004020202020204" pitchFamily="34" charset="0"/>
            </a:endParaRPr>
          </a:p>
          <a:p>
            <a:pPr lvl="1"/>
            <a:r>
              <a:rPr lang="en-US" dirty="0">
                <a:latin typeface="Aptos" panose="020B0004020202020204" pitchFamily="34" charset="0"/>
              </a:rPr>
              <a:t>• Chi </a:t>
            </a:r>
            <a:r>
              <a:rPr lang="en-US" dirty="0" err="1">
                <a:latin typeface="Aptos" panose="020B0004020202020204" pitchFamily="34" charset="0"/>
              </a:rPr>
              <a:t>phí</a:t>
            </a:r>
            <a:r>
              <a:rPr lang="en-US" dirty="0">
                <a:latin typeface="Aptos" panose="020B0004020202020204" pitchFamily="34" charset="0"/>
              </a:rPr>
              <a:t> </a:t>
            </a:r>
            <a:r>
              <a:rPr lang="en-US" dirty="0" err="1">
                <a:latin typeface="Aptos" panose="020B0004020202020204" pitchFamily="34" charset="0"/>
              </a:rPr>
              <a:t>lắp</a:t>
            </a:r>
            <a:r>
              <a:rPr lang="en-US" dirty="0">
                <a:latin typeface="Aptos" panose="020B0004020202020204" pitchFamily="34" charset="0"/>
              </a:rPr>
              <a:t> </a:t>
            </a:r>
            <a:r>
              <a:rPr lang="en-US" dirty="0" err="1">
                <a:latin typeface="Aptos" panose="020B0004020202020204" pitchFamily="34" charset="0"/>
              </a:rPr>
              <a:t>đặt</a:t>
            </a:r>
            <a:r>
              <a:rPr lang="en-US" dirty="0">
                <a:latin typeface="Aptos" panose="020B0004020202020204" pitchFamily="34" charset="0"/>
              </a:rPr>
              <a:t> </a:t>
            </a:r>
            <a:r>
              <a:rPr lang="en-US" dirty="0" err="1">
                <a:latin typeface="Aptos" panose="020B0004020202020204" pitchFamily="34" charset="0"/>
              </a:rPr>
              <a:t>và</a:t>
            </a:r>
            <a:r>
              <a:rPr lang="en-US" dirty="0">
                <a:latin typeface="Aptos" panose="020B0004020202020204" pitchFamily="34" charset="0"/>
              </a:rPr>
              <a:t> </a:t>
            </a:r>
            <a:r>
              <a:rPr lang="en-US" dirty="0" err="1">
                <a:latin typeface="Aptos" panose="020B0004020202020204" pitchFamily="34" charset="0"/>
              </a:rPr>
              <a:t>vận</a:t>
            </a:r>
            <a:r>
              <a:rPr lang="en-US" dirty="0">
                <a:latin typeface="Aptos" panose="020B0004020202020204" pitchFamily="34" charset="0"/>
              </a:rPr>
              <a:t> </a:t>
            </a:r>
            <a:r>
              <a:rPr lang="en-US" dirty="0" err="1">
                <a:latin typeface="Aptos" panose="020B0004020202020204" pitchFamily="34" charset="0"/>
              </a:rPr>
              <a:t>hành</a:t>
            </a:r>
            <a:r>
              <a:rPr lang="en-US" dirty="0">
                <a:latin typeface="Aptos" panose="020B0004020202020204" pitchFamily="34" charset="0"/>
              </a:rPr>
              <a:t> </a:t>
            </a:r>
            <a:r>
              <a:rPr lang="en-US" dirty="0" err="1">
                <a:latin typeface="Aptos" panose="020B0004020202020204" pitchFamily="34" charset="0"/>
              </a:rPr>
              <a:t>hợp</a:t>
            </a:r>
            <a:r>
              <a:rPr lang="en-US" dirty="0">
                <a:latin typeface="Aptos" panose="020B0004020202020204" pitchFamily="34" charset="0"/>
              </a:rPr>
              <a:t> </a:t>
            </a:r>
            <a:r>
              <a:rPr lang="en-US" dirty="0" err="1">
                <a:latin typeface="Aptos" panose="020B0004020202020204" pitchFamily="34" charset="0"/>
              </a:rPr>
              <a:t>lý</a:t>
            </a:r>
            <a:r>
              <a:rPr lang="en-US" dirty="0">
                <a:latin typeface="Aptos" panose="020B0004020202020204" pitchFamily="34" charset="0"/>
              </a:rPr>
              <a:t>.</a:t>
            </a:r>
          </a:p>
        </p:txBody>
      </p:sp>
    </p:spTree>
    <p:extLst>
      <p:ext uri="{BB962C8B-B14F-4D97-AF65-F5344CB8AC3E}">
        <p14:creationId xmlns:p14="http://schemas.microsoft.com/office/powerpoint/2010/main" val="3100954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II. </a:t>
            </a:r>
            <a:r>
              <a:rPr lang="en-US" dirty="0" err="1"/>
              <a:t>Giới</a:t>
            </a:r>
            <a:r>
              <a:rPr lang="en-US" dirty="0"/>
              <a:t> </a:t>
            </a:r>
            <a:r>
              <a:rPr lang="en-US" dirty="0" err="1"/>
              <a:t>thiệu</a:t>
            </a:r>
            <a:r>
              <a:rPr lang="en-US" dirty="0"/>
              <a:t> </a:t>
            </a:r>
            <a:r>
              <a:rPr lang="en-US" dirty="0" err="1"/>
              <a:t>về</a:t>
            </a:r>
            <a:r>
              <a:rPr lang="en-US" dirty="0"/>
              <a:t> LoRa</a:t>
            </a:r>
          </a:p>
        </p:txBody>
      </p:sp>
      <p:sp>
        <p:nvSpPr>
          <p:cNvPr id="5" name="TextBox 4">
            <a:extLst>
              <a:ext uri="{FF2B5EF4-FFF2-40B4-BE49-F238E27FC236}">
                <a16:creationId xmlns:a16="http://schemas.microsoft.com/office/drawing/2014/main" id="{754872CB-7035-4AC0-9351-190800475119}"/>
              </a:ext>
            </a:extLst>
          </p:cNvPr>
          <p:cNvSpPr txBox="1"/>
          <p:nvPr/>
        </p:nvSpPr>
        <p:spPr>
          <a:xfrm>
            <a:off x="528506" y="1073791"/>
            <a:ext cx="8396277" cy="3970318"/>
          </a:xfrm>
          <a:prstGeom prst="rect">
            <a:avLst/>
          </a:prstGeom>
          <a:noFill/>
        </p:spPr>
        <p:txBody>
          <a:bodyPr wrap="square" rtlCol="0">
            <a:spAutoFit/>
          </a:bodyPr>
          <a:lstStyle/>
          <a:p>
            <a:pPr marL="285750" indent="-285750">
              <a:buFont typeface="Wingdings" panose="05000000000000000000" pitchFamily="2" charset="2"/>
              <a:buChar char="q"/>
            </a:pPr>
            <a:r>
              <a:rPr lang="vi-VN" dirty="0">
                <a:latin typeface="Aptos" panose="020B0004020202020204" pitchFamily="34" charset="0"/>
              </a:rPr>
              <a:t>LoRa (Long Range) là công nghệ RF được phát triển bởi Semtech cho các ứng dụng IoT công suất thấp, tầm truyền xa.</a:t>
            </a:r>
          </a:p>
          <a:p>
            <a:pPr marL="285750" indent="-285750">
              <a:buFont typeface="Wingdings" panose="05000000000000000000" pitchFamily="2" charset="2"/>
              <a:buChar char="q"/>
            </a:pPr>
            <a:r>
              <a:rPr lang="vi-VN" dirty="0">
                <a:latin typeface="Aptos" panose="020B0004020202020204" pitchFamily="34" charset="0"/>
              </a:rPr>
              <a:t>Các đặc điểm cơ bản:</a:t>
            </a:r>
          </a:p>
          <a:p>
            <a:pPr marL="742950" lvl="1" indent="-285750">
              <a:buFont typeface="Wingdings" panose="05000000000000000000" pitchFamily="2" charset="2"/>
              <a:buChar char="Ø"/>
            </a:pPr>
            <a:r>
              <a:rPr lang="vi-VN" dirty="0">
                <a:latin typeface="Aptos" panose="020B0004020202020204" pitchFamily="34" charset="0"/>
              </a:rPr>
              <a:t>Khoảng cách truyền: &lt;15km</a:t>
            </a:r>
          </a:p>
          <a:p>
            <a:pPr marL="742950" lvl="1" indent="-285750">
              <a:buFont typeface="Wingdings" panose="05000000000000000000" pitchFamily="2" charset="2"/>
              <a:buChar char="Ø"/>
            </a:pPr>
            <a:r>
              <a:rPr lang="vi-VN" dirty="0">
                <a:latin typeface="Aptos" panose="020B0004020202020204" pitchFamily="34" charset="0"/>
              </a:rPr>
              <a:t>Công suất tiêu thụ thấp: 20-120mA(</a:t>
            </a:r>
            <a:r>
              <a:rPr lang="en-US" dirty="0" err="1">
                <a:latin typeface="Aptos" panose="020B0004020202020204" pitchFamily="34" charset="0"/>
              </a:rPr>
              <a:t>truyền</a:t>
            </a:r>
            <a:r>
              <a:rPr lang="vi-VN" dirty="0">
                <a:latin typeface="Aptos" panose="020B0004020202020204" pitchFamily="34" charset="0"/>
              </a:rPr>
              <a:t>), 10-15mA(</a:t>
            </a:r>
            <a:r>
              <a:rPr lang="en-US" dirty="0" err="1">
                <a:latin typeface="Aptos" panose="020B0004020202020204" pitchFamily="34" charset="0"/>
              </a:rPr>
              <a:t>nhận</a:t>
            </a:r>
            <a:r>
              <a:rPr lang="en-US" dirty="0">
                <a:latin typeface="Aptos" panose="020B0004020202020204" pitchFamily="34" charset="0"/>
              </a:rPr>
              <a:t> </a:t>
            </a:r>
            <a:r>
              <a:rPr lang="en-US" dirty="0" err="1">
                <a:latin typeface="Aptos" panose="020B0004020202020204" pitchFamily="34" charset="0"/>
              </a:rPr>
              <a:t>dữ</a:t>
            </a:r>
            <a:r>
              <a:rPr lang="en-US" dirty="0">
                <a:latin typeface="Aptos" panose="020B0004020202020204" pitchFamily="34" charset="0"/>
              </a:rPr>
              <a:t> </a:t>
            </a:r>
            <a:r>
              <a:rPr lang="en-US" dirty="0" err="1">
                <a:latin typeface="Aptos" panose="020B0004020202020204" pitchFamily="34" charset="0"/>
              </a:rPr>
              <a:t>liệu</a:t>
            </a:r>
            <a:r>
              <a:rPr lang="vi-VN" dirty="0">
                <a:latin typeface="Aptos" panose="020B0004020202020204" pitchFamily="34" charset="0"/>
              </a:rPr>
              <a:t>), 0.1-0.2uA(sleep)</a:t>
            </a:r>
          </a:p>
          <a:p>
            <a:pPr marL="742950" lvl="1" indent="-285750">
              <a:buFont typeface="Wingdings" panose="05000000000000000000" pitchFamily="2" charset="2"/>
              <a:buChar char="Ø"/>
            </a:pPr>
            <a:r>
              <a:rPr lang="vi-VN" dirty="0">
                <a:latin typeface="Aptos" panose="020B0004020202020204" pitchFamily="34" charset="0"/>
              </a:rPr>
              <a:t>Băng tần: 433,868,915MHz</a:t>
            </a:r>
          </a:p>
          <a:p>
            <a:pPr marL="742950" lvl="1" indent="-285750">
              <a:buFont typeface="Wingdings" panose="05000000000000000000" pitchFamily="2" charset="2"/>
              <a:buChar char="Ø"/>
            </a:pPr>
            <a:r>
              <a:rPr lang="vi-VN" dirty="0">
                <a:latin typeface="Aptos" panose="020B0004020202020204" pitchFamily="34" charset="0"/>
              </a:rPr>
              <a:t>Băng thông: lên đến 500KHz</a:t>
            </a:r>
          </a:p>
          <a:p>
            <a:pPr marL="742950" lvl="1" indent="-285750">
              <a:buFont typeface="Wingdings" panose="05000000000000000000" pitchFamily="2" charset="2"/>
              <a:buChar char="Ø"/>
            </a:pPr>
            <a:r>
              <a:rPr lang="vi-VN" dirty="0">
                <a:latin typeface="Aptos" panose="020B0004020202020204" pitchFamily="34" charset="0"/>
              </a:rPr>
              <a:t>Tốc độ truyền thấp: &lt;300kbps</a:t>
            </a:r>
          </a:p>
          <a:p>
            <a:pPr marL="285750" indent="-285750">
              <a:buFont typeface="Wingdings" panose="05000000000000000000" pitchFamily="2" charset="2"/>
              <a:buChar char="q"/>
            </a:pPr>
            <a:r>
              <a:rPr lang="vi-VN" dirty="0">
                <a:latin typeface="Aptos" panose="020B0004020202020204" pitchFamily="34" charset="0"/>
              </a:rPr>
              <a:t>Ứng dụng:</a:t>
            </a:r>
          </a:p>
          <a:p>
            <a:pPr marL="742950" lvl="1" indent="-285750">
              <a:buFont typeface="Wingdings" panose="05000000000000000000" pitchFamily="2" charset="2"/>
              <a:buChar char="Ø"/>
            </a:pPr>
            <a:r>
              <a:rPr lang="vi-VN" dirty="0">
                <a:latin typeface="Aptos" panose="020B0004020202020204" pitchFamily="34" charset="0"/>
              </a:rPr>
              <a:t>Nông nghiệp</a:t>
            </a:r>
          </a:p>
          <a:p>
            <a:pPr marL="742950" lvl="1" indent="-285750">
              <a:buFont typeface="Wingdings" panose="05000000000000000000" pitchFamily="2" charset="2"/>
              <a:buChar char="Ø"/>
            </a:pPr>
            <a:r>
              <a:rPr lang="vi-VN" dirty="0">
                <a:latin typeface="Aptos" panose="020B0004020202020204" pitchFamily="34" charset="0"/>
              </a:rPr>
              <a:t>Giám sát, quan trắc môi trường</a:t>
            </a:r>
          </a:p>
          <a:p>
            <a:pPr marL="742950" lvl="1" indent="-285750">
              <a:buFont typeface="Wingdings" panose="05000000000000000000" pitchFamily="2" charset="2"/>
              <a:buChar char="Ø"/>
            </a:pPr>
            <a:r>
              <a:rPr lang="vi-VN" dirty="0">
                <a:latin typeface="Aptos" panose="020B0004020202020204" pitchFamily="34" charset="0"/>
              </a:rPr>
              <a:t>Định vị</a:t>
            </a:r>
          </a:p>
          <a:p>
            <a:pPr lvl="1"/>
            <a:endParaRPr lang="vi-VN" dirty="0"/>
          </a:p>
        </p:txBody>
      </p:sp>
    </p:spTree>
    <p:extLst>
      <p:ext uri="{BB962C8B-B14F-4D97-AF65-F5344CB8AC3E}">
        <p14:creationId xmlns:p14="http://schemas.microsoft.com/office/powerpoint/2010/main" val="1252491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6</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dirty="0"/>
              <a:t>II. </a:t>
            </a:r>
            <a:r>
              <a:rPr lang="en-US" dirty="0" err="1"/>
              <a:t>Giới</a:t>
            </a:r>
            <a:r>
              <a:rPr lang="en-US" dirty="0"/>
              <a:t> </a:t>
            </a:r>
            <a:r>
              <a:rPr lang="en-US" dirty="0" err="1"/>
              <a:t>thiệu</a:t>
            </a:r>
            <a:r>
              <a:rPr lang="en-US" dirty="0"/>
              <a:t> </a:t>
            </a:r>
            <a:r>
              <a:rPr lang="en-US" dirty="0" err="1"/>
              <a:t>về</a:t>
            </a:r>
            <a:r>
              <a:rPr lang="en-US" dirty="0"/>
              <a:t> LoRa</a:t>
            </a:r>
          </a:p>
        </p:txBody>
      </p:sp>
      <p:sp>
        <p:nvSpPr>
          <p:cNvPr id="7" name="TextBox 6">
            <a:extLst>
              <a:ext uri="{FF2B5EF4-FFF2-40B4-BE49-F238E27FC236}">
                <a16:creationId xmlns:a16="http://schemas.microsoft.com/office/drawing/2014/main" id="{A72A440D-7444-45AD-8356-4EFDFC941E4F}"/>
              </a:ext>
            </a:extLst>
          </p:cNvPr>
          <p:cNvSpPr txBox="1"/>
          <p:nvPr/>
        </p:nvSpPr>
        <p:spPr>
          <a:xfrm>
            <a:off x="493671" y="1308682"/>
            <a:ext cx="8123855" cy="3970318"/>
          </a:xfrm>
          <a:prstGeom prst="rect">
            <a:avLst/>
          </a:prstGeom>
          <a:noFill/>
        </p:spPr>
        <p:txBody>
          <a:bodyPr wrap="square" rtlCol="0">
            <a:spAutoFit/>
          </a:bodyPr>
          <a:lstStyle/>
          <a:p>
            <a:pPr marL="285750" indent="-285750">
              <a:buFont typeface="Wingdings" panose="05000000000000000000" pitchFamily="2" charset="2"/>
              <a:buChar char="q"/>
            </a:pPr>
            <a:r>
              <a:rPr lang="vi-VN" dirty="0"/>
              <a:t>SX1278 là chip tích hợp bộ điều chế(modem) LoRa do chính SEMTECH cung cấp</a:t>
            </a:r>
          </a:p>
          <a:p>
            <a:pPr marL="285750" indent="-285750">
              <a:buFont typeface="Wingdings" panose="05000000000000000000" pitchFamily="2" charset="2"/>
              <a:buChar char="q"/>
            </a:pPr>
            <a:r>
              <a:rPr lang="vi-VN" dirty="0"/>
              <a:t>RA-02: module LoRa có chip SX1278 là IC chính, có thể tích hợp thêm anten ngoài</a:t>
            </a:r>
          </a:p>
          <a:p>
            <a:pPr marL="285750" indent="-285750">
              <a:buFont typeface="Wingdings" panose="05000000000000000000" pitchFamily="2" charset="2"/>
              <a:buChar char="q"/>
            </a:pPr>
            <a:r>
              <a:rPr lang="vi-VN" dirty="0"/>
              <a:t>Các thông số:</a:t>
            </a:r>
          </a:p>
          <a:p>
            <a:pPr marL="742950" lvl="1" indent="-285750">
              <a:buFont typeface="Wingdings" panose="05000000000000000000" pitchFamily="2" charset="2"/>
              <a:buChar char="Ø"/>
            </a:pPr>
            <a:r>
              <a:rPr lang="vi-VN" dirty="0"/>
              <a:t>Công suất phát: max 18dBm</a:t>
            </a:r>
          </a:p>
          <a:p>
            <a:pPr marL="742950" lvl="1" indent="-285750">
              <a:buFont typeface="Wingdings" panose="05000000000000000000" pitchFamily="2" charset="2"/>
              <a:buChar char="Ø"/>
            </a:pPr>
            <a:r>
              <a:rPr lang="vi-VN" dirty="0"/>
              <a:t>Công suất tiêu thụ:</a:t>
            </a:r>
            <a:r>
              <a:rPr lang="en-US" dirty="0"/>
              <a:t>min 0.2uA ~ 120mA </a:t>
            </a:r>
            <a:r>
              <a:rPr lang="en-US" dirty="0" err="1"/>
              <a:t>phụ</a:t>
            </a:r>
            <a:r>
              <a:rPr lang="en-US" dirty="0"/>
              <a:t> </a:t>
            </a:r>
            <a:r>
              <a:rPr lang="en-US" dirty="0" err="1"/>
              <a:t>thuộc</a:t>
            </a:r>
            <a:r>
              <a:rPr lang="en-US" dirty="0"/>
              <a:t> </a:t>
            </a:r>
            <a:r>
              <a:rPr lang="en-US" dirty="0" err="1"/>
              <a:t>vào</a:t>
            </a:r>
            <a:r>
              <a:rPr lang="en-US" dirty="0"/>
              <a:t> </a:t>
            </a:r>
            <a:r>
              <a:rPr lang="en-US" dirty="0" err="1"/>
              <a:t>chế</a:t>
            </a:r>
            <a:r>
              <a:rPr lang="en-US" dirty="0"/>
              <a:t> </a:t>
            </a:r>
            <a:r>
              <a:rPr lang="en-US" dirty="0" err="1"/>
              <a:t>độ</a:t>
            </a:r>
            <a:r>
              <a:rPr lang="en-US" dirty="0"/>
              <a:t> </a:t>
            </a:r>
            <a:r>
              <a:rPr lang="vi-VN" dirty="0"/>
              <a:t> (datasheet)</a:t>
            </a:r>
          </a:p>
          <a:p>
            <a:pPr marL="742950" lvl="1" indent="-285750">
              <a:buFont typeface="Wingdings" panose="05000000000000000000" pitchFamily="2" charset="2"/>
              <a:buChar char="Ø"/>
            </a:pPr>
            <a:r>
              <a:rPr lang="vi-VN" dirty="0"/>
              <a:t>Băng tần: 433MHz</a:t>
            </a:r>
          </a:p>
          <a:p>
            <a:pPr marL="742950" lvl="1" indent="-285750">
              <a:buFont typeface="Wingdings" panose="05000000000000000000" pitchFamily="2" charset="2"/>
              <a:buChar char="Ø"/>
            </a:pPr>
            <a:r>
              <a:rPr lang="vi-VN" dirty="0"/>
              <a:t>Băng thông: max 500Mhz</a:t>
            </a:r>
          </a:p>
          <a:p>
            <a:pPr marL="742950" lvl="1" indent="-285750">
              <a:buFont typeface="Wingdings" panose="05000000000000000000" pitchFamily="2" charset="2"/>
              <a:buChar char="Ø"/>
            </a:pPr>
            <a:r>
              <a:rPr lang="vi-VN" dirty="0"/>
              <a:t>Bit rate: max 300Kbps</a:t>
            </a:r>
          </a:p>
          <a:p>
            <a:pPr marL="742950" lvl="1" indent="-285750">
              <a:buFont typeface="Wingdings" panose="05000000000000000000" pitchFamily="2" charset="2"/>
              <a:buChar char="Ø"/>
            </a:pPr>
            <a:r>
              <a:rPr lang="vi-VN" dirty="0"/>
              <a:t>Giao tiếp: SPI</a:t>
            </a:r>
          </a:p>
          <a:p>
            <a:pPr marL="742950" lvl="1" indent="-285750">
              <a:buFont typeface="Wingdings" panose="05000000000000000000" pitchFamily="2" charset="2"/>
              <a:buChar char="Ø"/>
            </a:pPr>
            <a:r>
              <a:rPr lang="vi-VN" dirty="0"/>
              <a:t>Điện áp hoạt động: 3.3V</a:t>
            </a:r>
          </a:p>
          <a:p>
            <a:pPr marL="742950" lvl="1" indent="-285750">
              <a:buFont typeface="Wingdings" panose="05000000000000000000" pitchFamily="2" charset="2"/>
              <a:buChar char="Ø"/>
            </a:pPr>
            <a:r>
              <a:rPr lang="en-US" dirty="0"/>
              <a:t>Receive s</a:t>
            </a:r>
            <a:r>
              <a:rPr lang="vi-VN" dirty="0"/>
              <a:t>ensitivity</a:t>
            </a:r>
            <a:r>
              <a:rPr lang="en-US" dirty="0"/>
              <a:t>:</a:t>
            </a:r>
            <a:r>
              <a:rPr lang="vi-VN" dirty="0"/>
              <a:t> -141 dBm</a:t>
            </a:r>
          </a:p>
          <a:p>
            <a:pPr marL="742950" lvl="1" indent="-285750">
              <a:buFont typeface="Wingdings" panose="05000000000000000000" pitchFamily="2" charset="2"/>
              <a:buChar char="Ø"/>
            </a:pPr>
            <a:r>
              <a:rPr lang="vi-VN" dirty="0"/>
              <a:t>Đóng gói có CRC payload max </a:t>
            </a:r>
            <a:r>
              <a:rPr lang="en-US" dirty="0"/>
              <a:t>256 bytes</a:t>
            </a:r>
            <a:endParaRPr lang="vi-VN" dirty="0"/>
          </a:p>
        </p:txBody>
      </p:sp>
    </p:spTree>
    <p:extLst>
      <p:ext uri="{BB962C8B-B14F-4D97-AF65-F5344CB8AC3E}">
        <p14:creationId xmlns:p14="http://schemas.microsoft.com/office/powerpoint/2010/main" val="64084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dirty="0"/>
              <a:t>III. Lập trình cấu hình các thông số của LoRa</a:t>
            </a:r>
            <a:endParaRPr lang="en-US" dirty="0"/>
          </a:p>
        </p:txBody>
      </p:sp>
      <p:sp>
        <p:nvSpPr>
          <p:cNvPr id="5" name="TextBox 4">
            <a:extLst>
              <a:ext uri="{FF2B5EF4-FFF2-40B4-BE49-F238E27FC236}">
                <a16:creationId xmlns:a16="http://schemas.microsoft.com/office/drawing/2014/main" id="{7CAABB0C-2F8B-4249-B022-6733B65ACD45}"/>
              </a:ext>
            </a:extLst>
          </p:cNvPr>
          <p:cNvSpPr txBox="1"/>
          <p:nvPr/>
        </p:nvSpPr>
        <p:spPr>
          <a:xfrm>
            <a:off x="466494" y="1007497"/>
            <a:ext cx="7827444" cy="5293757"/>
          </a:xfrm>
          <a:prstGeom prst="rect">
            <a:avLst/>
          </a:prstGeom>
          <a:noFill/>
        </p:spPr>
        <p:txBody>
          <a:bodyPr wrap="square" rtlCol="0">
            <a:spAutoFit/>
          </a:bodyPr>
          <a:lstStyle/>
          <a:p>
            <a:r>
              <a:rPr lang="en-US" dirty="0">
                <a:latin typeface="Aptos" panose="020B0004020202020204" pitchFamily="34" charset="0"/>
              </a:rPr>
              <a:t>3.1 </a:t>
            </a:r>
            <a:r>
              <a:rPr lang="en-US" dirty="0" err="1">
                <a:latin typeface="Aptos" panose="020B0004020202020204" pitchFamily="34" charset="0"/>
              </a:rPr>
              <a:t>Cấu</a:t>
            </a:r>
            <a:r>
              <a:rPr lang="en-US" dirty="0">
                <a:latin typeface="Aptos" panose="020B0004020202020204" pitchFamily="34" charset="0"/>
              </a:rPr>
              <a:t> </a:t>
            </a:r>
            <a:r>
              <a:rPr lang="en-US" dirty="0" err="1">
                <a:latin typeface="Aptos" panose="020B0004020202020204" pitchFamily="34" charset="0"/>
              </a:rPr>
              <a:t>hình</a:t>
            </a:r>
            <a:r>
              <a:rPr lang="en-US" dirty="0">
                <a:latin typeface="Aptos" panose="020B0004020202020204" pitchFamily="34" charset="0"/>
              </a:rPr>
              <a:t> </a:t>
            </a:r>
            <a:r>
              <a:rPr lang="en-US" dirty="0" err="1">
                <a:latin typeface="Aptos" panose="020B0004020202020204" pitchFamily="34" charset="0"/>
              </a:rPr>
              <a:t>các</a:t>
            </a:r>
            <a:r>
              <a:rPr lang="en-US" dirty="0">
                <a:latin typeface="Aptos" panose="020B0004020202020204" pitchFamily="34" charset="0"/>
              </a:rPr>
              <a:t> </a:t>
            </a:r>
            <a:r>
              <a:rPr lang="en-US" dirty="0" err="1">
                <a:latin typeface="Aptos" panose="020B0004020202020204" pitchFamily="34" charset="0"/>
              </a:rPr>
              <a:t>thông</a:t>
            </a:r>
            <a:r>
              <a:rPr lang="en-US" dirty="0">
                <a:latin typeface="Aptos" panose="020B0004020202020204" pitchFamily="34" charset="0"/>
              </a:rPr>
              <a:t> </a:t>
            </a:r>
            <a:r>
              <a:rPr lang="en-US" dirty="0" err="1">
                <a:latin typeface="Aptos" panose="020B0004020202020204" pitchFamily="34" charset="0"/>
              </a:rPr>
              <a:t>số</a:t>
            </a:r>
            <a:r>
              <a:rPr lang="en-US" dirty="0">
                <a:latin typeface="Aptos" panose="020B0004020202020204" pitchFamily="34" charset="0"/>
              </a:rPr>
              <a:t> LoRa</a:t>
            </a:r>
          </a:p>
          <a:p>
            <a:r>
              <a:rPr lang="en-US" dirty="0" err="1">
                <a:latin typeface="Aptos" panose="020B0004020202020204" pitchFamily="34" charset="0"/>
              </a:rPr>
              <a:t>Việc</a:t>
            </a:r>
            <a:r>
              <a:rPr lang="en-US" dirty="0">
                <a:latin typeface="Aptos" panose="020B0004020202020204" pitchFamily="34" charset="0"/>
              </a:rPr>
              <a:t> </a:t>
            </a:r>
            <a:r>
              <a:rPr lang="en-US" dirty="0" err="1">
                <a:latin typeface="Aptos" panose="020B0004020202020204" pitchFamily="34" charset="0"/>
              </a:rPr>
              <a:t>cấu</a:t>
            </a:r>
            <a:r>
              <a:rPr lang="en-US" dirty="0">
                <a:latin typeface="Aptos" panose="020B0004020202020204" pitchFamily="34" charset="0"/>
              </a:rPr>
              <a:t> </a:t>
            </a:r>
            <a:r>
              <a:rPr lang="en-US" dirty="0" err="1">
                <a:latin typeface="Aptos" panose="020B0004020202020204" pitchFamily="34" charset="0"/>
              </a:rPr>
              <a:t>hình</a:t>
            </a:r>
            <a:r>
              <a:rPr lang="en-US" dirty="0">
                <a:latin typeface="Aptos" panose="020B0004020202020204" pitchFamily="34" charset="0"/>
              </a:rPr>
              <a:t> LoRa </a:t>
            </a:r>
            <a:r>
              <a:rPr lang="en-US" dirty="0" err="1">
                <a:latin typeface="Aptos" panose="020B0004020202020204" pitchFamily="34" charset="0"/>
              </a:rPr>
              <a:t>là</a:t>
            </a:r>
            <a:r>
              <a:rPr lang="en-US" dirty="0">
                <a:latin typeface="Aptos" panose="020B0004020202020204" pitchFamily="34" charset="0"/>
              </a:rPr>
              <a:t> </a:t>
            </a:r>
            <a:r>
              <a:rPr lang="en-US" dirty="0" err="1">
                <a:latin typeface="Aptos" panose="020B0004020202020204" pitchFamily="34" charset="0"/>
              </a:rPr>
              <a:t>việc</a:t>
            </a:r>
            <a:r>
              <a:rPr lang="en-US" dirty="0">
                <a:latin typeface="Aptos" panose="020B0004020202020204" pitchFamily="34" charset="0"/>
              </a:rPr>
              <a:t> </a:t>
            </a:r>
            <a:r>
              <a:rPr lang="en-US" dirty="0" err="1">
                <a:latin typeface="Aptos" panose="020B0004020202020204" pitchFamily="34" charset="0"/>
              </a:rPr>
              <a:t>ghi</a:t>
            </a:r>
            <a:r>
              <a:rPr lang="en-US" dirty="0">
                <a:latin typeface="Aptos" panose="020B0004020202020204" pitchFamily="34" charset="0"/>
              </a:rPr>
              <a:t> </a:t>
            </a:r>
            <a:r>
              <a:rPr lang="en-US" dirty="0" err="1">
                <a:latin typeface="Aptos" panose="020B0004020202020204" pitchFamily="34" charset="0"/>
              </a:rPr>
              <a:t>dữ</a:t>
            </a:r>
            <a:r>
              <a:rPr lang="en-US" dirty="0">
                <a:latin typeface="Aptos" panose="020B0004020202020204" pitchFamily="34" charset="0"/>
              </a:rPr>
              <a:t> </a:t>
            </a:r>
            <a:r>
              <a:rPr lang="en-US" dirty="0" err="1">
                <a:latin typeface="Aptos" panose="020B0004020202020204" pitchFamily="34" charset="0"/>
              </a:rPr>
              <a:t>liệu</a:t>
            </a:r>
            <a:r>
              <a:rPr lang="en-US" dirty="0">
                <a:latin typeface="Aptos" panose="020B0004020202020204" pitchFamily="34" charset="0"/>
              </a:rPr>
              <a:t> </a:t>
            </a:r>
            <a:r>
              <a:rPr lang="en-US" dirty="0" err="1">
                <a:latin typeface="Aptos" panose="020B0004020202020204" pitchFamily="34" charset="0"/>
              </a:rPr>
              <a:t>vào</a:t>
            </a:r>
            <a:r>
              <a:rPr lang="en-US" dirty="0">
                <a:latin typeface="Aptos" panose="020B0004020202020204" pitchFamily="34" charset="0"/>
              </a:rPr>
              <a:t> </a:t>
            </a:r>
            <a:r>
              <a:rPr lang="en-US" dirty="0" err="1">
                <a:latin typeface="Aptos" panose="020B0004020202020204" pitchFamily="34" charset="0"/>
              </a:rPr>
              <a:t>các</a:t>
            </a:r>
            <a:r>
              <a:rPr lang="en-US" dirty="0">
                <a:latin typeface="Aptos" panose="020B0004020202020204" pitchFamily="34" charset="0"/>
              </a:rPr>
              <a:t> </a:t>
            </a:r>
            <a:r>
              <a:rPr lang="en-US" dirty="0" err="1">
                <a:latin typeface="Aptos" panose="020B0004020202020204" pitchFamily="34" charset="0"/>
              </a:rPr>
              <a:t>thanh</a:t>
            </a:r>
            <a:r>
              <a:rPr lang="en-US" dirty="0">
                <a:latin typeface="Aptos" panose="020B0004020202020204" pitchFamily="34" charset="0"/>
              </a:rPr>
              <a:t> </a:t>
            </a:r>
            <a:r>
              <a:rPr lang="en-US" dirty="0" err="1">
                <a:latin typeface="Aptos" panose="020B0004020202020204" pitchFamily="34" charset="0"/>
              </a:rPr>
              <a:t>ghi</a:t>
            </a:r>
            <a:r>
              <a:rPr lang="en-US" dirty="0">
                <a:latin typeface="Aptos" panose="020B0004020202020204" pitchFamily="34" charset="0"/>
              </a:rPr>
              <a:t> </a:t>
            </a:r>
            <a:r>
              <a:rPr lang="en-US" dirty="0" err="1">
                <a:latin typeface="Aptos" panose="020B0004020202020204" pitchFamily="34" charset="0"/>
              </a:rPr>
              <a:t>thông</a:t>
            </a:r>
            <a:r>
              <a:rPr lang="en-US" dirty="0">
                <a:latin typeface="Aptos" panose="020B0004020202020204" pitchFamily="34" charset="0"/>
              </a:rPr>
              <a:t> qua SPI</a:t>
            </a:r>
          </a:p>
          <a:p>
            <a:endParaRPr lang="en-US" dirty="0">
              <a:latin typeface="Aptos" panose="020B0004020202020204" pitchFamily="34" charset="0"/>
            </a:endParaRPr>
          </a:p>
          <a:p>
            <a:r>
              <a:rPr lang="en-US" dirty="0">
                <a:latin typeface="Aptos" panose="020B0004020202020204" pitchFamily="34" charset="0"/>
              </a:rPr>
              <a:t>3.1.1 </a:t>
            </a:r>
            <a:r>
              <a:rPr lang="en-US" dirty="0" err="1">
                <a:latin typeface="Aptos" panose="020B0004020202020204" pitchFamily="34" charset="0"/>
              </a:rPr>
              <a:t>Các</a:t>
            </a:r>
            <a:r>
              <a:rPr lang="en-US" dirty="0">
                <a:latin typeface="Aptos" panose="020B0004020202020204" pitchFamily="34" charset="0"/>
              </a:rPr>
              <a:t> </a:t>
            </a:r>
            <a:r>
              <a:rPr lang="en-US" dirty="0" err="1">
                <a:latin typeface="Aptos" panose="020B0004020202020204" pitchFamily="34" charset="0"/>
              </a:rPr>
              <a:t>thông</a:t>
            </a:r>
            <a:r>
              <a:rPr lang="en-US" dirty="0">
                <a:latin typeface="Aptos" panose="020B0004020202020204" pitchFamily="34" charset="0"/>
              </a:rPr>
              <a:t> </a:t>
            </a:r>
            <a:r>
              <a:rPr lang="en-US" dirty="0" err="1">
                <a:latin typeface="Aptos" panose="020B0004020202020204" pitchFamily="34" charset="0"/>
              </a:rPr>
              <a:t>số</a:t>
            </a:r>
            <a:endParaRPr lang="en-US" dirty="0">
              <a:latin typeface="Aptos" panose="020B0004020202020204" pitchFamily="34" charset="0"/>
            </a:endParaRPr>
          </a:p>
          <a:p>
            <a:r>
              <a:rPr lang="en-US" dirty="0">
                <a:latin typeface="Aptos" panose="020B0004020202020204" pitchFamily="34" charset="0"/>
              </a:rPr>
              <a:t>	3.1.1.1. </a:t>
            </a:r>
            <a:r>
              <a:rPr lang="en-US" dirty="0" err="1">
                <a:latin typeface="Aptos" panose="020B0004020202020204" pitchFamily="34" charset="0"/>
              </a:rPr>
              <a:t>Hệ</a:t>
            </a:r>
            <a:r>
              <a:rPr lang="en-US" dirty="0">
                <a:latin typeface="Aptos" panose="020B0004020202020204" pitchFamily="34" charset="0"/>
              </a:rPr>
              <a:t> </a:t>
            </a:r>
            <a:r>
              <a:rPr lang="en-US" dirty="0" err="1">
                <a:latin typeface="Aptos" panose="020B0004020202020204" pitchFamily="34" charset="0"/>
              </a:rPr>
              <a:t>số</a:t>
            </a:r>
            <a:r>
              <a:rPr lang="en-US" dirty="0">
                <a:latin typeface="Aptos" panose="020B0004020202020204" pitchFamily="34" charset="0"/>
              </a:rPr>
              <a:t> </a:t>
            </a:r>
            <a:r>
              <a:rPr lang="en-US" dirty="0" err="1">
                <a:latin typeface="Aptos" panose="020B0004020202020204" pitchFamily="34" charset="0"/>
              </a:rPr>
              <a:t>trải</a:t>
            </a:r>
            <a:r>
              <a:rPr lang="en-US" dirty="0">
                <a:latin typeface="Aptos" panose="020B0004020202020204" pitchFamily="34" charset="0"/>
              </a:rPr>
              <a:t> </a:t>
            </a:r>
            <a:r>
              <a:rPr lang="en-US" dirty="0" err="1">
                <a:latin typeface="Aptos" panose="020B0004020202020204" pitchFamily="34" charset="0"/>
              </a:rPr>
              <a:t>phổ</a:t>
            </a:r>
            <a:r>
              <a:rPr lang="en-US" dirty="0">
                <a:latin typeface="Aptos" panose="020B0004020202020204" pitchFamily="34" charset="0"/>
              </a:rPr>
              <a:t> Spreading Factor</a:t>
            </a:r>
          </a:p>
          <a:p>
            <a:r>
              <a:rPr lang="en-US" b="0"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Quá</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trình</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điều</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chế</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LoRaTM</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thực</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hiện</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bằng</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cách</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biểu</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diễn</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mỗi</a:t>
            </a:r>
            <a:r>
              <a:rPr lang="en-US" i="0" dirty="0">
                <a:solidFill>
                  <a:srgbClr val="303030"/>
                </a:solidFill>
                <a:effectLst/>
                <a:latin typeface="Aptos" panose="020B0004020202020204" pitchFamily="34" charset="0"/>
              </a:rPr>
              <a:t> bit </a:t>
            </a:r>
            <a:r>
              <a:rPr lang="en-US" i="0" dirty="0" err="1">
                <a:solidFill>
                  <a:srgbClr val="303030"/>
                </a:solidFill>
                <a:effectLst/>
                <a:latin typeface="Aptos" panose="020B0004020202020204" pitchFamily="34" charset="0"/>
              </a:rPr>
              <a:t>thông</a:t>
            </a:r>
            <a:r>
              <a:rPr lang="en-US" i="0" dirty="0">
                <a:solidFill>
                  <a:srgbClr val="303030"/>
                </a:solidFill>
                <a:effectLst/>
                <a:latin typeface="Aptos" panose="020B0004020202020204" pitchFamily="34" charset="0"/>
              </a:rPr>
              <a:t> tin </a:t>
            </a:r>
            <a:r>
              <a:rPr lang="en-US" i="0" dirty="0" err="1">
                <a:solidFill>
                  <a:srgbClr val="303030"/>
                </a:solidFill>
                <a:effectLst/>
                <a:latin typeface="Aptos" panose="020B0004020202020204" pitchFamily="34" charset="0"/>
              </a:rPr>
              <a:t>bằng</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nhiều</a:t>
            </a:r>
            <a:r>
              <a:rPr lang="en-US" i="0" dirty="0">
                <a:solidFill>
                  <a:srgbClr val="303030"/>
                </a:solidFill>
                <a:effectLst/>
                <a:latin typeface="Aptos" panose="020B0004020202020204" pitchFamily="34" charset="0"/>
              </a:rPr>
              <a:t> chip </a:t>
            </a:r>
            <a:r>
              <a:rPr lang="en-US" i="0" dirty="0" err="1">
                <a:solidFill>
                  <a:srgbClr val="303030"/>
                </a:solidFill>
                <a:effectLst/>
                <a:latin typeface="Aptos" panose="020B0004020202020204" pitchFamily="34" charset="0"/>
              </a:rPr>
              <a:t>thông</a:t>
            </a:r>
            <a:r>
              <a:rPr lang="en-US" i="0" dirty="0">
                <a:solidFill>
                  <a:srgbClr val="303030"/>
                </a:solidFill>
                <a:effectLst/>
                <a:latin typeface="Aptos" panose="020B0004020202020204" pitchFamily="34" charset="0"/>
              </a:rPr>
              <a:t> tin</a:t>
            </a:r>
            <a:r>
              <a:rPr lang="en-US" dirty="0">
                <a:latin typeface="Aptos" panose="020B0004020202020204" pitchFamily="34" charset="0"/>
              </a:rPr>
              <a:t>. </a:t>
            </a:r>
            <a:r>
              <a:rPr lang="en-US" dirty="0" err="1">
                <a:solidFill>
                  <a:srgbClr val="303030"/>
                </a:solidFill>
                <a:latin typeface="Aptos" panose="020B0004020202020204" pitchFamily="34" charset="0"/>
              </a:rPr>
              <a:t>t</a:t>
            </a:r>
            <a:r>
              <a:rPr lang="en-US" i="0" dirty="0" err="1">
                <a:solidFill>
                  <a:srgbClr val="303030"/>
                </a:solidFill>
                <a:effectLst/>
                <a:latin typeface="Aptos" panose="020B0004020202020204" pitchFamily="34" charset="0"/>
              </a:rPr>
              <a:t>ỷ</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lệ</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giữa</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tốc</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độ</a:t>
            </a:r>
            <a:r>
              <a:rPr lang="en-US" i="0" dirty="0">
                <a:solidFill>
                  <a:srgbClr val="303030"/>
                </a:solidFill>
                <a:effectLst/>
                <a:latin typeface="Aptos" panose="020B0004020202020204" pitchFamily="34" charset="0"/>
              </a:rPr>
              <a:t> chip </a:t>
            </a:r>
            <a:r>
              <a:rPr lang="en-US" i="0" dirty="0" err="1">
                <a:solidFill>
                  <a:srgbClr val="303030"/>
                </a:solidFill>
                <a:effectLst/>
                <a:latin typeface="Aptos" panose="020B0004020202020204" pitchFamily="34" charset="0"/>
              </a:rPr>
              <a:t>và</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tốc</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độ</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ký</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hiệu</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chính</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là</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hệ</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số</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trải</a:t>
            </a:r>
            <a:r>
              <a:rPr lang="en-US" i="0" dirty="0">
                <a:solidFill>
                  <a:srgbClr val="303030"/>
                </a:solidFill>
                <a:effectLst/>
                <a:latin typeface="Aptos" panose="020B0004020202020204" pitchFamily="34" charset="0"/>
              </a:rPr>
              <a:t> </a:t>
            </a:r>
            <a:r>
              <a:rPr lang="en-US" i="0" dirty="0" err="1">
                <a:solidFill>
                  <a:srgbClr val="303030"/>
                </a:solidFill>
                <a:effectLst/>
                <a:latin typeface="Aptos" panose="020B0004020202020204" pitchFamily="34" charset="0"/>
              </a:rPr>
              <a:t>phổ</a:t>
            </a:r>
            <a:endParaRPr lang="en-US" dirty="0">
              <a:solidFill>
                <a:srgbClr val="303030"/>
              </a:solidFill>
              <a:latin typeface="Aptos" panose="020B0004020202020204" pitchFamily="34" charset="0"/>
            </a:endParaRPr>
          </a:p>
          <a:p>
            <a:r>
              <a:rPr lang="en-US" dirty="0">
                <a:solidFill>
                  <a:srgbClr val="303030"/>
                </a:solidFill>
                <a:latin typeface="Aptos" panose="020B0004020202020204" pitchFamily="34" charset="0"/>
              </a:rPr>
              <a:t>SF=6~12, SF </a:t>
            </a:r>
            <a:r>
              <a:rPr lang="en-US" dirty="0" err="1">
                <a:solidFill>
                  <a:srgbClr val="303030"/>
                </a:solidFill>
                <a:latin typeface="Aptos" panose="020B0004020202020204" pitchFamily="34" charset="0"/>
              </a:rPr>
              <a:t>càng</a:t>
            </a:r>
            <a:r>
              <a:rPr lang="en-US" dirty="0">
                <a:solidFill>
                  <a:srgbClr val="303030"/>
                </a:solidFill>
                <a:latin typeface="Aptos" panose="020B0004020202020204" pitchFamily="34" charset="0"/>
              </a:rPr>
              <a:t> </a:t>
            </a:r>
            <a:r>
              <a:rPr lang="en-US" dirty="0" err="1">
                <a:solidFill>
                  <a:srgbClr val="303030"/>
                </a:solidFill>
                <a:latin typeface="Aptos" panose="020B0004020202020204" pitchFamily="34" charset="0"/>
              </a:rPr>
              <a:t>cao</a:t>
            </a:r>
            <a:r>
              <a:rPr lang="en-US" dirty="0">
                <a:solidFill>
                  <a:srgbClr val="303030"/>
                </a:solidFill>
                <a:latin typeface="Aptos" panose="020B0004020202020204" pitchFamily="34" charset="0"/>
              </a:rPr>
              <a:t>, </a:t>
            </a:r>
            <a:r>
              <a:rPr lang="en-US" dirty="0" err="1">
                <a:solidFill>
                  <a:srgbClr val="303030"/>
                </a:solidFill>
                <a:latin typeface="Aptos" panose="020B0004020202020204" pitchFamily="34" charset="0"/>
              </a:rPr>
              <a:t>tốc</a:t>
            </a:r>
            <a:r>
              <a:rPr lang="en-US" dirty="0">
                <a:solidFill>
                  <a:srgbClr val="303030"/>
                </a:solidFill>
                <a:latin typeface="Aptos" panose="020B0004020202020204" pitchFamily="34" charset="0"/>
              </a:rPr>
              <a:t> </a:t>
            </a:r>
            <a:r>
              <a:rPr lang="en-US" dirty="0" err="1">
                <a:solidFill>
                  <a:srgbClr val="303030"/>
                </a:solidFill>
                <a:latin typeface="Aptos" panose="020B0004020202020204" pitchFamily="34" charset="0"/>
              </a:rPr>
              <a:t>độ</a:t>
            </a:r>
            <a:r>
              <a:rPr lang="en-US" dirty="0">
                <a:solidFill>
                  <a:srgbClr val="303030"/>
                </a:solidFill>
                <a:latin typeface="Aptos" panose="020B0004020202020204" pitchFamily="34" charset="0"/>
              </a:rPr>
              <a:t> </a:t>
            </a:r>
            <a:r>
              <a:rPr lang="en-US" dirty="0" err="1">
                <a:solidFill>
                  <a:srgbClr val="303030"/>
                </a:solidFill>
                <a:latin typeface="Aptos" panose="020B0004020202020204" pitchFamily="34" charset="0"/>
              </a:rPr>
              <a:t>truyền</a:t>
            </a:r>
            <a:r>
              <a:rPr lang="en-US" dirty="0">
                <a:solidFill>
                  <a:srgbClr val="303030"/>
                </a:solidFill>
                <a:latin typeface="Aptos" panose="020B0004020202020204" pitchFamily="34" charset="0"/>
              </a:rPr>
              <a:t> </a:t>
            </a:r>
            <a:r>
              <a:rPr lang="en-US" dirty="0" err="1">
                <a:solidFill>
                  <a:srgbClr val="303030"/>
                </a:solidFill>
                <a:latin typeface="Aptos" panose="020B0004020202020204" pitchFamily="34" charset="0"/>
              </a:rPr>
              <a:t>càng</a:t>
            </a:r>
            <a:r>
              <a:rPr lang="en-US" dirty="0">
                <a:solidFill>
                  <a:srgbClr val="303030"/>
                </a:solidFill>
                <a:latin typeface="Aptos" panose="020B0004020202020204" pitchFamily="34" charset="0"/>
              </a:rPr>
              <a:t> </a:t>
            </a:r>
            <a:r>
              <a:rPr lang="en-US" dirty="0" err="1">
                <a:solidFill>
                  <a:srgbClr val="303030"/>
                </a:solidFill>
                <a:latin typeface="Aptos" panose="020B0004020202020204" pitchFamily="34" charset="0"/>
              </a:rPr>
              <a:t>giảm</a:t>
            </a:r>
            <a:r>
              <a:rPr lang="en-US" dirty="0">
                <a:solidFill>
                  <a:srgbClr val="303030"/>
                </a:solidFill>
                <a:latin typeface="Aptos" panose="020B0004020202020204" pitchFamily="34" charset="0"/>
              </a:rPr>
              <a:t>, </a:t>
            </a:r>
            <a:r>
              <a:rPr lang="en-US" dirty="0" err="1">
                <a:solidFill>
                  <a:srgbClr val="303030"/>
                </a:solidFill>
                <a:latin typeface="Aptos" panose="020B0004020202020204" pitchFamily="34" charset="0"/>
              </a:rPr>
              <a:t>bù</a:t>
            </a:r>
            <a:r>
              <a:rPr lang="en-US" dirty="0">
                <a:solidFill>
                  <a:srgbClr val="303030"/>
                </a:solidFill>
                <a:latin typeface="Aptos" panose="020B0004020202020204" pitchFamily="34" charset="0"/>
              </a:rPr>
              <a:t> </a:t>
            </a:r>
            <a:r>
              <a:rPr lang="en-US" i="1" dirty="0" err="1">
                <a:solidFill>
                  <a:srgbClr val="303030"/>
                </a:solidFill>
                <a:latin typeface="Aptos" panose="020B0004020202020204" pitchFamily="34" charset="0"/>
              </a:rPr>
              <a:t>lại</a:t>
            </a:r>
            <a:r>
              <a:rPr lang="en-US" i="1" dirty="0">
                <a:solidFill>
                  <a:srgbClr val="303030"/>
                </a:solidFill>
                <a:latin typeface="Aptos" panose="020B0004020202020204" pitchFamily="34" charset="0"/>
              </a:rPr>
              <a:t> </a:t>
            </a:r>
            <a:r>
              <a:rPr lang="en-US" i="1" dirty="0" err="1">
                <a:solidFill>
                  <a:srgbClr val="303030"/>
                </a:solidFill>
                <a:latin typeface="Aptos" panose="020B0004020202020204" pitchFamily="34" charset="0"/>
              </a:rPr>
              <a:t>khoảng</a:t>
            </a:r>
            <a:r>
              <a:rPr lang="en-US" i="1" dirty="0">
                <a:solidFill>
                  <a:srgbClr val="303030"/>
                </a:solidFill>
                <a:latin typeface="Aptos" panose="020B0004020202020204" pitchFamily="34" charset="0"/>
              </a:rPr>
              <a:t> </a:t>
            </a:r>
            <a:r>
              <a:rPr lang="en-US" i="1" dirty="0" err="1">
                <a:solidFill>
                  <a:srgbClr val="303030"/>
                </a:solidFill>
                <a:latin typeface="Aptos" panose="020B0004020202020204" pitchFamily="34" charset="0"/>
              </a:rPr>
              <a:t>cách</a:t>
            </a:r>
            <a:r>
              <a:rPr lang="en-US" i="1" dirty="0">
                <a:solidFill>
                  <a:srgbClr val="303030"/>
                </a:solidFill>
                <a:latin typeface="Aptos" panose="020B0004020202020204" pitchFamily="34" charset="0"/>
              </a:rPr>
              <a:t> </a:t>
            </a:r>
            <a:r>
              <a:rPr lang="en-US" i="1" dirty="0" err="1">
                <a:solidFill>
                  <a:srgbClr val="303030"/>
                </a:solidFill>
                <a:latin typeface="Aptos" panose="020B0004020202020204" pitchFamily="34" charset="0"/>
              </a:rPr>
              <a:t>truyền</a:t>
            </a:r>
            <a:r>
              <a:rPr lang="en-US" i="1" dirty="0">
                <a:solidFill>
                  <a:srgbClr val="303030"/>
                </a:solidFill>
                <a:latin typeface="Aptos" panose="020B0004020202020204" pitchFamily="34" charset="0"/>
              </a:rPr>
              <a:t> xa do SNR </a:t>
            </a:r>
            <a:r>
              <a:rPr lang="en-US" i="1" dirty="0" err="1">
                <a:solidFill>
                  <a:srgbClr val="303030"/>
                </a:solidFill>
                <a:latin typeface="Aptos" panose="020B0004020202020204" pitchFamily="34" charset="0"/>
              </a:rPr>
              <a:t>giảm</a:t>
            </a:r>
            <a:endParaRPr lang="en-US" i="1" dirty="0">
              <a:solidFill>
                <a:srgbClr val="303030"/>
              </a:solidFill>
              <a:latin typeface="Aptos" panose="020B0004020202020204" pitchFamily="34" charset="0"/>
            </a:endParaRPr>
          </a:p>
          <a:p>
            <a:r>
              <a:rPr lang="en-US" dirty="0">
                <a:solidFill>
                  <a:srgbClr val="303030"/>
                </a:solidFill>
                <a:latin typeface="Aptos" panose="020B0004020202020204" pitchFamily="34" charset="0"/>
              </a:rPr>
              <a:t>	3.1.1.2. Coding rate </a:t>
            </a:r>
          </a:p>
          <a:p>
            <a:r>
              <a:rPr lang="en-US" dirty="0" err="1">
                <a:solidFill>
                  <a:srgbClr val="303030"/>
                </a:solidFill>
                <a:latin typeface="Aptos" panose="020B0004020202020204" pitchFamily="34" charset="0"/>
              </a:rPr>
              <a:t>Thêm</a:t>
            </a:r>
            <a:r>
              <a:rPr lang="en-US" dirty="0">
                <a:solidFill>
                  <a:srgbClr val="303030"/>
                </a:solidFill>
                <a:latin typeface="Aptos" panose="020B0004020202020204" pitchFamily="34" charset="0"/>
              </a:rPr>
              <a:t> </a:t>
            </a:r>
            <a:r>
              <a:rPr lang="en-US" dirty="0" err="1">
                <a:solidFill>
                  <a:srgbClr val="303030"/>
                </a:solidFill>
                <a:latin typeface="Aptos" panose="020B0004020202020204" pitchFamily="34" charset="0"/>
              </a:rPr>
              <a:t>các</a:t>
            </a:r>
            <a:r>
              <a:rPr lang="en-US" dirty="0">
                <a:solidFill>
                  <a:srgbClr val="303030"/>
                </a:solidFill>
                <a:latin typeface="Aptos" panose="020B0004020202020204" pitchFamily="34" charset="0"/>
              </a:rPr>
              <a:t> bit </a:t>
            </a:r>
            <a:r>
              <a:rPr lang="en-US" dirty="0" err="1">
                <a:solidFill>
                  <a:srgbClr val="303030"/>
                </a:solidFill>
                <a:latin typeface="Aptos" panose="020B0004020202020204" pitchFamily="34" charset="0"/>
              </a:rPr>
              <a:t>sửa</a:t>
            </a:r>
            <a:r>
              <a:rPr lang="en-US" dirty="0">
                <a:solidFill>
                  <a:srgbClr val="303030"/>
                </a:solidFill>
                <a:latin typeface="Aptos" panose="020B0004020202020204" pitchFamily="34" charset="0"/>
              </a:rPr>
              <a:t> </a:t>
            </a:r>
            <a:r>
              <a:rPr lang="en-US" dirty="0" err="1">
                <a:solidFill>
                  <a:srgbClr val="303030"/>
                </a:solidFill>
                <a:latin typeface="Aptos" panose="020B0004020202020204" pitchFamily="34" charset="0"/>
              </a:rPr>
              <a:t>lỗi</a:t>
            </a:r>
            <a:r>
              <a:rPr lang="en-US" dirty="0">
                <a:solidFill>
                  <a:srgbClr val="303030"/>
                </a:solidFill>
                <a:latin typeface="Aptos" panose="020B0004020202020204" pitchFamily="34" charset="0"/>
              </a:rPr>
              <a:t> FEC</a:t>
            </a:r>
          </a:p>
          <a:p>
            <a:r>
              <a:rPr lang="en-US" dirty="0">
                <a:solidFill>
                  <a:srgbClr val="303030"/>
                </a:solidFill>
                <a:latin typeface="Aptos" panose="020B0004020202020204" pitchFamily="34" charset="0"/>
              </a:rPr>
              <a:t>	3.1.1.3. Signal bandwidth kHz</a:t>
            </a:r>
            <a:endParaRPr lang="en-US" dirty="0">
              <a:latin typeface="Aptos" panose="020B0004020202020204" pitchFamily="34" charset="0"/>
            </a:endParaRPr>
          </a:p>
          <a:p>
            <a:r>
              <a:rPr lang="en-US" dirty="0" err="1">
                <a:latin typeface="Aptos" panose="020B0004020202020204" pitchFamily="34" charset="0"/>
              </a:rPr>
              <a:t>Tăng</a:t>
            </a:r>
            <a:r>
              <a:rPr lang="en-US" dirty="0">
                <a:latin typeface="Aptos" panose="020B0004020202020204" pitchFamily="34" charset="0"/>
              </a:rPr>
              <a:t> </a:t>
            </a:r>
            <a:r>
              <a:rPr lang="en-US" dirty="0" err="1">
                <a:latin typeface="Aptos" panose="020B0004020202020204" pitchFamily="34" charset="0"/>
              </a:rPr>
              <a:t>tốc</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a:t>
            </a:r>
            <a:r>
              <a:rPr lang="en-US" dirty="0" err="1">
                <a:latin typeface="Aptos" panose="020B0004020202020204" pitchFamily="34" charset="0"/>
              </a:rPr>
              <a:t>truyền</a:t>
            </a:r>
            <a:r>
              <a:rPr lang="en-US" dirty="0">
                <a:latin typeface="Aptos" panose="020B0004020202020204" pitchFamily="34" charset="0"/>
              </a:rPr>
              <a:t> </a:t>
            </a:r>
            <a:r>
              <a:rPr lang="en-US" dirty="0" err="1">
                <a:latin typeface="Aptos" panose="020B0004020202020204" pitchFamily="34" charset="0"/>
              </a:rPr>
              <a:t>và</a:t>
            </a:r>
            <a:r>
              <a:rPr lang="en-US" dirty="0">
                <a:latin typeface="Aptos" panose="020B0004020202020204" pitchFamily="34" charset="0"/>
              </a:rPr>
              <a:t> </a:t>
            </a:r>
            <a:r>
              <a:rPr lang="en-US" dirty="0" err="1">
                <a:latin typeface="Aptos" panose="020B0004020202020204" pitchFamily="34" charset="0"/>
              </a:rPr>
              <a:t>giảm</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a:t>
            </a:r>
            <a:r>
              <a:rPr lang="en-US" dirty="0" err="1">
                <a:latin typeface="Aptos" panose="020B0004020202020204" pitchFamily="34" charset="0"/>
              </a:rPr>
              <a:t>nhạy</a:t>
            </a:r>
            <a:r>
              <a:rPr lang="en-US" dirty="0">
                <a:latin typeface="Aptos" panose="020B0004020202020204" pitchFamily="34" charset="0"/>
              </a:rPr>
              <a:t> </a:t>
            </a:r>
            <a:r>
              <a:rPr lang="en-US" dirty="0" err="1">
                <a:latin typeface="Aptos" panose="020B0004020202020204" pitchFamily="34" charset="0"/>
              </a:rPr>
              <a:t>thu</a:t>
            </a:r>
            <a:endParaRPr lang="en-US" dirty="0">
              <a:latin typeface="Aptos" panose="020B0004020202020204" pitchFamily="34" charset="0"/>
            </a:endParaRPr>
          </a:p>
          <a:p>
            <a:r>
              <a:rPr lang="en-US" dirty="0" err="1">
                <a:latin typeface="Aptos" panose="020B0004020202020204" pitchFamily="34" charset="0"/>
              </a:rPr>
              <a:t>Mối</a:t>
            </a:r>
            <a:r>
              <a:rPr lang="en-US" dirty="0">
                <a:latin typeface="Aptos" panose="020B0004020202020204" pitchFamily="34" charset="0"/>
              </a:rPr>
              <a:t> </a:t>
            </a:r>
            <a:r>
              <a:rPr lang="en-US" dirty="0" err="1">
                <a:latin typeface="Aptos" panose="020B0004020202020204" pitchFamily="34" charset="0"/>
              </a:rPr>
              <a:t>liên</a:t>
            </a:r>
            <a:r>
              <a:rPr lang="en-US" dirty="0">
                <a:latin typeface="Aptos" panose="020B0004020202020204" pitchFamily="34" charset="0"/>
              </a:rPr>
              <a:t> </a:t>
            </a:r>
            <a:r>
              <a:rPr lang="en-US" dirty="0" err="1">
                <a:latin typeface="Aptos" panose="020B0004020202020204" pitchFamily="34" charset="0"/>
              </a:rPr>
              <a:t>hệ</a:t>
            </a:r>
            <a:r>
              <a:rPr lang="en-US" dirty="0">
                <a:latin typeface="Aptos" panose="020B0004020202020204" pitchFamily="34" charset="0"/>
              </a:rPr>
              <a:t> </a:t>
            </a:r>
            <a:r>
              <a:rPr lang="en-US" dirty="0" err="1">
                <a:latin typeface="Aptos" panose="020B0004020202020204" pitchFamily="34" charset="0"/>
              </a:rPr>
              <a:t>giữa</a:t>
            </a:r>
            <a:r>
              <a:rPr lang="en-US" dirty="0">
                <a:latin typeface="Aptos" panose="020B0004020202020204" pitchFamily="34" charset="0"/>
              </a:rPr>
              <a:t> SF, CR, FEC</a:t>
            </a:r>
          </a:p>
          <a:p>
            <a:endParaRPr lang="en-US" dirty="0">
              <a:latin typeface="Aptos" panose="020B0004020202020204" pitchFamily="34" charset="0"/>
            </a:endParaRPr>
          </a:p>
          <a:p>
            <a:r>
              <a:rPr lang="en-US" dirty="0" err="1">
                <a:latin typeface="Aptos" panose="020B0004020202020204" pitchFamily="34" charset="0"/>
              </a:rPr>
              <a:t>Ngoài</a:t>
            </a:r>
            <a:r>
              <a:rPr lang="en-US" dirty="0">
                <a:latin typeface="Aptos" panose="020B0004020202020204" pitchFamily="34" charset="0"/>
              </a:rPr>
              <a:t> 3 </a:t>
            </a:r>
            <a:r>
              <a:rPr lang="en-US" dirty="0" err="1">
                <a:latin typeface="Aptos" panose="020B0004020202020204" pitchFamily="34" charset="0"/>
              </a:rPr>
              <a:t>thông</a:t>
            </a:r>
            <a:r>
              <a:rPr lang="en-US" dirty="0">
                <a:latin typeface="Aptos" panose="020B0004020202020204" pitchFamily="34" charset="0"/>
              </a:rPr>
              <a:t> </a:t>
            </a:r>
            <a:r>
              <a:rPr lang="en-US" dirty="0" err="1">
                <a:latin typeface="Aptos" panose="020B0004020202020204" pitchFamily="34" charset="0"/>
              </a:rPr>
              <a:t>số</a:t>
            </a:r>
            <a:r>
              <a:rPr lang="en-US" dirty="0">
                <a:latin typeface="Aptos" panose="020B0004020202020204" pitchFamily="34" charset="0"/>
              </a:rPr>
              <a:t> </a:t>
            </a:r>
            <a:r>
              <a:rPr lang="en-US" dirty="0" err="1">
                <a:latin typeface="Aptos" panose="020B0004020202020204" pitchFamily="34" charset="0"/>
              </a:rPr>
              <a:t>kể</a:t>
            </a:r>
            <a:r>
              <a:rPr lang="en-US" dirty="0">
                <a:latin typeface="Aptos" panose="020B0004020202020204" pitchFamily="34" charset="0"/>
              </a:rPr>
              <a:t> </a:t>
            </a:r>
            <a:r>
              <a:rPr lang="en-US" dirty="0" err="1">
                <a:latin typeface="Aptos" panose="020B0004020202020204" pitchFamily="34" charset="0"/>
              </a:rPr>
              <a:t>trên</a:t>
            </a:r>
            <a:r>
              <a:rPr lang="en-US" dirty="0">
                <a:latin typeface="Aptos" panose="020B0004020202020204" pitchFamily="34" charset="0"/>
              </a:rPr>
              <a:t>, </a:t>
            </a:r>
            <a:r>
              <a:rPr lang="en-US" dirty="0" err="1">
                <a:latin typeface="Aptos" panose="020B0004020202020204" pitchFamily="34" charset="0"/>
              </a:rPr>
              <a:t>các</a:t>
            </a:r>
            <a:r>
              <a:rPr lang="en-US" dirty="0">
                <a:latin typeface="Aptos" panose="020B0004020202020204" pitchFamily="34" charset="0"/>
              </a:rPr>
              <a:t> </a:t>
            </a:r>
            <a:r>
              <a:rPr lang="en-US" dirty="0" err="1">
                <a:latin typeface="Aptos" panose="020B0004020202020204" pitchFamily="34" charset="0"/>
              </a:rPr>
              <a:t>thông</a:t>
            </a:r>
            <a:r>
              <a:rPr lang="en-US" dirty="0">
                <a:latin typeface="Aptos" panose="020B0004020202020204" pitchFamily="34" charset="0"/>
              </a:rPr>
              <a:t> </a:t>
            </a:r>
            <a:r>
              <a:rPr lang="en-US" dirty="0" err="1">
                <a:latin typeface="Aptos" panose="020B0004020202020204" pitchFamily="34" charset="0"/>
              </a:rPr>
              <a:t>số</a:t>
            </a:r>
            <a:r>
              <a:rPr lang="en-US" dirty="0">
                <a:latin typeface="Aptos" panose="020B0004020202020204" pitchFamily="34" charset="0"/>
              </a:rPr>
              <a:t> </a:t>
            </a:r>
            <a:r>
              <a:rPr lang="en-US" dirty="0" err="1">
                <a:latin typeface="Aptos" panose="020B0004020202020204" pitchFamily="34" charset="0"/>
              </a:rPr>
              <a:t>như</a:t>
            </a:r>
            <a:r>
              <a:rPr lang="en-US" dirty="0">
                <a:latin typeface="Aptos" panose="020B0004020202020204" pitchFamily="34" charset="0"/>
              </a:rPr>
              <a:t> </a:t>
            </a:r>
            <a:r>
              <a:rPr lang="en-US" dirty="0" err="1">
                <a:latin typeface="Aptos" panose="020B0004020202020204" pitchFamily="34" charset="0"/>
              </a:rPr>
              <a:t>tần</a:t>
            </a:r>
            <a:r>
              <a:rPr lang="en-US" dirty="0">
                <a:latin typeface="Aptos" panose="020B0004020202020204" pitchFamily="34" charset="0"/>
              </a:rPr>
              <a:t> </a:t>
            </a:r>
            <a:r>
              <a:rPr lang="en-US" dirty="0" err="1">
                <a:latin typeface="Aptos" panose="020B0004020202020204" pitchFamily="34" charset="0"/>
              </a:rPr>
              <a:t>số</a:t>
            </a:r>
            <a:r>
              <a:rPr lang="en-US" dirty="0">
                <a:latin typeface="Aptos" panose="020B0004020202020204" pitchFamily="34" charset="0"/>
              </a:rPr>
              <a:t>, </a:t>
            </a:r>
            <a:r>
              <a:rPr lang="en-US" dirty="0" err="1">
                <a:latin typeface="Aptos" panose="020B0004020202020204" pitchFamily="34" charset="0"/>
              </a:rPr>
              <a:t>công</a:t>
            </a:r>
            <a:r>
              <a:rPr lang="en-US" dirty="0">
                <a:latin typeface="Aptos" panose="020B0004020202020204" pitchFamily="34" charset="0"/>
              </a:rPr>
              <a:t> </a:t>
            </a:r>
            <a:r>
              <a:rPr lang="en-US" dirty="0" err="1">
                <a:latin typeface="Aptos" panose="020B0004020202020204" pitchFamily="34" charset="0"/>
              </a:rPr>
              <a:t>suất</a:t>
            </a:r>
            <a:r>
              <a:rPr lang="en-US" dirty="0">
                <a:latin typeface="Aptos" panose="020B0004020202020204" pitchFamily="34" charset="0"/>
              </a:rPr>
              <a:t> </a:t>
            </a:r>
            <a:r>
              <a:rPr lang="en-US" dirty="0" err="1">
                <a:latin typeface="Aptos" panose="020B0004020202020204" pitchFamily="34" charset="0"/>
              </a:rPr>
              <a:t>phát</a:t>
            </a:r>
            <a:r>
              <a:rPr lang="en-US" dirty="0">
                <a:latin typeface="Aptos" panose="020B0004020202020204" pitchFamily="34" charset="0"/>
              </a:rPr>
              <a:t> </a:t>
            </a:r>
            <a:r>
              <a:rPr lang="en-US" dirty="0" err="1">
                <a:latin typeface="Aptos" panose="020B0004020202020204" pitchFamily="34" charset="0"/>
              </a:rPr>
              <a:t>cũng</a:t>
            </a:r>
            <a:r>
              <a:rPr lang="en-US" dirty="0">
                <a:latin typeface="Aptos" panose="020B0004020202020204" pitchFamily="34" charset="0"/>
              </a:rPr>
              <a:t> </a:t>
            </a:r>
            <a:r>
              <a:rPr lang="en-US" dirty="0" err="1">
                <a:latin typeface="Aptos" panose="020B0004020202020204" pitchFamily="34" charset="0"/>
              </a:rPr>
              <a:t>cần</a:t>
            </a:r>
            <a:r>
              <a:rPr lang="en-US" dirty="0">
                <a:latin typeface="Aptos" panose="020B0004020202020204" pitchFamily="34" charset="0"/>
              </a:rPr>
              <a:t> </a:t>
            </a:r>
            <a:r>
              <a:rPr lang="en-US" dirty="0" err="1">
                <a:latin typeface="Aptos" panose="020B0004020202020204" pitchFamily="34" charset="0"/>
              </a:rPr>
              <a:t>được</a:t>
            </a:r>
            <a:r>
              <a:rPr lang="en-US" dirty="0">
                <a:latin typeface="Aptos" panose="020B0004020202020204" pitchFamily="34" charset="0"/>
              </a:rPr>
              <a:t> </a:t>
            </a:r>
            <a:r>
              <a:rPr lang="en-US" dirty="0" err="1">
                <a:latin typeface="Aptos" panose="020B0004020202020204" pitchFamily="34" charset="0"/>
              </a:rPr>
              <a:t>cấu</a:t>
            </a:r>
            <a:r>
              <a:rPr lang="en-US" dirty="0">
                <a:latin typeface="Aptos" panose="020B0004020202020204" pitchFamily="34" charset="0"/>
              </a:rPr>
              <a:t> </a:t>
            </a:r>
            <a:r>
              <a:rPr lang="en-US" dirty="0" err="1">
                <a:latin typeface="Aptos" panose="020B0004020202020204" pitchFamily="34" charset="0"/>
              </a:rPr>
              <a:t>hình</a:t>
            </a:r>
            <a:endParaRPr lang="en-US" dirty="0">
              <a:latin typeface="Aptos" panose="020B0004020202020204" pitchFamily="34" charset="0"/>
            </a:endParaRPr>
          </a:p>
          <a:p>
            <a:endParaRPr lang="en-US" sz="1400" dirty="0">
              <a:latin typeface="Aptos" panose="020B0004020202020204" pitchFamily="34" charset="0"/>
            </a:endParaRPr>
          </a:p>
        </p:txBody>
      </p:sp>
      <p:pic>
        <p:nvPicPr>
          <p:cNvPr id="7" name="Picture 6">
            <a:extLst>
              <a:ext uri="{FF2B5EF4-FFF2-40B4-BE49-F238E27FC236}">
                <a16:creationId xmlns:a16="http://schemas.microsoft.com/office/drawing/2014/main" id="{96FE4215-1B8F-5497-2019-829FD9E044C1}"/>
              </a:ext>
            </a:extLst>
          </p:cNvPr>
          <p:cNvPicPr>
            <a:picLocks noChangeAspect="1"/>
          </p:cNvPicPr>
          <p:nvPr/>
        </p:nvPicPr>
        <p:blipFill>
          <a:blip r:embed="rId2"/>
          <a:stretch>
            <a:fillRect/>
          </a:stretch>
        </p:blipFill>
        <p:spPr>
          <a:xfrm>
            <a:off x="5547094" y="4190856"/>
            <a:ext cx="2215704" cy="937554"/>
          </a:xfrm>
          <a:prstGeom prst="rect">
            <a:avLst/>
          </a:prstGeom>
        </p:spPr>
      </p:pic>
      <p:pic>
        <p:nvPicPr>
          <p:cNvPr id="10" name="Picture 9">
            <a:extLst>
              <a:ext uri="{FF2B5EF4-FFF2-40B4-BE49-F238E27FC236}">
                <a16:creationId xmlns:a16="http://schemas.microsoft.com/office/drawing/2014/main" id="{E9808A88-3807-26BE-5980-F168B56DAD76}"/>
              </a:ext>
            </a:extLst>
          </p:cNvPr>
          <p:cNvPicPr>
            <a:picLocks noChangeAspect="1"/>
          </p:cNvPicPr>
          <p:nvPr/>
        </p:nvPicPr>
        <p:blipFill>
          <a:blip r:embed="rId3"/>
          <a:stretch>
            <a:fillRect/>
          </a:stretch>
        </p:blipFill>
        <p:spPr>
          <a:xfrm>
            <a:off x="4380216" y="3654375"/>
            <a:ext cx="1095528" cy="647790"/>
          </a:xfrm>
          <a:prstGeom prst="rect">
            <a:avLst/>
          </a:prstGeom>
        </p:spPr>
      </p:pic>
    </p:spTree>
    <p:extLst>
      <p:ext uri="{BB962C8B-B14F-4D97-AF65-F5344CB8AC3E}">
        <p14:creationId xmlns:p14="http://schemas.microsoft.com/office/powerpoint/2010/main" val="1870504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a:t>III. Lập trình cấu hình các thông số của LoRa</a:t>
            </a:r>
            <a:endParaRPr lang="en-US"/>
          </a:p>
        </p:txBody>
      </p:sp>
      <p:sp>
        <p:nvSpPr>
          <p:cNvPr id="4" name="TextBox 3">
            <a:extLst>
              <a:ext uri="{FF2B5EF4-FFF2-40B4-BE49-F238E27FC236}">
                <a16:creationId xmlns:a16="http://schemas.microsoft.com/office/drawing/2014/main" id="{90E03B29-F170-7930-E966-08D3B2BF1052}"/>
              </a:ext>
            </a:extLst>
          </p:cNvPr>
          <p:cNvSpPr txBox="1"/>
          <p:nvPr/>
        </p:nvSpPr>
        <p:spPr>
          <a:xfrm>
            <a:off x="466494" y="1007497"/>
            <a:ext cx="3930142" cy="5078313"/>
          </a:xfrm>
          <a:prstGeom prst="rect">
            <a:avLst/>
          </a:prstGeom>
          <a:noFill/>
        </p:spPr>
        <p:txBody>
          <a:bodyPr wrap="square" rtlCol="0">
            <a:spAutoFit/>
          </a:bodyPr>
          <a:lstStyle/>
          <a:p>
            <a:r>
              <a:rPr lang="en-US" dirty="0">
                <a:latin typeface="Aptos" panose="020B0004020202020204" pitchFamily="34" charset="0"/>
              </a:rPr>
              <a:t>3.2 </a:t>
            </a:r>
            <a:r>
              <a:rPr lang="en-US" dirty="0" err="1">
                <a:latin typeface="Aptos" panose="020B0004020202020204" pitchFamily="34" charset="0"/>
              </a:rPr>
              <a:t>Khung</a:t>
            </a:r>
            <a:r>
              <a:rPr lang="en-US" dirty="0">
                <a:latin typeface="Aptos" panose="020B0004020202020204" pitchFamily="34" charset="0"/>
              </a:rPr>
              <a:t> </a:t>
            </a:r>
            <a:r>
              <a:rPr lang="en-US" dirty="0" err="1">
                <a:latin typeface="Aptos" panose="020B0004020202020204" pitchFamily="34" charset="0"/>
              </a:rPr>
              <a:t>truyền</a:t>
            </a:r>
            <a:r>
              <a:rPr lang="en-US" dirty="0">
                <a:latin typeface="Aptos" panose="020B0004020202020204" pitchFamily="34" charset="0"/>
              </a:rPr>
              <a:t> tin</a:t>
            </a:r>
          </a:p>
          <a:p>
            <a:r>
              <a:rPr lang="en-US" dirty="0">
                <a:latin typeface="Aptos" panose="020B0004020202020204" pitchFamily="34" charset="0"/>
              </a:rPr>
              <a:t>	</a:t>
            </a:r>
            <a:r>
              <a:rPr lang="en-US" dirty="0" err="1">
                <a:latin typeface="Aptos" panose="020B0004020202020204" pitchFamily="34" charset="0"/>
              </a:rPr>
              <a:t>Khung</a:t>
            </a:r>
            <a:r>
              <a:rPr lang="en-US" dirty="0">
                <a:latin typeface="Aptos" panose="020B0004020202020204" pitchFamily="34" charset="0"/>
              </a:rPr>
              <a:t> </a:t>
            </a:r>
            <a:r>
              <a:rPr lang="en-US" dirty="0" err="1">
                <a:latin typeface="Aptos" panose="020B0004020202020204" pitchFamily="34" charset="0"/>
              </a:rPr>
              <a:t>bản</a:t>
            </a:r>
            <a:r>
              <a:rPr lang="en-US" dirty="0">
                <a:latin typeface="Aptos" panose="020B0004020202020204" pitchFamily="34" charset="0"/>
              </a:rPr>
              <a:t> tin explicit:</a:t>
            </a:r>
          </a:p>
          <a:p>
            <a:r>
              <a:rPr lang="en-US" dirty="0">
                <a:latin typeface="Aptos" panose="020B0004020202020204" pitchFamily="34" charset="0"/>
              </a:rPr>
              <a:t>Preamble : </a:t>
            </a:r>
            <a:r>
              <a:rPr lang="en-US" dirty="0" err="1">
                <a:latin typeface="Aptos" panose="020B0004020202020204" pitchFamily="34" charset="0"/>
              </a:rPr>
              <a:t>đồng</a:t>
            </a:r>
            <a:r>
              <a:rPr lang="en-US" dirty="0">
                <a:latin typeface="Aptos" panose="020B0004020202020204" pitchFamily="34" charset="0"/>
              </a:rPr>
              <a:t> </a:t>
            </a:r>
            <a:r>
              <a:rPr lang="en-US" dirty="0" err="1">
                <a:latin typeface="Aptos" panose="020B0004020202020204" pitchFamily="34" charset="0"/>
              </a:rPr>
              <a:t>bộ</a:t>
            </a:r>
            <a:r>
              <a:rPr lang="en-US" dirty="0">
                <a:latin typeface="Aptos" panose="020B0004020202020204" pitchFamily="34" charset="0"/>
              </a:rPr>
              <a:t> </a:t>
            </a:r>
            <a:r>
              <a:rPr lang="en-US" dirty="0" err="1">
                <a:latin typeface="Aptos" panose="020B0004020202020204" pitchFamily="34" charset="0"/>
              </a:rPr>
              <a:t>tín</a:t>
            </a:r>
            <a:r>
              <a:rPr lang="en-US" dirty="0">
                <a:latin typeface="Aptos" panose="020B0004020202020204" pitchFamily="34" charset="0"/>
              </a:rPr>
              <a:t> </a:t>
            </a:r>
            <a:r>
              <a:rPr lang="en-US" dirty="0" err="1">
                <a:latin typeface="Aptos" panose="020B0004020202020204" pitchFamily="34" charset="0"/>
              </a:rPr>
              <a:t>hiệu</a:t>
            </a:r>
            <a:r>
              <a:rPr lang="en-US" dirty="0">
                <a:latin typeface="Aptos" panose="020B0004020202020204" pitchFamily="34" charset="0"/>
              </a:rPr>
              <a:t>, </a:t>
            </a:r>
            <a:r>
              <a:rPr lang="en-US" dirty="0" err="1">
                <a:latin typeface="Aptos" panose="020B0004020202020204" pitchFamily="34" charset="0"/>
              </a:rPr>
              <a:t>có</a:t>
            </a:r>
            <a:r>
              <a:rPr lang="en-US" dirty="0">
                <a:latin typeface="Aptos" panose="020B0004020202020204" pitchFamily="34" charset="0"/>
              </a:rPr>
              <a:t> </a:t>
            </a:r>
            <a:r>
              <a:rPr lang="en-US" dirty="0" err="1">
                <a:latin typeface="Aptos" panose="020B0004020202020204" pitchFamily="34" charset="0"/>
              </a:rPr>
              <a:t>thể</a:t>
            </a:r>
            <a:r>
              <a:rPr lang="en-US" dirty="0">
                <a:latin typeface="Aptos" panose="020B0004020202020204" pitchFamily="34" charset="0"/>
              </a:rPr>
              <a:t> </a:t>
            </a:r>
            <a:r>
              <a:rPr lang="en-US" dirty="0" err="1">
                <a:latin typeface="Aptos" panose="020B0004020202020204" pitchFamily="34" charset="0"/>
              </a:rPr>
              <a:t>thay</a:t>
            </a:r>
            <a:r>
              <a:rPr lang="en-US" dirty="0">
                <a:latin typeface="Aptos" panose="020B0004020202020204" pitchFamily="34" charset="0"/>
              </a:rPr>
              <a:t> </a:t>
            </a:r>
            <a:r>
              <a:rPr lang="en-US" dirty="0" err="1">
                <a:latin typeface="Aptos" panose="020B0004020202020204" pitchFamily="34" charset="0"/>
              </a:rPr>
              <a:t>đổi</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a:t>
            </a:r>
            <a:r>
              <a:rPr lang="en-US" dirty="0" err="1">
                <a:latin typeface="Aptos" panose="020B0004020202020204" pitchFamily="34" charset="0"/>
              </a:rPr>
              <a:t>dài</a:t>
            </a:r>
            <a:r>
              <a:rPr lang="en-US" dirty="0">
                <a:latin typeface="Aptos" panose="020B0004020202020204" pitchFamily="34" charset="0"/>
              </a:rPr>
              <a:t> </a:t>
            </a:r>
          </a:p>
          <a:p>
            <a:r>
              <a:rPr lang="en-US" dirty="0" err="1">
                <a:latin typeface="Aptos" panose="020B0004020202020204" pitchFamily="34" charset="0"/>
              </a:rPr>
              <a:t>từ</a:t>
            </a:r>
            <a:r>
              <a:rPr lang="en-US" dirty="0">
                <a:latin typeface="Aptos" panose="020B0004020202020204" pitchFamily="34" charset="0"/>
              </a:rPr>
              <a:t> 6+4 ~ 65535+4</a:t>
            </a:r>
          </a:p>
          <a:p>
            <a:r>
              <a:rPr lang="en-US" dirty="0">
                <a:latin typeface="Aptos" panose="020B0004020202020204" pitchFamily="34" charset="0"/>
              </a:rPr>
              <a:t>Header: </a:t>
            </a:r>
            <a:r>
              <a:rPr lang="en-US" dirty="0" err="1">
                <a:latin typeface="Aptos" panose="020B0004020202020204" pitchFamily="34" charset="0"/>
              </a:rPr>
              <a:t>chứa</a:t>
            </a:r>
            <a:r>
              <a:rPr lang="en-US" dirty="0">
                <a:latin typeface="Aptos" panose="020B0004020202020204" pitchFamily="34" charset="0"/>
              </a:rPr>
              <a:t> </a:t>
            </a:r>
            <a:r>
              <a:rPr lang="en-US" dirty="0" err="1">
                <a:latin typeface="Aptos" panose="020B0004020202020204" pitchFamily="34" charset="0"/>
              </a:rPr>
              <a:t>dữ</a:t>
            </a:r>
            <a:r>
              <a:rPr lang="en-US" dirty="0">
                <a:latin typeface="Aptos" panose="020B0004020202020204" pitchFamily="34" charset="0"/>
              </a:rPr>
              <a:t> </a:t>
            </a:r>
            <a:r>
              <a:rPr lang="en-US" dirty="0" err="1">
                <a:latin typeface="Aptos" panose="020B0004020202020204" pitchFamily="34" charset="0"/>
              </a:rPr>
              <a:t>liệu</a:t>
            </a:r>
            <a:r>
              <a:rPr lang="en-US" dirty="0">
                <a:latin typeface="Aptos" panose="020B0004020202020204" pitchFamily="34" charset="0"/>
              </a:rPr>
              <a:t> </a:t>
            </a:r>
            <a:r>
              <a:rPr lang="en-US" dirty="0" err="1">
                <a:latin typeface="Aptos" panose="020B0004020202020204" pitchFamily="34" charset="0"/>
              </a:rPr>
              <a:t>về</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a:t>
            </a:r>
            <a:r>
              <a:rPr lang="en-US" dirty="0" err="1">
                <a:latin typeface="Aptos" panose="020B0004020202020204" pitchFamily="34" charset="0"/>
              </a:rPr>
              <a:t>dài</a:t>
            </a:r>
            <a:r>
              <a:rPr lang="en-US" dirty="0">
                <a:latin typeface="Aptos" panose="020B0004020202020204" pitchFamily="34" charset="0"/>
              </a:rPr>
              <a:t> payload (byte), CRC </a:t>
            </a:r>
            <a:r>
              <a:rPr lang="en-US" dirty="0" err="1">
                <a:latin typeface="Aptos" panose="020B0004020202020204" pitchFamily="34" charset="0"/>
              </a:rPr>
              <a:t>cho</a:t>
            </a:r>
            <a:r>
              <a:rPr lang="en-US" dirty="0">
                <a:latin typeface="Aptos" panose="020B0004020202020204" pitchFamily="34" charset="0"/>
              </a:rPr>
              <a:t> </a:t>
            </a:r>
            <a:r>
              <a:rPr lang="en-US" dirty="0" err="1">
                <a:latin typeface="Aptos" panose="020B0004020202020204" pitchFamily="34" charset="0"/>
              </a:rPr>
              <a:t>biết</a:t>
            </a:r>
            <a:r>
              <a:rPr lang="en-US" dirty="0">
                <a:latin typeface="Aptos" panose="020B0004020202020204" pitchFamily="34" charset="0"/>
              </a:rPr>
              <a:t> </a:t>
            </a:r>
            <a:r>
              <a:rPr lang="en-US" dirty="0" err="1">
                <a:latin typeface="Aptos" panose="020B0004020202020204" pitchFamily="34" charset="0"/>
              </a:rPr>
              <a:t>có</a:t>
            </a:r>
            <a:r>
              <a:rPr lang="en-US" dirty="0">
                <a:latin typeface="Aptos" panose="020B0004020202020204" pitchFamily="34" charset="0"/>
              </a:rPr>
              <a:t> </a:t>
            </a:r>
            <a:r>
              <a:rPr lang="en-US" dirty="0" err="1">
                <a:latin typeface="Aptos" panose="020B0004020202020204" pitchFamily="34" charset="0"/>
              </a:rPr>
              <a:t>dùng</a:t>
            </a:r>
            <a:r>
              <a:rPr lang="en-US" dirty="0">
                <a:latin typeface="Aptos" panose="020B0004020202020204" pitchFamily="34" charset="0"/>
              </a:rPr>
              <a:t> CRC hay ko</a:t>
            </a:r>
          </a:p>
          <a:p>
            <a:r>
              <a:rPr lang="en-US" dirty="0">
                <a:latin typeface="Aptos" panose="020B0004020202020204" pitchFamily="34" charset="0"/>
              </a:rPr>
              <a:t>Payload: </a:t>
            </a:r>
            <a:r>
              <a:rPr lang="en-US" dirty="0" err="1">
                <a:latin typeface="Aptos" panose="020B0004020202020204" pitchFamily="34" charset="0"/>
              </a:rPr>
              <a:t>chứa</a:t>
            </a:r>
            <a:r>
              <a:rPr lang="en-US" dirty="0">
                <a:latin typeface="Aptos" panose="020B0004020202020204" pitchFamily="34" charset="0"/>
              </a:rPr>
              <a:t> </a:t>
            </a:r>
            <a:r>
              <a:rPr lang="en-US" dirty="0" err="1">
                <a:latin typeface="Aptos" panose="020B0004020202020204" pitchFamily="34" charset="0"/>
              </a:rPr>
              <a:t>dữ</a:t>
            </a:r>
            <a:r>
              <a:rPr lang="en-US" dirty="0">
                <a:latin typeface="Aptos" panose="020B0004020202020204" pitchFamily="34" charset="0"/>
              </a:rPr>
              <a:t> </a:t>
            </a:r>
            <a:r>
              <a:rPr lang="en-US" dirty="0" err="1">
                <a:latin typeface="Aptos" panose="020B0004020202020204" pitchFamily="34" charset="0"/>
              </a:rPr>
              <a:t>liệu</a:t>
            </a:r>
            <a:r>
              <a:rPr lang="en-US" dirty="0">
                <a:latin typeface="Aptos" panose="020B0004020202020204" pitchFamily="34" charset="0"/>
              </a:rPr>
              <a:t> </a:t>
            </a:r>
            <a:r>
              <a:rPr lang="en-US" dirty="0" err="1">
                <a:latin typeface="Aptos" panose="020B0004020202020204" pitchFamily="34" charset="0"/>
              </a:rPr>
              <a:t>truyền</a:t>
            </a:r>
            <a:r>
              <a:rPr lang="en-US" dirty="0">
                <a:latin typeface="Aptos" panose="020B0004020202020204" pitchFamily="34" charset="0"/>
              </a:rPr>
              <a:t> </a:t>
            </a:r>
            <a:r>
              <a:rPr lang="en-US" dirty="0" err="1">
                <a:latin typeface="Aptos" panose="020B0004020202020204" pitchFamily="34" charset="0"/>
              </a:rPr>
              <a:t>đi</a:t>
            </a:r>
            <a:endParaRPr lang="en-US" dirty="0">
              <a:latin typeface="Aptos" panose="020B0004020202020204" pitchFamily="34" charset="0"/>
            </a:endParaRPr>
          </a:p>
          <a:p>
            <a:r>
              <a:rPr lang="en-US" dirty="0" err="1">
                <a:latin typeface="Aptos" panose="020B0004020202020204" pitchFamily="34" charset="0"/>
              </a:rPr>
              <a:t>Cách</a:t>
            </a:r>
            <a:r>
              <a:rPr lang="en-US" dirty="0">
                <a:latin typeface="Aptos" panose="020B0004020202020204" pitchFamily="34" charset="0"/>
              </a:rPr>
              <a:t> </a:t>
            </a:r>
            <a:r>
              <a:rPr lang="en-US" dirty="0" err="1">
                <a:latin typeface="Aptos" panose="020B0004020202020204" pitchFamily="34" charset="0"/>
              </a:rPr>
              <a:t>cấu</a:t>
            </a:r>
            <a:r>
              <a:rPr lang="en-US" dirty="0">
                <a:latin typeface="Aptos" panose="020B0004020202020204" pitchFamily="34" charset="0"/>
              </a:rPr>
              <a:t> </a:t>
            </a:r>
            <a:r>
              <a:rPr lang="en-US" dirty="0" err="1">
                <a:latin typeface="Aptos" panose="020B0004020202020204" pitchFamily="34" charset="0"/>
              </a:rPr>
              <a:t>hình</a:t>
            </a:r>
            <a:r>
              <a:rPr lang="en-US" dirty="0">
                <a:latin typeface="Aptos" panose="020B0004020202020204" pitchFamily="34" charset="0"/>
              </a:rPr>
              <a:t> </a:t>
            </a:r>
            <a:r>
              <a:rPr lang="en-US" dirty="0" err="1">
                <a:latin typeface="Aptos" panose="020B0004020202020204" pitchFamily="34" charset="0"/>
              </a:rPr>
              <a:t>và</a:t>
            </a:r>
            <a:r>
              <a:rPr lang="en-US" dirty="0">
                <a:latin typeface="Aptos" panose="020B0004020202020204" pitchFamily="34" charset="0"/>
              </a:rPr>
              <a:t> </a:t>
            </a:r>
            <a:r>
              <a:rPr lang="en-US" dirty="0" err="1">
                <a:latin typeface="Aptos" panose="020B0004020202020204" pitchFamily="34" charset="0"/>
              </a:rPr>
              <a:t>kiểm</a:t>
            </a:r>
            <a:r>
              <a:rPr lang="en-US" dirty="0">
                <a:latin typeface="Aptos" panose="020B0004020202020204" pitchFamily="34" charset="0"/>
              </a:rPr>
              <a:t> </a:t>
            </a:r>
            <a:r>
              <a:rPr lang="en-US" dirty="0" err="1">
                <a:latin typeface="Aptos" panose="020B0004020202020204" pitchFamily="34" charset="0"/>
              </a:rPr>
              <a:t>tra</a:t>
            </a:r>
            <a:r>
              <a:rPr lang="en-US" dirty="0">
                <a:latin typeface="Aptos" panose="020B0004020202020204" pitchFamily="34" charset="0"/>
              </a:rPr>
              <a:t> CRC (</a:t>
            </a:r>
            <a:r>
              <a:rPr lang="en-US" dirty="0" err="1">
                <a:latin typeface="Aptos" panose="020B0004020202020204" pitchFamily="34" charset="0"/>
              </a:rPr>
              <a:t>trang</a:t>
            </a:r>
            <a:r>
              <a:rPr lang="en-US" dirty="0">
                <a:latin typeface="Aptos" panose="020B0004020202020204" pitchFamily="34" charset="0"/>
              </a:rPr>
              <a:t> 30)</a:t>
            </a:r>
          </a:p>
          <a:p>
            <a:endParaRPr lang="en-US" dirty="0">
              <a:latin typeface="Aptos" panose="020B0004020202020204" pitchFamily="34" charset="0"/>
            </a:endParaRPr>
          </a:p>
          <a:p>
            <a:r>
              <a:rPr lang="en-US" dirty="0">
                <a:latin typeface="Aptos" panose="020B0004020202020204" pitchFamily="34" charset="0"/>
              </a:rPr>
              <a:t>3.3 time on air</a:t>
            </a:r>
          </a:p>
          <a:p>
            <a:r>
              <a:rPr lang="en-US" dirty="0" err="1">
                <a:latin typeface="Aptos" panose="020B0004020202020204" pitchFamily="34" charset="0"/>
              </a:rPr>
              <a:t>Tính</a:t>
            </a:r>
            <a:r>
              <a:rPr lang="en-US" dirty="0">
                <a:latin typeface="Aptos" panose="020B0004020202020204" pitchFamily="34" charset="0"/>
              </a:rPr>
              <a:t> </a:t>
            </a:r>
            <a:r>
              <a:rPr lang="en-US" dirty="0" err="1">
                <a:latin typeface="Aptos" panose="020B0004020202020204" pitchFamily="34" charset="0"/>
              </a:rPr>
              <a:t>toán</a:t>
            </a:r>
            <a:r>
              <a:rPr lang="en-US" dirty="0">
                <a:latin typeface="Aptos" panose="020B0004020202020204" pitchFamily="34" charset="0"/>
              </a:rPr>
              <a:t> </a:t>
            </a:r>
            <a:r>
              <a:rPr lang="en-US" dirty="0" err="1">
                <a:latin typeface="Aptos" panose="020B0004020202020204" pitchFamily="34" charset="0"/>
              </a:rPr>
              <a:t>khoảng</a:t>
            </a:r>
            <a:r>
              <a:rPr lang="en-US" dirty="0">
                <a:latin typeface="Aptos" panose="020B0004020202020204" pitchFamily="34" charset="0"/>
              </a:rPr>
              <a:t> </a:t>
            </a:r>
            <a:r>
              <a:rPr lang="en-US" dirty="0" err="1">
                <a:latin typeface="Aptos" panose="020B0004020202020204" pitchFamily="34" charset="0"/>
              </a:rPr>
              <a:t>thời</a:t>
            </a:r>
            <a:r>
              <a:rPr lang="en-US" dirty="0">
                <a:latin typeface="Aptos" panose="020B0004020202020204" pitchFamily="34" charset="0"/>
              </a:rPr>
              <a:t> </a:t>
            </a:r>
            <a:r>
              <a:rPr lang="en-US" dirty="0" err="1">
                <a:latin typeface="Aptos" panose="020B0004020202020204" pitchFamily="34" charset="0"/>
              </a:rPr>
              <a:t>gian</a:t>
            </a:r>
            <a:r>
              <a:rPr lang="en-US" dirty="0">
                <a:latin typeface="Aptos" panose="020B0004020202020204" pitchFamily="34" charset="0"/>
              </a:rPr>
              <a:t> </a:t>
            </a:r>
            <a:r>
              <a:rPr lang="en-US" dirty="0" err="1">
                <a:latin typeface="Aptos" panose="020B0004020202020204" pitchFamily="34" charset="0"/>
              </a:rPr>
              <a:t>truyền</a:t>
            </a:r>
            <a:r>
              <a:rPr lang="en-US" dirty="0">
                <a:latin typeface="Aptos" panose="020B0004020202020204" pitchFamily="34" charset="0"/>
              </a:rPr>
              <a:t> 1 </a:t>
            </a:r>
            <a:r>
              <a:rPr lang="en-US" dirty="0" err="1">
                <a:latin typeface="Aptos" panose="020B0004020202020204" pitchFamily="34" charset="0"/>
              </a:rPr>
              <a:t>bản</a:t>
            </a:r>
            <a:r>
              <a:rPr lang="en-US" dirty="0">
                <a:latin typeface="Aptos" panose="020B0004020202020204" pitchFamily="34" charset="0"/>
              </a:rPr>
              <a:t> tin</a:t>
            </a:r>
          </a:p>
          <a:p>
            <a:endParaRPr lang="en-US" dirty="0">
              <a:latin typeface="Aptos" panose="020B0004020202020204" pitchFamily="34" charset="0"/>
            </a:endParaRPr>
          </a:p>
          <a:p>
            <a:r>
              <a:rPr lang="en-US" dirty="0">
                <a:latin typeface="Aptos" panose="020B0004020202020204" pitchFamily="34" charset="0"/>
              </a:rPr>
              <a:t>3.4 </a:t>
            </a:r>
            <a:r>
              <a:rPr lang="en-US" dirty="0" err="1">
                <a:latin typeface="Aptos" panose="020B0004020202020204" pitchFamily="34" charset="0"/>
              </a:rPr>
              <a:t>chế</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a:t>
            </a:r>
            <a:r>
              <a:rPr lang="en-US" dirty="0" err="1">
                <a:latin typeface="Aptos" panose="020B0004020202020204" pitchFamily="34" charset="0"/>
              </a:rPr>
              <a:t>lowdata</a:t>
            </a:r>
            <a:r>
              <a:rPr lang="en-US" dirty="0">
                <a:latin typeface="Aptos" panose="020B0004020202020204" pitchFamily="34" charset="0"/>
              </a:rPr>
              <a:t> rate</a:t>
            </a:r>
          </a:p>
          <a:p>
            <a:r>
              <a:rPr lang="en-US" dirty="0" err="1">
                <a:latin typeface="Aptos" panose="020B0004020202020204" pitchFamily="34" charset="0"/>
              </a:rPr>
              <a:t>Cần</a:t>
            </a:r>
            <a:r>
              <a:rPr lang="en-US" dirty="0">
                <a:latin typeface="Aptos" panose="020B0004020202020204" pitchFamily="34" charset="0"/>
              </a:rPr>
              <a:t> </a:t>
            </a:r>
            <a:r>
              <a:rPr lang="en-US" dirty="0" err="1">
                <a:latin typeface="Aptos" panose="020B0004020202020204" pitchFamily="34" charset="0"/>
              </a:rPr>
              <a:t>cấu</a:t>
            </a:r>
            <a:r>
              <a:rPr lang="en-US" dirty="0">
                <a:latin typeface="Aptos" panose="020B0004020202020204" pitchFamily="34" charset="0"/>
              </a:rPr>
              <a:t> </a:t>
            </a:r>
            <a:r>
              <a:rPr lang="en-US" dirty="0" err="1">
                <a:latin typeface="Aptos" panose="020B0004020202020204" pitchFamily="34" charset="0"/>
              </a:rPr>
              <a:t>hình</a:t>
            </a:r>
            <a:r>
              <a:rPr lang="en-US" dirty="0">
                <a:latin typeface="Aptos" panose="020B0004020202020204" pitchFamily="34" charset="0"/>
              </a:rPr>
              <a:t> </a:t>
            </a:r>
            <a:r>
              <a:rPr lang="en-US" dirty="0" err="1">
                <a:latin typeface="Aptos" panose="020B0004020202020204" pitchFamily="34" charset="0"/>
              </a:rPr>
              <a:t>khi</a:t>
            </a:r>
            <a:r>
              <a:rPr lang="en-US" dirty="0">
                <a:latin typeface="Aptos" panose="020B0004020202020204" pitchFamily="34" charset="0"/>
              </a:rPr>
              <a:t> Ts&gt;16ms</a:t>
            </a:r>
          </a:p>
        </p:txBody>
      </p:sp>
      <p:pic>
        <p:nvPicPr>
          <p:cNvPr id="8" name="Picture 7">
            <a:extLst>
              <a:ext uri="{FF2B5EF4-FFF2-40B4-BE49-F238E27FC236}">
                <a16:creationId xmlns:a16="http://schemas.microsoft.com/office/drawing/2014/main" id="{F6975934-1E5D-AD9E-A310-38388FE00DA7}"/>
              </a:ext>
            </a:extLst>
          </p:cNvPr>
          <p:cNvPicPr>
            <a:picLocks noChangeAspect="1"/>
          </p:cNvPicPr>
          <p:nvPr/>
        </p:nvPicPr>
        <p:blipFill>
          <a:blip r:embed="rId2"/>
          <a:stretch>
            <a:fillRect/>
          </a:stretch>
        </p:blipFill>
        <p:spPr>
          <a:xfrm>
            <a:off x="4087636" y="1007497"/>
            <a:ext cx="4806060" cy="1520648"/>
          </a:xfrm>
          <a:prstGeom prst="rect">
            <a:avLst/>
          </a:prstGeom>
        </p:spPr>
      </p:pic>
      <p:pic>
        <p:nvPicPr>
          <p:cNvPr id="11" name="Picture 10">
            <a:extLst>
              <a:ext uri="{FF2B5EF4-FFF2-40B4-BE49-F238E27FC236}">
                <a16:creationId xmlns:a16="http://schemas.microsoft.com/office/drawing/2014/main" id="{075F71AB-1B73-EE5A-57FE-C349558D5B56}"/>
              </a:ext>
            </a:extLst>
          </p:cNvPr>
          <p:cNvPicPr>
            <a:picLocks noChangeAspect="1"/>
          </p:cNvPicPr>
          <p:nvPr/>
        </p:nvPicPr>
        <p:blipFill>
          <a:blip r:embed="rId3"/>
          <a:stretch>
            <a:fillRect/>
          </a:stretch>
        </p:blipFill>
        <p:spPr>
          <a:xfrm>
            <a:off x="4200348" y="2528145"/>
            <a:ext cx="4693348" cy="3734626"/>
          </a:xfrm>
          <a:prstGeom prst="rect">
            <a:avLst/>
          </a:prstGeom>
        </p:spPr>
      </p:pic>
    </p:spTree>
    <p:extLst>
      <p:ext uri="{BB962C8B-B14F-4D97-AF65-F5344CB8AC3E}">
        <p14:creationId xmlns:p14="http://schemas.microsoft.com/office/powerpoint/2010/main" val="1220136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a:t>III. Lập trình cấu hình các thông số của LoRa</a:t>
            </a:r>
            <a:endParaRPr lang="en-US"/>
          </a:p>
        </p:txBody>
      </p:sp>
      <p:pic>
        <p:nvPicPr>
          <p:cNvPr id="7" name="Picture 6">
            <a:extLst>
              <a:ext uri="{FF2B5EF4-FFF2-40B4-BE49-F238E27FC236}">
                <a16:creationId xmlns:a16="http://schemas.microsoft.com/office/drawing/2014/main" id="{0043022D-3A08-6EDF-4CF2-2E62FE3BA2AA}"/>
              </a:ext>
            </a:extLst>
          </p:cNvPr>
          <p:cNvPicPr>
            <a:picLocks noChangeAspect="1"/>
          </p:cNvPicPr>
          <p:nvPr/>
        </p:nvPicPr>
        <p:blipFill>
          <a:blip r:embed="rId2"/>
          <a:stretch>
            <a:fillRect/>
          </a:stretch>
        </p:blipFill>
        <p:spPr>
          <a:xfrm>
            <a:off x="4969714" y="1363264"/>
            <a:ext cx="4174286" cy="2881076"/>
          </a:xfrm>
          <a:prstGeom prst="rect">
            <a:avLst/>
          </a:prstGeom>
        </p:spPr>
      </p:pic>
      <p:sp>
        <p:nvSpPr>
          <p:cNvPr id="9" name="TextBox 8">
            <a:extLst>
              <a:ext uri="{FF2B5EF4-FFF2-40B4-BE49-F238E27FC236}">
                <a16:creationId xmlns:a16="http://schemas.microsoft.com/office/drawing/2014/main" id="{B392743C-32A8-39DA-1B99-A7C7705A989B}"/>
              </a:ext>
            </a:extLst>
          </p:cNvPr>
          <p:cNvSpPr txBox="1"/>
          <p:nvPr/>
        </p:nvSpPr>
        <p:spPr>
          <a:xfrm>
            <a:off x="485283" y="947955"/>
            <a:ext cx="5001117" cy="7017306"/>
          </a:xfrm>
          <a:prstGeom prst="rect">
            <a:avLst/>
          </a:prstGeom>
          <a:noFill/>
        </p:spPr>
        <p:txBody>
          <a:bodyPr wrap="square" rtlCol="0">
            <a:spAutoFit/>
          </a:bodyPr>
          <a:lstStyle/>
          <a:p>
            <a:r>
              <a:rPr lang="en-US" dirty="0"/>
              <a:t>3.5. LoRa FIFO data buffer</a:t>
            </a:r>
          </a:p>
          <a:p>
            <a:r>
              <a:rPr lang="en-US" dirty="0"/>
              <a:t>Dung </a:t>
            </a:r>
            <a:r>
              <a:rPr lang="en-US" dirty="0" err="1"/>
              <a:t>lượng</a:t>
            </a:r>
            <a:r>
              <a:rPr lang="en-US" dirty="0"/>
              <a:t> 256 bytes RAM, data </a:t>
            </a:r>
            <a:r>
              <a:rPr lang="en-US" dirty="0" err="1"/>
              <a:t>truyền</a:t>
            </a:r>
            <a:r>
              <a:rPr lang="en-US" dirty="0"/>
              <a:t> </a:t>
            </a:r>
            <a:r>
              <a:rPr lang="en-US" dirty="0" err="1"/>
              <a:t>và</a:t>
            </a:r>
            <a:r>
              <a:rPr lang="en-US" dirty="0"/>
              <a:t> </a:t>
            </a:r>
            <a:r>
              <a:rPr lang="en-US" dirty="0" err="1"/>
              <a:t>nhận</a:t>
            </a:r>
            <a:r>
              <a:rPr lang="en-US" dirty="0"/>
              <a:t> (payload) </a:t>
            </a:r>
            <a:r>
              <a:rPr lang="en-US" dirty="0" err="1"/>
              <a:t>dùng</a:t>
            </a:r>
            <a:r>
              <a:rPr lang="en-US" dirty="0"/>
              <a:t> </a:t>
            </a:r>
            <a:r>
              <a:rPr lang="en-US" dirty="0" err="1"/>
              <a:t>chung</a:t>
            </a:r>
            <a:r>
              <a:rPr lang="en-US" dirty="0"/>
              <a:t> 1 </a:t>
            </a:r>
            <a:r>
              <a:rPr lang="en-US" dirty="0" err="1"/>
              <a:t>vùng</a:t>
            </a:r>
            <a:r>
              <a:rPr lang="en-US" dirty="0"/>
              <a:t> </a:t>
            </a:r>
            <a:r>
              <a:rPr lang="en-US" dirty="0" err="1"/>
              <a:t>nhớ</a:t>
            </a:r>
            <a:r>
              <a:rPr lang="en-US" dirty="0"/>
              <a:t> </a:t>
            </a:r>
            <a:r>
              <a:rPr lang="en-US" dirty="0" err="1"/>
              <a:t>này</a:t>
            </a:r>
            <a:r>
              <a:rPr lang="en-US" dirty="0"/>
              <a:t>, ko </a:t>
            </a:r>
            <a:r>
              <a:rPr lang="en-US" dirty="0" err="1"/>
              <a:t>truy</a:t>
            </a:r>
            <a:r>
              <a:rPr lang="en-US" dirty="0"/>
              <a:t> </a:t>
            </a:r>
            <a:r>
              <a:rPr lang="en-US" dirty="0" err="1"/>
              <a:t>cập</a:t>
            </a:r>
            <a:r>
              <a:rPr lang="en-US" dirty="0"/>
              <a:t> </a:t>
            </a:r>
            <a:r>
              <a:rPr lang="en-US" dirty="0" err="1"/>
              <a:t>được</a:t>
            </a:r>
            <a:r>
              <a:rPr lang="en-US" dirty="0"/>
              <a:t> ở sleep mode </a:t>
            </a:r>
            <a:r>
              <a:rPr lang="en-US" dirty="0" err="1"/>
              <a:t>và</a:t>
            </a:r>
            <a:r>
              <a:rPr lang="en-US" dirty="0"/>
              <a:t> </a:t>
            </a:r>
            <a:r>
              <a:rPr lang="en-US" dirty="0" err="1"/>
              <a:t>bị</a:t>
            </a:r>
            <a:r>
              <a:rPr lang="en-US" dirty="0"/>
              <a:t> clear </a:t>
            </a:r>
            <a:r>
              <a:rPr lang="en-US" dirty="0" err="1"/>
              <a:t>khi</a:t>
            </a:r>
            <a:r>
              <a:rPr lang="en-US" dirty="0"/>
              <a:t> modem </a:t>
            </a:r>
            <a:r>
              <a:rPr lang="en-US" dirty="0" err="1"/>
              <a:t>vào</a:t>
            </a:r>
            <a:r>
              <a:rPr lang="en-US" dirty="0"/>
              <a:t> sleep mode</a:t>
            </a:r>
          </a:p>
          <a:p>
            <a:r>
              <a:rPr lang="en-US" dirty="0" err="1"/>
              <a:t>Các</a:t>
            </a:r>
            <a:r>
              <a:rPr lang="en-US" dirty="0"/>
              <a:t> </a:t>
            </a:r>
            <a:r>
              <a:rPr lang="en-US" dirty="0" err="1"/>
              <a:t>thanh</a:t>
            </a:r>
            <a:r>
              <a:rPr lang="en-US" dirty="0"/>
              <a:t> </a:t>
            </a:r>
            <a:r>
              <a:rPr lang="en-US" dirty="0" err="1"/>
              <a:t>ghi</a:t>
            </a:r>
            <a:r>
              <a:rPr lang="en-US" dirty="0"/>
              <a:t> </a:t>
            </a:r>
            <a:r>
              <a:rPr lang="en-US" dirty="0" err="1"/>
              <a:t>truy</a:t>
            </a:r>
            <a:r>
              <a:rPr lang="en-US" dirty="0"/>
              <a:t> </a:t>
            </a:r>
            <a:r>
              <a:rPr lang="en-US" dirty="0" err="1"/>
              <a:t>cập</a:t>
            </a:r>
            <a:r>
              <a:rPr lang="en-US" dirty="0"/>
              <a:t> FIFO:</a:t>
            </a:r>
          </a:p>
          <a:p>
            <a:pPr marL="285750" indent="-285750">
              <a:buFont typeface="Wingdings" panose="05000000000000000000" pitchFamily="2" charset="2"/>
              <a:buChar char="Ø"/>
            </a:pPr>
            <a:r>
              <a:rPr lang="en-US" dirty="0" err="1"/>
              <a:t>RegFifoTxBaseAddr</a:t>
            </a:r>
            <a:r>
              <a:rPr lang="en-US" dirty="0"/>
              <a:t>: </a:t>
            </a:r>
            <a:r>
              <a:rPr lang="en-US" dirty="0" err="1"/>
              <a:t>chứa</a:t>
            </a:r>
            <a:r>
              <a:rPr lang="en-US" dirty="0"/>
              <a:t> </a:t>
            </a:r>
            <a:r>
              <a:rPr lang="en-US" dirty="0" err="1"/>
              <a:t>vùng</a:t>
            </a:r>
            <a:r>
              <a:rPr lang="en-US" dirty="0"/>
              <a:t> </a:t>
            </a:r>
            <a:r>
              <a:rPr lang="en-US" dirty="0" err="1"/>
              <a:t>địa</a:t>
            </a:r>
            <a:r>
              <a:rPr lang="en-US" dirty="0"/>
              <a:t> </a:t>
            </a:r>
            <a:r>
              <a:rPr lang="en-US" dirty="0" err="1"/>
              <a:t>chỉ</a:t>
            </a:r>
            <a:r>
              <a:rPr lang="en-US" dirty="0"/>
              <a:t> </a:t>
            </a:r>
            <a:r>
              <a:rPr lang="en-US" dirty="0" err="1"/>
              <a:t>vùng</a:t>
            </a:r>
            <a:r>
              <a:rPr lang="en-US" dirty="0"/>
              <a:t> </a:t>
            </a:r>
            <a:r>
              <a:rPr lang="en-US" dirty="0" err="1"/>
              <a:t>nhớ</a:t>
            </a:r>
            <a:r>
              <a:rPr lang="en-US" dirty="0"/>
              <a:t> </a:t>
            </a:r>
            <a:r>
              <a:rPr lang="en-US" dirty="0" err="1"/>
              <a:t>lưu</a:t>
            </a:r>
            <a:r>
              <a:rPr lang="en-US" dirty="0"/>
              <a:t> </a:t>
            </a:r>
            <a:r>
              <a:rPr lang="en-US" dirty="0" err="1"/>
              <a:t>trữ</a:t>
            </a:r>
            <a:r>
              <a:rPr lang="en-US" dirty="0"/>
              <a:t> data </a:t>
            </a:r>
            <a:r>
              <a:rPr lang="en-US" dirty="0" err="1"/>
              <a:t>truyền</a:t>
            </a:r>
            <a:r>
              <a:rPr lang="en-US" dirty="0"/>
              <a:t> default: 0x80</a:t>
            </a:r>
          </a:p>
          <a:p>
            <a:pPr marL="285750" indent="-285750">
              <a:buFont typeface="Wingdings" panose="05000000000000000000" pitchFamily="2" charset="2"/>
              <a:buChar char="Ø"/>
            </a:pPr>
            <a:r>
              <a:rPr lang="en-US" dirty="0" err="1"/>
              <a:t>RegFifoRxBaseAddr</a:t>
            </a:r>
            <a:r>
              <a:rPr lang="en-US" dirty="0"/>
              <a:t> : </a:t>
            </a:r>
            <a:r>
              <a:rPr lang="en-US" dirty="0" err="1"/>
              <a:t>chứa</a:t>
            </a:r>
            <a:r>
              <a:rPr lang="en-US" dirty="0"/>
              <a:t> </a:t>
            </a:r>
            <a:r>
              <a:rPr lang="en-US" dirty="0" err="1"/>
              <a:t>địa</a:t>
            </a:r>
            <a:r>
              <a:rPr lang="en-US" dirty="0"/>
              <a:t> </a:t>
            </a:r>
            <a:r>
              <a:rPr lang="en-US" dirty="0" err="1"/>
              <a:t>chỉ</a:t>
            </a:r>
            <a:r>
              <a:rPr lang="en-US" dirty="0"/>
              <a:t> </a:t>
            </a:r>
            <a:r>
              <a:rPr lang="en-US" dirty="0" err="1"/>
              <a:t>vùng</a:t>
            </a:r>
            <a:r>
              <a:rPr lang="en-US" dirty="0"/>
              <a:t> </a:t>
            </a:r>
            <a:r>
              <a:rPr lang="en-US" dirty="0" err="1"/>
              <a:t>nhớ</a:t>
            </a:r>
            <a:r>
              <a:rPr lang="en-US" dirty="0"/>
              <a:t> </a:t>
            </a:r>
            <a:r>
              <a:rPr lang="en-US" dirty="0" err="1"/>
              <a:t>lưu</a:t>
            </a:r>
            <a:r>
              <a:rPr lang="en-US" dirty="0"/>
              <a:t> </a:t>
            </a:r>
            <a:r>
              <a:rPr lang="en-US" dirty="0" err="1"/>
              <a:t>trữ</a:t>
            </a:r>
            <a:r>
              <a:rPr lang="en-US" dirty="0"/>
              <a:t> data </a:t>
            </a:r>
            <a:r>
              <a:rPr lang="en-US" dirty="0" err="1"/>
              <a:t>nhận</a:t>
            </a:r>
            <a:r>
              <a:rPr lang="en-US" dirty="0"/>
              <a:t> default: 0x00</a:t>
            </a:r>
          </a:p>
          <a:p>
            <a:pPr marL="285750" indent="-285750">
              <a:buFont typeface="Wingdings" panose="05000000000000000000" pitchFamily="2" charset="2"/>
              <a:buChar char="Ø"/>
            </a:pPr>
            <a:r>
              <a:rPr lang="en-US" dirty="0" err="1"/>
              <a:t>RegFifoAddrPtr</a:t>
            </a:r>
            <a:r>
              <a:rPr lang="en-US" dirty="0"/>
              <a:t> : </a:t>
            </a:r>
            <a:r>
              <a:rPr lang="en-US" dirty="0" err="1"/>
              <a:t>chứa</a:t>
            </a:r>
            <a:r>
              <a:rPr lang="en-US" dirty="0"/>
              <a:t> </a:t>
            </a:r>
            <a:r>
              <a:rPr lang="en-US" dirty="0" err="1"/>
              <a:t>địa</a:t>
            </a:r>
            <a:r>
              <a:rPr lang="en-US" dirty="0"/>
              <a:t> </a:t>
            </a:r>
            <a:r>
              <a:rPr lang="en-US" dirty="0" err="1"/>
              <a:t>chỉ</a:t>
            </a:r>
            <a:r>
              <a:rPr lang="en-US" dirty="0"/>
              <a:t> ô </a:t>
            </a:r>
            <a:r>
              <a:rPr lang="en-US" dirty="0" err="1"/>
              <a:t>nhớ</a:t>
            </a:r>
            <a:r>
              <a:rPr lang="en-US" dirty="0"/>
              <a:t> </a:t>
            </a:r>
            <a:r>
              <a:rPr lang="en-US" dirty="0" err="1"/>
              <a:t>hiện</a:t>
            </a:r>
            <a:r>
              <a:rPr lang="en-US" dirty="0"/>
              <a:t> </a:t>
            </a:r>
            <a:r>
              <a:rPr lang="en-US" dirty="0" err="1"/>
              <a:t>tại</a:t>
            </a:r>
            <a:r>
              <a:rPr lang="en-US" dirty="0"/>
              <a:t> </a:t>
            </a:r>
            <a:r>
              <a:rPr lang="en-US" dirty="0" err="1"/>
              <a:t>để</a:t>
            </a:r>
            <a:r>
              <a:rPr lang="en-US" dirty="0"/>
              <a:t> </a:t>
            </a:r>
            <a:r>
              <a:rPr lang="en-US" dirty="0" err="1"/>
              <a:t>thao</a:t>
            </a:r>
            <a:r>
              <a:rPr lang="en-US" dirty="0"/>
              <a:t> </a:t>
            </a:r>
            <a:r>
              <a:rPr lang="en-US" dirty="0" err="1"/>
              <a:t>thác</a:t>
            </a:r>
            <a:r>
              <a:rPr lang="en-US" dirty="0"/>
              <a:t> w/r</a:t>
            </a:r>
          </a:p>
          <a:p>
            <a:pPr marL="285750" indent="-285750">
              <a:buFont typeface="Wingdings" panose="05000000000000000000" pitchFamily="2" charset="2"/>
              <a:buChar char="Ø"/>
            </a:pPr>
            <a:r>
              <a:rPr lang="en-US" dirty="0" err="1"/>
              <a:t>RegRxNbBytes</a:t>
            </a:r>
            <a:r>
              <a:rPr lang="en-US" dirty="0"/>
              <a:t> : </a:t>
            </a:r>
            <a:r>
              <a:rPr lang="en-US" dirty="0" err="1"/>
              <a:t>kích</a:t>
            </a:r>
            <a:r>
              <a:rPr lang="en-US" dirty="0"/>
              <a:t> </a:t>
            </a:r>
            <a:r>
              <a:rPr lang="en-US" dirty="0" err="1"/>
              <a:t>thước</a:t>
            </a:r>
            <a:r>
              <a:rPr lang="en-US" dirty="0"/>
              <a:t> </a:t>
            </a:r>
            <a:r>
              <a:rPr lang="en-US" dirty="0" err="1"/>
              <a:t>vùng</a:t>
            </a:r>
            <a:r>
              <a:rPr lang="en-US" dirty="0"/>
              <a:t> </a:t>
            </a:r>
            <a:r>
              <a:rPr lang="en-US" dirty="0" err="1"/>
              <a:t>nhớ</a:t>
            </a:r>
            <a:r>
              <a:rPr lang="en-US" dirty="0"/>
              <a:t> </a:t>
            </a:r>
            <a:r>
              <a:rPr lang="en-US" dirty="0" err="1"/>
              <a:t>cần</a:t>
            </a:r>
            <a:r>
              <a:rPr lang="en-US" dirty="0"/>
              <a:t> </a:t>
            </a:r>
            <a:r>
              <a:rPr lang="en-US" dirty="0" err="1"/>
              <a:t>để</a:t>
            </a:r>
            <a:r>
              <a:rPr lang="en-US" dirty="0"/>
              <a:t> </a:t>
            </a:r>
            <a:r>
              <a:rPr lang="en-US" dirty="0" err="1"/>
              <a:t>lưu</a:t>
            </a:r>
            <a:r>
              <a:rPr lang="en-US" dirty="0"/>
              <a:t> </a:t>
            </a:r>
            <a:r>
              <a:rPr lang="en-US" dirty="0" err="1"/>
              <a:t>trữ</a:t>
            </a:r>
            <a:r>
              <a:rPr lang="en-US" dirty="0"/>
              <a:t> data </a:t>
            </a:r>
            <a:r>
              <a:rPr lang="en-US" dirty="0" err="1"/>
              <a:t>nếu</a:t>
            </a:r>
            <a:r>
              <a:rPr lang="en-US" dirty="0"/>
              <a:t> </a:t>
            </a:r>
            <a:r>
              <a:rPr lang="en-US" dirty="0" err="1"/>
              <a:t>nhận</a:t>
            </a:r>
            <a:r>
              <a:rPr lang="en-US" dirty="0"/>
              <a:t> </a:t>
            </a:r>
            <a:r>
              <a:rPr lang="en-US" dirty="0" err="1"/>
              <a:t>thành</a:t>
            </a:r>
            <a:r>
              <a:rPr lang="en-US" dirty="0"/>
              <a:t> </a:t>
            </a:r>
            <a:r>
              <a:rPr lang="en-US" dirty="0" err="1"/>
              <a:t>công</a:t>
            </a:r>
            <a:endParaRPr lang="en-US" dirty="0"/>
          </a:p>
          <a:p>
            <a:pPr marL="285750" indent="-285750">
              <a:buFont typeface="Wingdings" panose="05000000000000000000" pitchFamily="2" charset="2"/>
              <a:buChar char="Ø"/>
            </a:pPr>
            <a:r>
              <a:rPr lang="en-US" dirty="0" err="1"/>
              <a:t>RegPayloadLength</a:t>
            </a:r>
            <a:r>
              <a:rPr lang="en-US" dirty="0"/>
              <a:t> : </a:t>
            </a:r>
            <a:r>
              <a:rPr lang="en-US" dirty="0" err="1"/>
              <a:t>kích</a:t>
            </a:r>
            <a:r>
              <a:rPr lang="en-US" dirty="0"/>
              <a:t> </a:t>
            </a:r>
            <a:r>
              <a:rPr lang="en-US" dirty="0" err="1"/>
              <a:t>thước</a:t>
            </a:r>
            <a:r>
              <a:rPr lang="en-US" dirty="0"/>
              <a:t> </a:t>
            </a:r>
            <a:r>
              <a:rPr lang="en-US" dirty="0" err="1"/>
              <a:t>vùng</a:t>
            </a:r>
            <a:r>
              <a:rPr lang="en-US" dirty="0"/>
              <a:t> </a:t>
            </a:r>
            <a:r>
              <a:rPr lang="en-US" dirty="0" err="1"/>
              <a:t>nhớ</a:t>
            </a:r>
            <a:r>
              <a:rPr lang="en-US" dirty="0"/>
              <a:t> </a:t>
            </a:r>
            <a:r>
              <a:rPr lang="en-US" dirty="0" err="1"/>
              <a:t>cần</a:t>
            </a:r>
            <a:r>
              <a:rPr lang="en-US" dirty="0"/>
              <a:t> </a:t>
            </a:r>
            <a:r>
              <a:rPr lang="en-US" dirty="0" err="1"/>
              <a:t>để</a:t>
            </a:r>
            <a:r>
              <a:rPr lang="en-US" dirty="0"/>
              <a:t> </a:t>
            </a:r>
            <a:r>
              <a:rPr lang="en-US" dirty="0" err="1"/>
              <a:t>lưu</a:t>
            </a:r>
            <a:r>
              <a:rPr lang="en-US" dirty="0"/>
              <a:t> </a:t>
            </a:r>
            <a:r>
              <a:rPr lang="en-US" dirty="0" err="1"/>
              <a:t>trữ</a:t>
            </a:r>
            <a:r>
              <a:rPr lang="en-US" dirty="0"/>
              <a:t> data </a:t>
            </a:r>
            <a:r>
              <a:rPr lang="en-US" dirty="0" err="1"/>
              <a:t>truyền</a:t>
            </a:r>
            <a:endParaRPr lang="en-US" dirty="0"/>
          </a:p>
          <a:p>
            <a:pPr marL="285750" indent="-285750">
              <a:buFont typeface="Wingdings" panose="05000000000000000000" pitchFamily="2" charset="2"/>
              <a:buChar char="Ø"/>
            </a:pPr>
            <a:r>
              <a:rPr lang="en-US" dirty="0" err="1"/>
              <a:t>RegFifoRxCurrentAddr</a:t>
            </a:r>
            <a:r>
              <a:rPr lang="en-US" dirty="0"/>
              <a:t> : </a:t>
            </a:r>
            <a:r>
              <a:rPr lang="en-US" dirty="0" err="1"/>
              <a:t>chứa</a:t>
            </a:r>
            <a:r>
              <a:rPr lang="en-US" dirty="0"/>
              <a:t> </a:t>
            </a:r>
            <a:r>
              <a:rPr lang="en-US" dirty="0" err="1"/>
              <a:t>địa</a:t>
            </a:r>
            <a:r>
              <a:rPr lang="en-US" dirty="0"/>
              <a:t> </a:t>
            </a:r>
            <a:r>
              <a:rPr lang="en-US" dirty="0" err="1"/>
              <a:t>chỉ</a:t>
            </a:r>
            <a:r>
              <a:rPr lang="en-US" dirty="0"/>
              <a:t> </a:t>
            </a:r>
            <a:r>
              <a:rPr lang="en-US" dirty="0" err="1"/>
              <a:t>của</a:t>
            </a:r>
            <a:r>
              <a:rPr lang="en-US" dirty="0"/>
              <a:t> </a:t>
            </a:r>
            <a:r>
              <a:rPr lang="en-US" dirty="0" err="1"/>
              <a:t>gói</a:t>
            </a:r>
            <a:r>
              <a:rPr lang="en-US" dirty="0"/>
              <a:t> tin </a:t>
            </a:r>
            <a:r>
              <a:rPr lang="en-US" dirty="0" err="1"/>
              <a:t>cuối</a:t>
            </a:r>
            <a:r>
              <a:rPr lang="en-US" dirty="0"/>
              <a:t> </a:t>
            </a:r>
            <a:r>
              <a:rPr lang="en-US" dirty="0" err="1"/>
              <a:t>cùng</a:t>
            </a:r>
            <a:endParaRPr lang="en-US" dirty="0"/>
          </a:p>
          <a:p>
            <a:pPr marL="285750" indent="-285750">
              <a:buFont typeface="Wingdings" panose="05000000000000000000" pitchFamily="2" charset="2"/>
              <a:buChar char="Ø"/>
            </a:pPr>
            <a:r>
              <a:rPr lang="en-US" dirty="0" err="1"/>
              <a:t>RegFiFo</a:t>
            </a:r>
            <a:r>
              <a:rPr lang="en-US" dirty="0"/>
              <a:t>: </a:t>
            </a:r>
            <a:r>
              <a:rPr lang="en-US" dirty="0" err="1"/>
              <a:t>điều</a:t>
            </a:r>
            <a:r>
              <a:rPr lang="en-US" dirty="0"/>
              <a:t> </a:t>
            </a:r>
            <a:r>
              <a:rPr lang="en-US" dirty="0" err="1"/>
              <a:t>khiển</a:t>
            </a:r>
            <a:r>
              <a:rPr lang="en-US" dirty="0"/>
              <a:t> </a:t>
            </a:r>
            <a:r>
              <a:rPr lang="en-US" dirty="0" err="1"/>
              <a:t>đọc</a:t>
            </a:r>
            <a:r>
              <a:rPr lang="en-US" dirty="0"/>
              <a:t> </a:t>
            </a:r>
            <a:r>
              <a:rPr lang="en-US" dirty="0" err="1"/>
              <a:t>ghi</a:t>
            </a:r>
            <a:r>
              <a:rPr lang="en-US" dirty="0"/>
              <a:t> FIFO </a:t>
            </a:r>
            <a:r>
              <a:rPr lang="en-US" dirty="0" err="1"/>
              <a:t>thông</a:t>
            </a:r>
            <a:r>
              <a:rPr lang="en-US" dirty="0"/>
              <a:t> qua SPI</a:t>
            </a:r>
            <a:br>
              <a:rPr lang="en-US" dirty="0"/>
            </a:br>
            <a:endParaRPr lang="en-US" dirty="0"/>
          </a:p>
          <a:p>
            <a:br>
              <a:rPr lang="en-US" dirty="0"/>
            </a:br>
            <a:endParaRPr lang="en-US" dirty="0"/>
          </a:p>
          <a:p>
            <a:endParaRPr lang="en-US" dirty="0"/>
          </a:p>
          <a:p>
            <a:br>
              <a:rPr lang="en-US" dirty="0"/>
            </a:br>
            <a:endParaRPr lang="en-US" dirty="0"/>
          </a:p>
        </p:txBody>
      </p:sp>
    </p:spTree>
    <p:extLst>
      <p:ext uri="{BB962C8B-B14F-4D97-AF65-F5344CB8AC3E}">
        <p14:creationId xmlns:p14="http://schemas.microsoft.com/office/powerpoint/2010/main" val="1952592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dirty="0"/>
              <a:t>III. </a:t>
            </a:r>
            <a:r>
              <a:rPr lang="en-US" dirty="0"/>
              <a:t>C</a:t>
            </a:r>
            <a:r>
              <a:rPr lang="vi-VN" dirty="0"/>
              <a:t>ấu hình các thông số của LoRa</a:t>
            </a:r>
            <a:endParaRPr lang="en-US" dirty="0"/>
          </a:p>
        </p:txBody>
      </p:sp>
      <p:sp>
        <p:nvSpPr>
          <p:cNvPr id="9" name="TextBox 8">
            <a:extLst>
              <a:ext uri="{FF2B5EF4-FFF2-40B4-BE49-F238E27FC236}">
                <a16:creationId xmlns:a16="http://schemas.microsoft.com/office/drawing/2014/main" id="{B392743C-32A8-39DA-1B99-A7C7705A989B}"/>
              </a:ext>
            </a:extLst>
          </p:cNvPr>
          <p:cNvSpPr txBox="1"/>
          <p:nvPr/>
        </p:nvSpPr>
        <p:spPr>
          <a:xfrm>
            <a:off x="591963" y="1008915"/>
            <a:ext cx="7005177" cy="3262432"/>
          </a:xfrm>
          <a:prstGeom prst="rect">
            <a:avLst/>
          </a:prstGeom>
          <a:noFill/>
        </p:spPr>
        <p:txBody>
          <a:bodyPr wrap="square" rtlCol="0">
            <a:spAutoFit/>
          </a:bodyPr>
          <a:lstStyle/>
          <a:p>
            <a:r>
              <a:rPr lang="en-US" sz="1400" dirty="0">
                <a:latin typeface="Aptos" panose="020B0004020202020204" pitchFamily="34" charset="0"/>
              </a:rPr>
              <a:t>3.6. </a:t>
            </a:r>
            <a:r>
              <a:rPr lang="en-US" sz="1400" dirty="0" err="1">
                <a:latin typeface="Aptos" panose="020B0004020202020204" pitchFamily="34" charset="0"/>
              </a:rPr>
              <a:t>Ngắt</a:t>
            </a:r>
            <a:endParaRPr lang="en-US" sz="1400" dirty="0">
              <a:latin typeface="Aptos" panose="020B0004020202020204" pitchFamily="34" charset="0"/>
            </a:endParaRPr>
          </a:p>
          <a:p>
            <a:r>
              <a:rPr lang="en-US" sz="1400" dirty="0" err="1">
                <a:latin typeface="Aptos" panose="020B0004020202020204" pitchFamily="34" charset="0"/>
              </a:rPr>
              <a:t>Các</a:t>
            </a:r>
            <a:r>
              <a:rPr lang="en-US" sz="1400" dirty="0">
                <a:latin typeface="Aptos" panose="020B0004020202020204" pitchFamily="34" charset="0"/>
              </a:rPr>
              <a:t> </a:t>
            </a:r>
            <a:r>
              <a:rPr lang="en-US" sz="1400" dirty="0" err="1">
                <a:latin typeface="Aptos" panose="020B0004020202020204" pitchFamily="34" charset="0"/>
              </a:rPr>
              <a:t>thanh</a:t>
            </a:r>
            <a:r>
              <a:rPr lang="en-US" sz="1400" dirty="0">
                <a:latin typeface="Aptos" panose="020B0004020202020204" pitchFamily="34" charset="0"/>
              </a:rPr>
              <a:t> </a:t>
            </a:r>
            <a:r>
              <a:rPr lang="en-US" sz="1400" dirty="0" err="1">
                <a:latin typeface="Aptos" panose="020B0004020202020204" pitchFamily="34" charset="0"/>
              </a:rPr>
              <a:t>ghi</a:t>
            </a:r>
            <a:r>
              <a:rPr lang="en-US" sz="1400" dirty="0">
                <a:latin typeface="Aptos" panose="020B0004020202020204" pitchFamily="34" charset="0"/>
              </a:rPr>
              <a:t> </a:t>
            </a:r>
            <a:r>
              <a:rPr lang="en-US" sz="1400" dirty="0" err="1">
                <a:latin typeface="Aptos" panose="020B0004020202020204" pitchFamily="34" charset="0"/>
              </a:rPr>
              <a:t>điều</a:t>
            </a:r>
            <a:r>
              <a:rPr lang="en-US" sz="1400" dirty="0">
                <a:latin typeface="Aptos" panose="020B0004020202020204" pitchFamily="34" charset="0"/>
              </a:rPr>
              <a:t> </a:t>
            </a:r>
            <a:r>
              <a:rPr lang="en-US" sz="1400" dirty="0" err="1">
                <a:latin typeface="Aptos" panose="020B0004020202020204" pitchFamily="34" charset="0"/>
              </a:rPr>
              <a:t>khiển</a:t>
            </a:r>
            <a:r>
              <a:rPr lang="en-US" sz="1400" dirty="0">
                <a:latin typeface="Aptos" panose="020B0004020202020204" pitchFamily="34" charset="0"/>
              </a:rPr>
              <a:t> </a:t>
            </a:r>
            <a:r>
              <a:rPr lang="en-US" sz="1400" dirty="0" err="1">
                <a:latin typeface="Aptos" panose="020B0004020202020204" pitchFamily="34" charset="0"/>
              </a:rPr>
              <a:t>cờ</a:t>
            </a:r>
            <a:r>
              <a:rPr lang="en-US" sz="1400" dirty="0">
                <a:latin typeface="Aptos" panose="020B0004020202020204" pitchFamily="34" charset="0"/>
              </a:rPr>
              <a:t> </a:t>
            </a:r>
            <a:r>
              <a:rPr lang="en-US" sz="1400" dirty="0" err="1">
                <a:latin typeface="Aptos" panose="020B0004020202020204" pitchFamily="34" charset="0"/>
              </a:rPr>
              <a:t>ngắt</a:t>
            </a:r>
            <a:r>
              <a:rPr lang="en-US" sz="1400" dirty="0">
                <a:latin typeface="Aptos" panose="020B0004020202020204" pitchFamily="34" charset="0"/>
              </a:rPr>
              <a:t> </a:t>
            </a:r>
          </a:p>
          <a:p>
            <a:r>
              <a:rPr lang="en-US" sz="1400" dirty="0">
                <a:latin typeface="Aptos" panose="020B0004020202020204" pitchFamily="34" charset="0"/>
              </a:rPr>
              <a:t>- </a:t>
            </a:r>
            <a:r>
              <a:rPr lang="en-US" sz="1400" b="0" i="1" dirty="0" err="1">
                <a:solidFill>
                  <a:srgbClr val="000000"/>
                </a:solidFill>
                <a:effectLst/>
                <a:latin typeface="Aptos" panose="020B0004020202020204" pitchFamily="34" charset="0"/>
              </a:rPr>
              <a:t>RegIrqFlagsMask</a:t>
            </a:r>
            <a:r>
              <a:rPr lang="en-US" sz="1400" dirty="0">
                <a:latin typeface="Aptos" panose="020B0004020202020204" pitchFamily="34" charset="0"/>
              </a:rPr>
              <a:t> : set bit 1 </a:t>
            </a:r>
            <a:r>
              <a:rPr lang="en-US" sz="1400" dirty="0" err="1">
                <a:latin typeface="Aptos" panose="020B0004020202020204" pitchFamily="34" charset="0"/>
              </a:rPr>
              <a:t>nếu</a:t>
            </a:r>
            <a:r>
              <a:rPr lang="en-US" sz="1400" dirty="0">
                <a:latin typeface="Aptos" panose="020B0004020202020204" pitchFamily="34" charset="0"/>
              </a:rPr>
              <a:t> </a:t>
            </a:r>
            <a:r>
              <a:rPr lang="en-US" sz="1400" dirty="0" err="1">
                <a:latin typeface="Aptos" panose="020B0004020202020204" pitchFamily="34" charset="0"/>
              </a:rPr>
              <a:t>muốn</a:t>
            </a:r>
            <a:r>
              <a:rPr lang="en-US" sz="1400" dirty="0">
                <a:latin typeface="Aptos" panose="020B0004020202020204" pitchFamily="34" charset="0"/>
              </a:rPr>
              <a:t> </a:t>
            </a:r>
            <a:r>
              <a:rPr lang="en-US" sz="1400" dirty="0" err="1">
                <a:latin typeface="Aptos" panose="020B0004020202020204" pitchFamily="34" charset="0"/>
              </a:rPr>
              <a:t>che</a:t>
            </a:r>
            <a:r>
              <a:rPr lang="en-US" sz="1400" dirty="0">
                <a:latin typeface="Aptos" panose="020B0004020202020204" pitchFamily="34" charset="0"/>
              </a:rPr>
              <a:t> </a:t>
            </a:r>
            <a:r>
              <a:rPr lang="en-US" sz="1400" dirty="0" err="1">
                <a:latin typeface="Aptos" panose="020B0004020202020204" pitchFamily="34" charset="0"/>
              </a:rPr>
              <a:t>ngắt</a:t>
            </a:r>
            <a:r>
              <a:rPr lang="en-US" sz="1400" dirty="0">
                <a:latin typeface="Aptos" panose="020B0004020202020204" pitchFamily="34" charset="0"/>
              </a:rPr>
              <a:t> (</a:t>
            </a:r>
            <a:r>
              <a:rPr lang="en-US" sz="1400" dirty="0" err="1">
                <a:latin typeface="Aptos" panose="020B0004020202020204" pitchFamily="34" charset="0"/>
              </a:rPr>
              <a:t>bỏ</a:t>
            </a:r>
            <a:r>
              <a:rPr lang="en-US" sz="1400" dirty="0">
                <a:latin typeface="Aptos" panose="020B0004020202020204" pitchFamily="34" charset="0"/>
              </a:rPr>
              <a:t> qua </a:t>
            </a:r>
            <a:r>
              <a:rPr lang="en-US" sz="1400" dirty="0" err="1">
                <a:latin typeface="Aptos" panose="020B0004020202020204" pitchFamily="34" charset="0"/>
              </a:rPr>
              <a:t>ngắt</a:t>
            </a:r>
            <a:r>
              <a:rPr lang="en-US" sz="1400" dirty="0">
                <a:latin typeface="Aptos" panose="020B0004020202020204" pitchFamily="34" charset="0"/>
              </a:rPr>
              <a:t>)</a:t>
            </a:r>
            <a:br>
              <a:rPr lang="en-US" sz="1400" dirty="0">
                <a:latin typeface="Aptos" panose="020B0004020202020204" pitchFamily="34" charset="0"/>
              </a:rPr>
            </a:br>
            <a:r>
              <a:rPr lang="en-US" sz="1400" dirty="0">
                <a:latin typeface="Aptos" panose="020B0004020202020204" pitchFamily="34" charset="0"/>
              </a:rPr>
              <a:t>- </a:t>
            </a:r>
            <a:r>
              <a:rPr lang="en-US" sz="1400" b="0" i="1" dirty="0" err="1">
                <a:solidFill>
                  <a:srgbClr val="000000"/>
                </a:solidFill>
                <a:effectLst/>
                <a:latin typeface="Aptos" panose="020B0004020202020204" pitchFamily="34" charset="0"/>
              </a:rPr>
              <a:t>RegIrqFlags</a:t>
            </a:r>
            <a:r>
              <a:rPr lang="en-US" sz="1400" b="0" i="1" dirty="0">
                <a:solidFill>
                  <a:srgbClr val="000000"/>
                </a:solidFill>
                <a:effectLst/>
                <a:latin typeface="Aptos" panose="020B0004020202020204" pitchFamily="34" charset="0"/>
              </a:rPr>
              <a:t> : </a:t>
            </a:r>
            <a:r>
              <a:rPr lang="en-US" sz="1400" b="0" i="1" dirty="0" err="1">
                <a:solidFill>
                  <a:srgbClr val="000000"/>
                </a:solidFill>
                <a:effectLst/>
                <a:latin typeface="Aptos" panose="020B0004020202020204" pitchFamily="34" charset="0"/>
              </a:rPr>
              <a:t>chế</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độ</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truy</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cập</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là</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rc</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đọc</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và</a:t>
            </a:r>
            <a:r>
              <a:rPr lang="en-US" sz="1400" b="0" i="1" dirty="0">
                <a:solidFill>
                  <a:srgbClr val="000000"/>
                </a:solidFill>
                <a:effectLst/>
                <a:latin typeface="Aptos" panose="020B0004020202020204" pitchFamily="34" charset="0"/>
              </a:rPr>
              <a:t> clear), set 1 </a:t>
            </a:r>
            <a:r>
              <a:rPr lang="en-US" sz="1400" b="0" i="1" dirty="0" err="1">
                <a:solidFill>
                  <a:srgbClr val="000000"/>
                </a:solidFill>
                <a:effectLst/>
                <a:latin typeface="Aptos" panose="020B0004020202020204" pitchFamily="34" charset="0"/>
              </a:rPr>
              <a:t>tức</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là</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ngắt</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đã</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kích</a:t>
            </a:r>
            <a:r>
              <a:rPr lang="en-US" sz="1400" b="0" i="1" dirty="0">
                <a:solidFill>
                  <a:srgbClr val="000000"/>
                </a:solidFill>
                <a:effectLst/>
                <a:latin typeface="Aptos" panose="020B0004020202020204" pitchFamily="34" charset="0"/>
              </a:rPr>
              <a:t> </a:t>
            </a:r>
            <a:r>
              <a:rPr lang="en-US" sz="1400" b="0" i="1" dirty="0" err="1">
                <a:solidFill>
                  <a:srgbClr val="000000"/>
                </a:solidFill>
                <a:effectLst/>
                <a:latin typeface="Aptos" panose="020B0004020202020204" pitchFamily="34" charset="0"/>
              </a:rPr>
              <a:t>hoạt</a:t>
            </a:r>
            <a:r>
              <a:rPr lang="en-US" sz="1400" i="1" dirty="0">
                <a:solidFill>
                  <a:srgbClr val="000000"/>
                </a:solidFill>
                <a:latin typeface="Aptos" panose="020B0004020202020204" pitchFamily="34" charset="0"/>
              </a:rPr>
              <a:t>, </a:t>
            </a:r>
            <a:r>
              <a:rPr lang="en-US" sz="1400" i="1" dirty="0" err="1">
                <a:solidFill>
                  <a:srgbClr val="000000"/>
                </a:solidFill>
                <a:latin typeface="Aptos" panose="020B0004020202020204" pitchFamily="34" charset="0"/>
              </a:rPr>
              <a:t>ghi</a:t>
            </a:r>
            <a:r>
              <a:rPr lang="en-US" sz="1400" i="1" dirty="0">
                <a:solidFill>
                  <a:srgbClr val="000000"/>
                </a:solidFill>
                <a:latin typeface="Aptos" panose="020B0004020202020204" pitchFamily="34" charset="0"/>
              </a:rPr>
              <a:t> 1 </a:t>
            </a:r>
            <a:r>
              <a:rPr lang="en-US" sz="1400" i="1" dirty="0" err="1">
                <a:solidFill>
                  <a:srgbClr val="000000"/>
                </a:solidFill>
                <a:latin typeface="Aptos" panose="020B0004020202020204" pitchFamily="34" charset="0"/>
              </a:rPr>
              <a:t>để</a:t>
            </a:r>
            <a:r>
              <a:rPr lang="en-US" sz="1400" i="1" dirty="0">
                <a:solidFill>
                  <a:srgbClr val="000000"/>
                </a:solidFill>
                <a:latin typeface="Aptos" panose="020B0004020202020204" pitchFamily="34" charset="0"/>
              </a:rPr>
              <a:t> clear</a:t>
            </a:r>
            <a:br>
              <a:rPr lang="en-US" sz="1400" dirty="0">
                <a:latin typeface="Aptos" panose="020B0004020202020204" pitchFamily="34" charset="0"/>
              </a:rPr>
            </a:br>
            <a:r>
              <a:rPr lang="en-US" sz="1400" dirty="0">
                <a:latin typeface="Aptos" panose="020B0004020202020204" pitchFamily="34" charset="0"/>
              </a:rPr>
              <a:t> 3.7. </a:t>
            </a:r>
            <a:r>
              <a:rPr lang="en-US" sz="1400" dirty="0" err="1">
                <a:latin typeface="Aptos" panose="020B0004020202020204" pitchFamily="34" charset="0"/>
              </a:rPr>
              <a:t>Các</a:t>
            </a:r>
            <a:r>
              <a:rPr lang="en-US" sz="1400" dirty="0">
                <a:latin typeface="Aptos" panose="020B0004020202020204" pitchFamily="34" charset="0"/>
              </a:rPr>
              <a:t> </a:t>
            </a:r>
            <a:r>
              <a:rPr lang="en-US" sz="1400" dirty="0" err="1">
                <a:latin typeface="Aptos" panose="020B0004020202020204" pitchFamily="34" charset="0"/>
              </a:rPr>
              <a:t>chân</a:t>
            </a:r>
            <a:r>
              <a:rPr lang="en-US" sz="1400" dirty="0">
                <a:latin typeface="Aptos" panose="020B0004020202020204" pitchFamily="34" charset="0"/>
              </a:rPr>
              <a:t> IO</a:t>
            </a:r>
            <a:br>
              <a:rPr lang="en-US" sz="1400" dirty="0">
                <a:latin typeface="Aptos" panose="020B0004020202020204" pitchFamily="34" charset="0"/>
              </a:rPr>
            </a:br>
            <a:r>
              <a:rPr lang="en-US" sz="1400" dirty="0" err="1">
                <a:latin typeface="Aptos" panose="020B0004020202020204" pitchFamily="34" charset="0"/>
              </a:rPr>
              <a:t>Cấu</a:t>
            </a:r>
            <a:r>
              <a:rPr lang="en-US" sz="1400" dirty="0">
                <a:latin typeface="Aptos" panose="020B0004020202020204" pitchFamily="34" charset="0"/>
              </a:rPr>
              <a:t> </a:t>
            </a:r>
            <a:r>
              <a:rPr lang="en-US" sz="1400" dirty="0" err="1">
                <a:latin typeface="Aptos" panose="020B0004020202020204" pitchFamily="34" charset="0"/>
              </a:rPr>
              <a:t>hình</a:t>
            </a:r>
            <a:r>
              <a:rPr lang="en-US" sz="1400" dirty="0">
                <a:latin typeface="Aptos" panose="020B0004020202020204" pitchFamily="34" charset="0"/>
              </a:rPr>
              <a:t> </a:t>
            </a:r>
            <a:r>
              <a:rPr lang="en-US" sz="1400" dirty="0" err="1">
                <a:latin typeface="Aptos" panose="020B0004020202020204" pitchFamily="34" charset="0"/>
              </a:rPr>
              <a:t>thông</a:t>
            </a:r>
            <a:r>
              <a:rPr lang="en-US" sz="1400" dirty="0">
                <a:latin typeface="Aptos" panose="020B0004020202020204" pitchFamily="34" charset="0"/>
              </a:rPr>
              <a:t> qua 2 </a:t>
            </a:r>
            <a:r>
              <a:rPr lang="en-US" sz="1400" dirty="0" err="1">
                <a:latin typeface="Aptos" panose="020B0004020202020204" pitchFamily="34" charset="0"/>
              </a:rPr>
              <a:t>thanh</a:t>
            </a:r>
            <a:r>
              <a:rPr lang="en-US" sz="1400" dirty="0">
                <a:latin typeface="Aptos" panose="020B0004020202020204" pitchFamily="34" charset="0"/>
              </a:rPr>
              <a:t> </a:t>
            </a:r>
            <a:r>
              <a:rPr lang="en-US" sz="1400" dirty="0" err="1">
                <a:latin typeface="Aptos" panose="020B0004020202020204" pitchFamily="34" charset="0"/>
              </a:rPr>
              <a:t>ghi</a:t>
            </a:r>
            <a:r>
              <a:rPr lang="en-US" sz="1400" dirty="0">
                <a:latin typeface="Aptos" panose="020B0004020202020204" pitchFamily="34" charset="0"/>
              </a:rPr>
              <a:t> </a:t>
            </a:r>
            <a:r>
              <a:rPr lang="en-US" sz="1400" b="0" i="1" dirty="0">
                <a:solidFill>
                  <a:srgbClr val="000000"/>
                </a:solidFill>
                <a:effectLst/>
                <a:latin typeface="Aptos" panose="020B0004020202020204" pitchFamily="34" charset="0"/>
              </a:rPr>
              <a:t>RegDioMapping1 </a:t>
            </a:r>
            <a:r>
              <a:rPr lang="en-US" sz="1400" b="0" i="0" dirty="0">
                <a:solidFill>
                  <a:srgbClr val="000000"/>
                </a:solidFill>
                <a:effectLst/>
                <a:latin typeface="Aptos" panose="020B0004020202020204" pitchFamily="34" charset="0"/>
              </a:rPr>
              <a:t>and </a:t>
            </a:r>
            <a:r>
              <a:rPr lang="en-US" sz="1400" b="0" i="1" dirty="0">
                <a:solidFill>
                  <a:srgbClr val="000000"/>
                </a:solidFill>
                <a:effectLst/>
                <a:latin typeface="Aptos" panose="020B0004020202020204" pitchFamily="34" charset="0"/>
              </a:rPr>
              <a:t>RegDioMapping2</a:t>
            </a:r>
            <a:r>
              <a:rPr lang="en-US" sz="1400" dirty="0">
                <a:latin typeface="Aptos" panose="020B0004020202020204" pitchFamily="34" charset="0"/>
              </a:rPr>
              <a:t> </a:t>
            </a:r>
            <a:br>
              <a:rPr lang="en-US" dirty="0">
                <a:latin typeface="Aptos" panose="020B0004020202020204" pitchFamily="34" charset="0"/>
              </a:rPr>
            </a:br>
            <a:endParaRPr lang="en-US" dirty="0">
              <a:latin typeface="Aptos" panose="020B0004020202020204" pitchFamily="34" charset="0"/>
            </a:endParaRPr>
          </a:p>
          <a:p>
            <a:br>
              <a:rPr lang="en-US" dirty="0">
                <a:latin typeface="Aptos" panose="020B0004020202020204" pitchFamily="34" charset="0"/>
              </a:rPr>
            </a:br>
            <a:endParaRPr lang="en-US" dirty="0">
              <a:latin typeface="Aptos" panose="020B0004020202020204" pitchFamily="34" charset="0"/>
            </a:endParaRPr>
          </a:p>
          <a:p>
            <a:endParaRPr lang="en-US" dirty="0">
              <a:latin typeface="Aptos" panose="020B0004020202020204" pitchFamily="34" charset="0"/>
            </a:endParaRPr>
          </a:p>
          <a:p>
            <a:br>
              <a:rPr lang="en-US" dirty="0">
                <a:latin typeface="Aptos" panose="020B0004020202020204" pitchFamily="34" charset="0"/>
              </a:rPr>
            </a:br>
            <a:endParaRPr lang="en-US" dirty="0">
              <a:latin typeface="Aptos" panose="020B0004020202020204" pitchFamily="34" charset="0"/>
            </a:endParaRPr>
          </a:p>
        </p:txBody>
      </p:sp>
      <p:pic>
        <p:nvPicPr>
          <p:cNvPr id="5" name="Picture 4">
            <a:extLst>
              <a:ext uri="{FF2B5EF4-FFF2-40B4-BE49-F238E27FC236}">
                <a16:creationId xmlns:a16="http://schemas.microsoft.com/office/drawing/2014/main" id="{4F9EE712-8302-9C67-0B00-9E2D552F4185}"/>
              </a:ext>
            </a:extLst>
          </p:cNvPr>
          <p:cNvPicPr>
            <a:picLocks noChangeAspect="1"/>
          </p:cNvPicPr>
          <p:nvPr/>
        </p:nvPicPr>
        <p:blipFill>
          <a:blip r:embed="rId2"/>
          <a:stretch>
            <a:fillRect/>
          </a:stretch>
        </p:blipFill>
        <p:spPr>
          <a:xfrm>
            <a:off x="470043" y="3082546"/>
            <a:ext cx="7729077" cy="1721287"/>
          </a:xfrm>
          <a:prstGeom prst="rect">
            <a:avLst/>
          </a:prstGeom>
        </p:spPr>
      </p:pic>
      <p:sp>
        <p:nvSpPr>
          <p:cNvPr id="6" name="TextBox 5">
            <a:extLst>
              <a:ext uri="{FF2B5EF4-FFF2-40B4-BE49-F238E27FC236}">
                <a16:creationId xmlns:a16="http://schemas.microsoft.com/office/drawing/2014/main" id="{DD80180F-BFB0-114F-1EF4-480BD703875A}"/>
              </a:ext>
            </a:extLst>
          </p:cNvPr>
          <p:cNvSpPr txBox="1"/>
          <p:nvPr/>
        </p:nvSpPr>
        <p:spPr>
          <a:xfrm>
            <a:off x="591963" y="2527418"/>
            <a:ext cx="6060297" cy="1415772"/>
          </a:xfrm>
          <a:prstGeom prst="rect">
            <a:avLst/>
          </a:prstGeom>
          <a:noFill/>
        </p:spPr>
        <p:txBody>
          <a:bodyPr wrap="square" rtlCol="0">
            <a:spAutoFit/>
          </a:bodyPr>
          <a:lstStyle/>
          <a:p>
            <a:r>
              <a:rPr lang="en-US" sz="1400" dirty="0" err="1">
                <a:latin typeface="Aptos" panose="020B0004020202020204" pitchFamily="34" charset="0"/>
              </a:rPr>
              <a:t>Thường</a:t>
            </a:r>
            <a:r>
              <a:rPr lang="en-US" sz="1400" dirty="0">
                <a:latin typeface="Aptos" panose="020B0004020202020204" pitchFamily="34" charset="0"/>
              </a:rPr>
              <a:t> </a:t>
            </a:r>
            <a:r>
              <a:rPr lang="en-US" sz="1400" dirty="0" err="1">
                <a:latin typeface="Aptos" panose="020B0004020202020204" pitchFamily="34" charset="0"/>
              </a:rPr>
              <a:t>sử</a:t>
            </a:r>
            <a:r>
              <a:rPr lang="en-US" sz="1400" dirty="0">
                <a:latin typeface="Aptos" panose="020B0004020202020204" pitchFamily="34" charset="0"/>
              </a:rPr>
              <a:t> </a:t>
            </a:r>
            <a:r>
              <a:rPr lang="en-US" sz="1400" dirty="0" err="1">
                <a:latin typeface="Aptos" panose="020B0004020202020204" pitchFamily="34" charset="0"/>
              </a:rPr>
              <a:t>dụng</a:t>
            </a:r>
            <a:r>
              <a:rPr lang="en-US" sz="1400" dirty="0">
                <a:latin typeface="Aptos" panose="020B0004020202020204" pitchFamily="34" charset="0"/>
              </a:rPr>
              <a:t> DIO0 </a:t>
            </a:r>
            <a:r>
              <a:rPr lang="en-US" sz="1400" dirty="0" err="1">
                <a:latin typeface="Aptos" panose="020B0004020202020204" pitchFamily="34" charset="0"/>
              </a:rPr>
              <a:t>để</a:t>
            </a:r>
            <a:r>
              <a:rPr lang="en-US" sz="1400" dirty="0">
                <a:latin typeface="Aptos" panose="020B0004020202020204" pitchFamily="34" charset="0"/>
              </a:rPr>
              <a:t> </a:t>
            </a:r>
            <a:r>
              <a:rPr lang="en-US" sz="1400" dirty="0" err="1">
                <a:latin typeface="Aptos" panose="020B0004020202020204" pitchFamily="34" charset="0"/>
              </a:rPr>
              <a:t>sinh</a:t>
            </a:r>
            <a:r>
              <a:rPr lang="en-US" sz="1400" dirty="0">
                <a:latin typeface="Aptos" panose="020B0004020202020204" pitchFamily="34" charset="0"/>
              </a:rPr>
              <a:t> </a:t>
            </a:r>
            <a:r>
              <a:rPr lang="en-US" sz="1400" dirty="0" err="1">
                <a:latin typeface="Aptos" panose="020B0004020202020204" pitchFamily="34" charset="0"/>
              </a:rPr>
              <a:t>ngắt</a:t>
            </a:r>
            <a:r>
              <a:rPr lang="en-US" sz="1400" dirty="0">
                <a:latin typeface="Aptos" panose="020B0004020202020204" pitchFamily="34" charset="0"/>
              </a:rPr>
              <a:t> (</a:t>
            </a:r>
            <a:r>
              <a:rPr lang="en-US" sz="1400" dirty="0" err="1">
                <a:latin typeface="Aptos" panose="020B0004020202020204" pitchFamily="34" charset="0"/>
              </a:rPr>
              <a:t>cạnh</a:t>
            </a:r>
            <a:r>
              <a:rPr lang="en-US" sz="1400" dirty="0">
                <a:latin typeface="Aptos" panose="020B0004020202020204" pitchFamily="34" charset="0"/>
              </a:rPr>
              <a:t> </a:t>
            </a:r>
            <a:r>
              <a:rPr lang="en-US" sz="1400" dirty="0" err="1">
                <a:latin typeface="Aptos" panose="020B0004020202020204" pitchFamily="34" charset="0"/>
              </a:rPr>
              <a:t>lên</a:t>
            </a:r>
            <a:r>
              <a:rPr lang="en-US" sz="1400" dirty="0">
                <a:latin typeface="Aptos" panose="020B0004020202020204" pitchFamily="34" charset="0"/>
              </a:rPr>
              <a:t>) </a:t>
            </a:r>
            <a:r>
              <a:rPr lang="en-US" sz="1400" dirty="0" err="1">
                <a:latin typeface="Aptos" panose="020B0004020202020204" pitchFamily="34" charset="0"/>
              </a:rPr>
              <a:t>báo</a:t>
            </a:r>
            <a:r>
              <a:rPr lang="en-US" sz="1400" dirty="0">
                <a:latin typeface="Aptos" panose="020B0004020202020204" pitchFamily="34" charset="0"/>
              </a:rPr>
              <a:t> </a:t>
            </a:r>
            <a:r>
              <a:rPr lang="en-US" sz="1400" dirty="0" err="1">
                <a:latin typeface="Aptos" panose="020B0004020202020204" pitchFamily="34" charset="0"/>
              </a:rPr>
              <a:t>RxDone</a:t>
            </a:r>
            <a:br>
              <a:rPr lang="en-US" dirty="0">
                <a:latin typeface="Aptos" panose="020B0004020202020204" pitchFamily="34" charset="0"/>
              </a:rPr>
            </a:br>
            <a:endParaRPr lang="en-US" dirty="0">
              <a:latin typeface="Aptos" panose="020B0004020202020204" pitchFamily="34" charset="0"/>
            </a:endParaRPr>
          </a:p>
          <a:p>
            <a:endParaRPr lang="en-US" dirty="0">
              <a:latin typeface="Aptos" panose="020B0004020202020204" pitchFamily="34" charset="0"/>
            </a:endParaRPr>
          </a:p>
          <a:p>
            <a:br>
              <a:rPr lang="en-US" dirty="0">
                <a:latin typeface="Aptos" panose="020B0004020202020204" pitchFamily="34" charset="0"/>
              </a:rPr>
            </a:br>
            <a:endParaRPr lang="en-US" dirty="0">
              <a:latin typeface="Aptos" panose="020B0004020202020204" pitchFamily="34" charset="0"/>
            </a:endParaRPr>
          </a:p>
        </p:txBody>
      </p:sp>
      <p:sp>
        <p:nvSpPr>
          <p:cNvPr id="7" name="TextBox 6">
            <a:extLst>
              <a:ext uri="{FF2B5EF4-FFF2-40B4-BE49-F238E27FC236}">
                <a16:creationId xmlns:a16="http://schemas.microsoft.com/office/drawing/2014/main" id="{862C9007-2EE2-B00D-48FD-111A5F33963B}"/>
              </a:ext>
            </a:extLst>
          </p:cNvPr>
          <p:cNvSpPr txBox="1"/>
          <p:nvPr/>
        </p:nvSpPr>
        <p:spPr>
          <a:xfrm>
            <a:off x="1069411" y="4723363"/>
            <a:ext cx="7005177" cy="3600986"/>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400" dirty="0">
                <a:latin typeface="Aptos" panose="020B0004020202020204" pitchFamily="34" charset="0"/>
              </a:rPr>
              <a:t>3.8. </a:t>
            </a:r>
            <a:r>
              <a:rPr lang="en-US" altLang="en-US" sz="1400" dirty="0" err="1">
                <a:latin typeface="Aptos" panose="020B0004020202020204" pitchFamily="34" charset="0"/>
              </a:rPr>
              <a:t>kiểm</a:t>
            </a:r>
            <a:r>
              <a:rPr lang="en-US" altLang="en-US" sz="1400" dirty="0">
                <a:latin typeface="Aptos" panose="020B0004020202020204" pitchFamily="34" charset="0"/>
              </a:rPr>
              <a:t> </a:t>
            </a:r>
            <a:r>
              <a:rPr lang="en-US" altLang="en-US" sz="1400" dirty="0" err="1">
                <a:latin typeface="Aptos" panose="020B0004020202020204" pitchFamily="34" charset="0"/>
              </a:rPr>
              <a:t>tra</a:t>
            </a:r>
            <a:r>
              <a:rPr lang="en-US" altLang="en-US" sz="1400" dirty="0">
                <a:latin typeface="Aptos" panose="020B0004020202020204" pitchFamily="34" charset="0"/>
              </a:rPr>
              <a:t> CRC</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400" dirty="0">
                <a:latin typeface="Aptos" panose="020B0004020202020204" pitchFamily="34" charset="0"/>
              </a:rPr>
              <a:t>- </a:t>
            </a:r>
            <a:r>
              <a:rPr lang="vi-VN" altLang="en-US" sz="1400" dirty="0">
                <a:latin typeface="Aptos" panose="020B0004020202020204" pitchFamily="34" charset="0"/>
              </a:rPr>
              <a:t>RxPayloadCrcOn trong thanh ghi RegModemConfig1. </a:t>
            </a:r>
            <a:endParaRPr lang="en-US" altLang="en-US" sz="1400" dirty="0">
              <a:latin typeface="Aptos" panose="020B00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400" dirty="0">
                <a:latin typeface="Aptos" panose="020B0004020202020204" pitchFamily="34" charset="0"/>
              </a:rPr>
              <a:t>- </a:t>
            </a:r>
            <a:r>
              <a:rPr lang="vi-VN" altLang="en-US" sz="1400" dirty="0">
                <a:latin typeface="Aptos" panose="020B0004020202020204" pitchFamily="34" charset="0"/>
              </a:rPr>
              <a:t>Ở phía máy thu, kiểm tra bit CrcOnPayload trong thanh ghi</a:t>
            </a:r>
            <a:r>
              <a:rPr lang="en-US" altLang="en-US" sz="1400" dirty="0">
                <a:latin typeface="Aptos" panose="020B0004020202020204" pitchFamily="34" charset="0"/>
              </a:rPr>
              <a:t> </a:t>
            </a:r>
            <a:r>
              <a:rPr lang="vi-VN" altLang="en-US" sz="1400" dirty="0">
                <a:latin typeface="Aptos" panose="020B0004020202020204" pitchFamily="34" charset="0"/>
              </a:rPr>
              <a:t>RegHopChannel. Nếu bit CrcOnPayload có giá trị là '1', kiểm tra cờ ngắt PayloadCrcError để đảm bảo CRC hợp lệ. Nếu bit CrcOnPayload có giá trị là '0', điều đó có nghĩa là không có CRC trên dữ liệu và do đó cờ ngắt PayloadCrcError sẽ không được kích hoạt ngay cả khi dữ liệu có lỗi.</a:t>
            </a:r>
          </a:p>
          <a:p>
            <a:pPr marL="0" marR="0" lvl="0" indent="0" algn="l" defTabSz="914400" rtl="0" eaLnBrk="0" fontAlgn="base" latinLnBrk="0" hangingPunct="0">
              <a:lnSpc>
                <a:spcPct val="100000"/>
              </a:lnSpc>
              <a:spcBef>
                <a:spcPct val="0"/>
              </a:spcBef>
              <a:spcAft>
                <a:spcPct val="0"/>
              </a:spcAft>
              <a:buClrTx/>
              <a:buSzTx/>
              <a:buFontTx/>
              <a:buNone/>
              <a:tabLst/>
            </a:pPr>
            <a:br>
              <a:rPr kumimoji="0" lang="vi-VN" altLang="en-US" sz="400" b="0" i="0" u="none" strike="noStrike" cap="none" normalizeH="0" baseline="0" dirty="0">
                <a:ln>
                  <a:noFill/>
                </a:ln>
                <a:solidFill>
                  <a:schemeClr val="tx1"/>
                </a:solidFill>
                <a:effectLst/>
                <a:latin typeface="Aptos" panose="020B0004020202020204" pitchFamily="34" charset="0"/>
              </a:rPr>
            </a:br>
            <a:endParaRPr kumimoji="0" lang="vi-VN" altLang="en-US" sz="1400" b="0" i="0" u="none" strike="noStrike" cap="none" normalizeH="0" baseline="0" dirty="0">
              <a:ln>
                <a:noFill/>
              </a:ln>
              <a:solidFill>
                <a:schemeClr val="tx1"/>
              </a:solidFill>
              <a:effectLst/>
              <a:latin typeface="Aptos" panose="020B0004020202020204" pitchFamily="34" charset="0"/>
            </a:endParaRPr>
          </a:p>
          <a:p>
            <a:br>
              <a:rPr lang="en-US" dirty="0">
                <a:latin typeface="Aptos" panose="020B0004020202020204" pitchFamily="34" charset="0"/>
              </a:rPr>
            </a:br>
            <a:endParaRPr lang="en-US" dirty="0">
              <a:latin typeface="Aptos" panose="020B0004020202020204" pitchFamily="34" charset="0"/>
            </a:endParaRPr>
          </a:p>
          <a:p>
            <a:br>
              <a:rPr lang="en-US" dirty="0">
                <a:latin typeface="Aptos" panose="020B0004020202020204" pitchFamily="34" charset="0"/>
              </a:rPr>
            </a:br>
            <a:endParaRPr lang="en-US" dirty="0">
              <a:latin typeface="Aptos" panose="020B0004020202020204" pitchFamily="34" charset="0"/>
            </a:endParaRPr>
          </a:p>
          <a:p>
            <a:endParaRPr lang="en-US" dirty="0">
              <a:latin typeface="Aptos" panose="020B0004020202020204" pitchFamily="34" charset="0"/>
            </a:endParaRPr>
          </a:p>
          <a:p>
            <a:br>
              <a:rPr lang="en-US" dirty="0">
                <a:latin typeface="Aptos" panose="020B0004020202020204" pitchFamily="34" charset="0"/>
              </a:rPr>
            </a:br>
            <a:endParaRPr lang="en-US" dirty="0">
              <a:latin typeface="Aptos" panose="020B0004020202020204" pitchFamily="34" charset="0"/>
            </a:endParaRPr>
          </a:p>
        </p:txBody>
      </p:sp>
      <p:sp>
        <p:nvSpPr>
          <p:cNvPr id="8" name="Rectangle 2">
            <a:extLst>
              <a:ext uri="{FF2B5EF4-FFF2-40B4-BE49-F238E27FC236}">
                <a16:creationId xmlns:a16="http://schemas.microsoft.com/office/drawing/2014/main" id="{65637371-5CF6-6A7C-714D-FBF9D4C09849}"/>
              </a:ext>
            </a:extLst>
          </p:cNvPr>
          <p:cNvSpPr>
            <a:spLocks noChangeArrowheads="1"/>
          </p:cNvSpPr>
          <p:nvPr/>
        </p:nvSpPr>
        <p:spPr bwMode="auto">
          <a:xfrm>
            <a:off x="0" y="90100"/>
            <a:ext cx="65" cy="27699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1494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a:t>III. Lập trình cấu hình các thông số của LoRa</a:t>
            </a:r>
            <a:endParaRPr lang="en-US"/>
          </a:p>
        </p:txBody>
      </p:sp>
      <p:sp>
        <p:nvSpPr>
          <p:cNvPr id="4" name="TextBox 3">
            <a:extLst>
              <a:ext uri="{FF2B5EF4-FFF2-40B4-BE49-F238E27FC236}">
                <a16:creationId xmlns:a16="http://schemas.microsoft.com/office/drawing/2014/main" id="{D10389A3-12AB-E942-A907-7F4061D6D7FC}"/>
              </a:ext>
            </a:extLst>
          </p:cNvPr>
          <p:cNvSpPr txBox="1"/>
          <p:nvPr/>
        </p:nvSpPr>
        <p:spPr>
          <a:xfrm>
            <a:off x="797701" y="920440"/>
            <a:ext cx="7807041" cy="5632311"/>
          </a:xfrm>
          <a:prstGeom prst="rect">
            <a:avLst/>
          </a:prstGeom>
          <a:noFill/>
        </p:spPr>
        <p:txBody>
          <a:bodyPr wrap="square" rtlCol="0">
            <a:spAutoFit/>
          </a:bodyPr>
          <a:lstStyle/>
          <a:p>
            <a:r>
              <a:rPr lang="en-US" dirty="0">
                <a:latin typeface="Aptos" panose="020B0004020202020204" pitchFamily="34" charset="0"/>
              </a:rPr>
              <a:t>3.9  </a:t>
            </a:r>
            <a:r>
              <a:rPr lang="en-US" dirty="0" err="1">
                <a:latin typeface="Aptos" panose="020B0004020202020204" pitchFamily="34" charset="0"/>
              </a:rPr>
              <a:t>Các</a:t>
            </a:r>
            <a:r>
              <a:rPr lang="en-US" dirty="0">
                <a:latin typeface="Aptos" panose="020B0004020202020204" pitchFamily="34" charset="0"/>
              </a:rPr>
              <a:t> </a:t>
            </a:r>
            <a:r>
              <a:rPr lang="en-US" dirty="0" err="1">
                <a:latin typeface="Aptos" panose="020B0004020202020204" pitchFamily="34" charset="0"/>
              </a:rPr>
              <a:t>chế</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a:t>
            </a:r>
            <a:r>
              <a:rPr lang="en-US" dirty="0" err="1">
                <a:latin typeface="Aptos" panose="020B0004020202020204" pitchFamily="34" charset="0"/>
              </a:rPr>
              <a:t>truy</a:t>
            </a:r>
            <a:r>
              <a:rPr lang="en-US" dirty="0">
                <a:latin typeface="Aptos" panose="020B0004020202020204" pitchFamily="34" charset="0"/>
              </a:rPr>
              <a:t> </a:t>
            </a:r>
            <a:r>
              <a:rPr lang="en-US" dirty="0" err="1">
                <a:latin typeface="Aptos" panose="020B0004020202020204" pitchFamily="34" charset="0"/>
              </a:rPr>
              <a:t>cập</a:t>
            </a:r>
            <a:r>
              <a:rPr lang="en-US" dirty="0">
                <a:latin typeface="Aptos" panose="020B0004020202020204" pitchFamily="34" charset="0"/>
              </a:rPr>
              <a:t> qua SPI</a:t>
            </a:r>
          </a:p>
          <a:p>
            <a:pPr marL="285750" indent="-285750">
              <a:buFont typeface="Wingdings" panose="05000000000000000000" pitchFamily="2" charset="2"/>
              <a:buChar char="q"/>
            </a:pPr>
            <a:endParaRPr lang="en-US" sz="1400" dirty="0">
              <a:latin typeface="Aptos" panose="020B0004020202020204" pitchFamily="34" charset="0"/>
            </a:endParaRPr>
          </a:p>
          <a:p>
            <a:pPr marL="285750" indent="-285750">
              <a:buFont typeface="Wingdings" panose="05000000000000000000" pitchFamily="2" charset="2"/>
              <a:buChar char="q"/>
            </a:pPr>
            <a:endParaRPr lang="en-US" sz="1400" dirty="0">
              <a:latin typeface="Aptos" panose="020B0004020202020204" pitchFamily="34" charset="0"/>
            </a:endParaRPr>
          </a:p>
          <a:p>
            <a:pPr marL="285750" indent="-285750">
              <a:buFont typeface="Wingdings" panose="05000000000000000000" pitchFamily="2" charset="2"/>
              <a:buChar char="q"/>
            </a:pPr>
            <a:endParaRPr lang="en-US" sz="1400" dirty="0">
              <a:latin typeface="Aptos" panose="020B0004020202020204" pitchFamily="34" charset="0"/>
            </a:endParaRPr>
          </a:p>
          <a:p>
            <a:pPr marL="285750" indent="-285750">
              <a:buFont typeface="Wingdings" panose="05000000000000000000" pitchFamily="2" charset="2"/>
              <a:buChar char="q"/>
            </a:pPr>
            <a:endParaRPr lang="en-US" sz="1400" dirty="0">
              <a:latin typeface="Aptos" panose="020B0004020202020204" pitchFamily="34" charset="0"/>
            </a:endParaRPr>
          </a:p>
          <a:p>
            <a:pPr marL="285750" indent="-285750">
              <a:buFont typeface="Wingdings" panose="05000000000000000000" pitchFamily="2" charset="2"/>
              <a:buChar char="q"/>
            </a:pPr>
            <a:endParaRPr lang="en-US" sz="1400" dirty="0">
              <a:latin typeface="Aptos" panose="020B0004020202020204" pitchFamily="34" charset="0"/>
            </a:endParaRPr>
          </a:p>
          <a:p>
            <a:pPr marL="285750" indent="-285750">
              <a:buFont typeface="Wingdings" panose="05000000000000000000" pitchFamily="2" charset="2"/>
              <a:buChar char="q"/>
            </a:pPr>
            <a:endParaRPr lang="en-US" sz="1400" dirty="0">
              <a:latin typeface="Aptos" panose="020B0004020202020204" pitchFamily="34" charset="0"/>
            </a:endParaRPr>
          </a:p>
          <a:p>
            <a:endParaRPr lang="en-US" sz="1400" dirty="0">
              <a:latin typeface="Aptos" panose="020B0004020202020204" pitchFamily="34" charset="0"/>
            </a:endParaRPr>
          </a:p>
          <a:p>
            <a:pPr marL="285750" indent="-285750">
              <a:buFont typeface="Wingdings" panose="05000000000000000000" pitchFamily="2" charset="2"/>
              <a:buChar char="q"/>
            </a:pPr>
            <a:endParaRPr lang="en-US" sz="1400" dirty="0">
              <a:latin typeface="Aptos" panose="020B0004020202020204" pitchFamily="34" charset="0"/>
            </a:endParaRPr>
          </a:p>
          <a:p>
            <a:pPr marL="285750" indent="-285750">
              <a:buFont typeface="Wingdings" panose="05000000000000000000" pitchFamily="2" charset="2"/>
              <a:buChar char="q"/>
            </a:pPr>
            <a:r>
              <a:rPr lang="en-US" dirty="0" err="1">
                <a:latin typeface="Aptos" panose="020B0004020202020204" pitchFamily="34" charset="0"/>
              </a:rPr>
              <a:t>việc</a:t>
            </a:r>
            <a:r>
              <a:rPr lang="en-US" dirty="0">
                <a:latin typeface="Aptos" panose="020B0004020202020204" pitchFamily="34" charset="0"/>
              </a:rPr>
              <a:t> </a:t>
            </a:r>
            <a:r>
              <a:rPr lang="en-US" dirty="0" err="1">
                <a:latin typeface="Aptos" panose="020B0004020202020204" pitchFamily="34" charset="0"/>
              </a:rPr>
              <a:t>điều</a:t>
            </a:r>
            <a:r>
              <a:rPr lang="en-US" dirty="0">
                <a:latin typeface="Aptos" panose="020B0004020202020204" pitchFamily="34" charset="0"/>
              </a:rPr>
              <a:t> </a:t>
            </a:r>
            <a:r>
              <a:rPr lang="en-US" dirty="0" err="1">
                <a:latin typeface="Aptos" panose="020B0004020202020204" pitchFamily="34" charset="0"/>
              </a:rPr>
              <a:t>khiển</a:t>
            </a:r>
            <a:r>
              <a:rPr lang="en-US" dirty="0">
                <a:latin typeface="Aptos" panose="020B0004020202020204" pitchFamily="34" charset="0"/>
              </a:rPr>
              <a:t> module LoRa </a:t>
            </a:r>
            <a:r>
              <a:rPr lang="en-US" dirty="0" err="1">
                <a:latin typeface="Aptos" panose="020B0004020202020204" pitchFamily="34" charset="0"/>
              </a:rPr>
              <a:t>thông</a:t>
            </a:r>
            <a:r>
              <a:rPr lang="en-US" dirty="0">
                <a:latin typeface="Aptos" panose="020B0004020202020204" pitchFamily="34" charset="0"/>
              </a:rPr>
              <a:t> qua </a:t>
            </a:r>
            <a:r>
              <a:rPr lang="en-US" dirty="0" err="1">
                <a:latin typeface="Aptos" panose="020B0004020202020204" pitchFamily="34" charset="0"/>
              </a:rPr>
              <a:t>việc</a:t>
            </a:r>
            <a:r>
              <a:rPr lang="en-US" dirty="0">
                <a:latin typeface="Aptos" panose="020B0004020202020204" pitchFamily="34" charset="0"/>
              </a:rPr>
              <a:t> </a:t>
            </a:r>
            <a:r>
              <a:rPr lang="en-US" dirty="0" err="1">
                <a:latin typeface="Aptos" panose="020B0004020202020204" pitchFamily="34" charset="0"/>
              </a:rPr>
              <a:t>cấu</a:t>
            </a:r>
            <a:r>
              <a:rPr lang="en-US" dirty="0">
                <a:latin typeface="Aptos" panose="020B0004020202020204" pitchFamily="34" charset="0"/>
              </a:rPr>
              <a:t> </a:t>
            </a:r>
            <a:r>
              <a:rPr lang="en-US" dirty="0" err="1">
                <a:latin typeface="Aptos" panose="020B0004020202020204" pitchFamily="34" charset="0"/>
              </a:rPr>
              <a:t>hình</a:t>
            </a:r>
            <a:r>
              <a:rPr lang="en-US" dirty="0">
                <a:latin typeface="Aptos" panose="020B0004020202020204" pitchFamily="34" charset="0"/>
              </a:rPr>
              <a:t> </a:t>
            </a:r>
            <a:r>
              <a:rPr lang="en-US" dirty="0" err="1">
                <a:latin typeface="Aptos" panose="020B0004020202020204" pitchFamily="34" charset="0"/>
              </a:rPr>
              <a:t>các</a:t>
            </a:r>
            <a:r>
              <a:rPr lang="en-US" dirty="0">
                <a:latin typeface="Aptos" panose="020B0004020202020204" pitchFamily="34" charset="0"/>
              </a:rPr>
              <a:t> </a:t>
            </a:r>
            <a:r>
              <a:rPr lang="en-US" dirty="0" err="1">
                <a:latin typeface="Aptos" panose="020B0004020202020204" pitchFamily="34" charset="0"/>
              </a:rPr>
              <a:t>thanh</a:t>
            </a:r>
            <a:r>
              <a:rPr lang="en-US" dirty="0">
                <a:latin typeface="Aptos" panose="020B0004020202020204" pitchFamily="34" charset="0"/>
              </a:rPr>
              <a:t> </a:t>
            </a:r>
            <a:r>
              <a:rPr lang="en-US" dirty="0" err="1">
                <a:latin typeface="Aptos" panose="020B0004020202020204" pitchFamily="34" charset="0"/>
              </a:rPr>
              <a:t>ghi</a:t>
            </a:r>
            <a:r>
              <a:rPr lang="en-US" dirty="0">
                <a:latin typeface="Aptos" panose="020B0004020202020204" pitchFamily="34" charset="0"/>
              </a:rPr>
              <a:t>, </a:t>
            </a:r>
            <a:r>
              <a:rPr lang="en-US" dirty="0" err="1">
                <a:latin typeface="Aptos" panose="020B0004020202020204" pitchFamily="34" charset="0"/>
              </a:rPr>
              <a:t>có</a:t>
            </a:r>
            <a:r>
              <a:rPr lang="en-US" dirty="0">
                <a:latin typeface="Aptos" panose="020B0004020202020204" pitchFamily="34" charset="0"/>
              </a:rPr>
              <a:t> 3 </a:t>
            </a:r>
            <a:r>
              <a:rPr lang="en-US" dirty="0" err="1">
                <a:latin typeface="Aptos" panose="020B0004020202020204" pitchFamily="34" charset="0"/>
              </a:rPr>
              <a:t>chế</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a:t>
            </a:r>
            <a:r>
              <a:rPr lang="en-US" dirty="0" err="1">
                <a:latin typeface="Aptos" panose="020B0004020202020204" pitchFamily="34" charset="0"/>
              </a:rPr>
              <a:t>truy</a:t>
            </a:r>
            <a:r>
              <a:rPr lang="en-US" dirty="0">
                <a:latin typeface="Aptos" panose="020B0004020202020204" pitchFamily="34" charset="0"/>
              </a:rPr>
              <a:t> </a:t>
            </a:r>
            <a:r>
              <a:rPr lang="en-US" dirty="0" err="1">
                <a:latin typeface="Aptos" panose="020B0004020202020204" pitchFamily="34" charset="0"/>
              </a:rPr>
              <a:t>cập</a:t>
            </a:r>
            <a:r>
              <a:rPr lang="en-US" dirty="0">
                <a:latin typeface="Aptos" panose="020B0004020202020204" pitchFamily="34" charset="0"/>
              </a:rPr>
              <a:t> </a:t>
            </a:r>
            <a:r>
              <a:rPr lang="en-US" dirty="0" err="1">
                <a:latin typeface="Aptos" panose="020B0004020202020204" pitchFamily="34" charset="0"/>
              </a:rPr>
              <a:t>là</a:t>
            </a:r>
            <a:r>
              <a:rPr lang="en-US" dirty="0">
                <a:latin typeface="Aptos" panose="020B0004020202020204" pitchFamily="34" charset="0"/>
              </a:rPr>
              <a:t> Single, Burst, FIFO</a:t>
            </a:r>
          </a:p>
          <a:p>
            <a:pPr marL="285750" indent="-285750">
              <a:buFont typeface="Wingdings" panose="05000000000000000000" pitchFamily="2" charset="2"/>
              <a:buChar char="q"/>
            </a:pPr>
            <a:r>
              <a:rPr lang="en-US" dirty="0" err="1">
                <a:latin typeface="Aptos" panose="020B0004020202020204" pitchFamily="34" charset="0"/>
              </a:rPr>
              <a:t>Quá</a:t>
            </a:r>
            <a:r>
              <a:rPr lang="en-US" dirty="0">
                <a:latin typeface="Aptos" panose="020B0004020202020204" pitchFamily="34" charset="0"/>
              </a:rPr>
              <a:t> </a:t>
            </a:r>
            <a:r>
              <a:rPr lang="en-US" dirty="0" err="1">
                <a:latin typeface="Aptos" panose="020B0004020202020204" pitchFamily="34" charset="0"/>
              </a:rPr>
              <a:t>trình</a:t>
            </a:r>
            <a:r>
              <a:rPr lang="en-US" dirty="0">
                <a:latin typeface="Aptos" panose="020B0004020202020204" pitchFamily="34" charset="0"/>
              </a:rPr>
              <a:t> </a:t>
            </a:r>
            <a:r>
              <a:rPr lang="en-US" dirty="0" err="1">
                <a:latin typeface="Aptos" panose="020B0004020202020204" pitchFamily="34" charset="0"/>
              </a:rPr>
              <a:t>giao</a:t>
            </a:r>
            <a:r>
              <a:rPr lang="en-US" dirty="0">
                <a:latin typeface="Aptos" panose="020B0004020202020204" pitchFamily="34" charset="0"/>
              </a:rPr>
              <a:t> </a:t>
            </a:r>
            <a:r>
              <a:rPr lang="en-US" dirty="0" err="1">
                <a:latin typeface="Aptos" panose="020B0004020202020204" pitchFamily="34" charset="0"/>
              </a:rPr>
              <a:t>tiếp</a:t>
            </a:r>
            <a:r>
              <a:rPr lang="en-US" dirty="0">
                <a:latin typeface="Aptos" panose="020B0004020202020204" pitchFamily="34" charset="0"/>
              </a:rPr>
              <a:t>:</a:t>
            </a:r>
          </a:p>
          <a:p>
            <a:pPr marL="800100" lvl="1" indent="-342900">
              <a:buFont typeface="+mj-lt"/>
              <a:buAutoNum type="arabicParenR"/>
            </a:pPr>
            <a:r>
              <a:rPr lang="en-US" dirty="0">
                <a:latin typeface="Aptos" panose="020B0004020202020204" pitchFamily="34" charset="0"/>
              </a:rPr>
              <a:t>NSS </a:t>
            </a:r>
            <a:r>
              <a:rPr lang="en-US" dirty="0" err="1">
                <a:latin typeface="Aptos" panose="020B0004020202020204" pitchFamily="34" charset="0"/>
              </a:rPr>
              <a:t>được</a:t>
            </a:r>
            <a:r>
              <a:rPr lang="en-US" dirty="0">
                <a:latin typeface="Aptos" panose="020B0004020202020204" pitchFamily="34" charset="0"/>
              </a:rPr>
              <a:t> </a:t>
            </a:r>
            <a:r>
              <a:rPr lang="en-US" dirty="0" err="1">
                <a:latin typeface="Aptos" panose="020B0004020202020204" pitchFamily="34" charset="0"/>
              </a:rPr>
              <a:t>kéo</a:t>
            </a:r>
            <a:r>
              <a:rPr lang="en-US" dirty="0">
                <a:latin typeface="Aptos" panose="020B0004020202020204" pitchFamily="34" charset="0"/>
              </a:rPr>
              <a:t> </a:t>
            </a:r>
            <a:r>
              <a:rPr lang="en-US" dirty="0" err="1">
                <a:latin typeface="Aptos" panose="020B0004020202020204" pitchFamily="34" charset="0"/>
              </a:rPr>
              <a:t>từ</a:t>
            </a:r>
            <a:r>
              <a:rPr lang="en-US" dirty="0">
                <a:latin typeface="Aptos" panose="020B0004020202020204" pitchFamily="34" charset="0"/>
              </a:rPr>
              <a:t> </a:t>
            </a:r>
            <a:r>
              <a:rPr lang="en-US" dirty="0" err="1">
                <a:latin typeface="Aptos" panose="020B0004020202020204" pitchFamily="34" charset="0"/>
              </a:rPr>
              <a:t>mức</a:t>
            </a:r>
            <a:r>
              <a:rPr lang="en-US" dirty="0">
                <a:latin typeface="Aptos" panose="020B0004020202020204" pitchFamily="34" charset="0"/>
              </a:rPr>
              <a:t> </a:t>
            </a:r>
            <a:r>
              <a:rPr lang="en-US" dirty="0" err="1">
                <a:latin typeface="Aptos" panose="020B0004020202020204" pitchFamily="34" charset="0"/>
              </a:rPr>
              <a:t>cao</a:t>
            </a:r>
            <a:r>
              <a:rPr lang="en-US" dirty="0">
                <a:latin typeface="Aptos" panose="020B0004020202020204" pitchFamily="34" charset="0"/>
              </a:rPr>
              <a:t> </a:t>
            </a:r>
            <a:r>
              <a:rPr lang="en-US" dirty="0" err="1">
                <a:latin typeface="Aptos" panose="020B0004020202020204" pitchFamily="34" charset="0"/>
              </a:rPr>
              <a:t>xuống</a:t>
            </a:r>
            <a:r>
              <a:rPr lang="en-US" dirty="0">
                <a:latin typeface="Aptos" panose="020B0004020202020204" pitchFamily="34" charset="0"/>
              </a:rPr>
              <a:t> low </a:t>
            </a:r>
            <a:r>
              <a:rPr lang="en-US" dirty="0" err="1">
                <a:latin typeface="Aptos" panose="020B0004020202020204" pitchFamily="34" charset="0"/>
              </a:rPr>
              <a:t>để</a:t>
            </a:r>
            <a:r>
              <a:rPr lang="en-US" dirty="0">
                <a:latin typeface="Aptos" panose="020B0004020202020204" pitchFamily="34" charset="0"/>
              </a:rPr>
              <a:t> </a:t>
            </a:r>
            <a:r>
              <a:rPr lang="en-US" dirty="0" err="1">
                <a:latin typeface="Aptos" panose="020B0004020202020204" pitchFamily="34" charset="0"/>
              </a:rPr>
              <a:t>bắt</a:t>
            </a:r>
            <a:r>
              <a:rPr lang="en-US" dirty="0">
                <a:latin typeface="Aptos" panose="020B0004020202020204" pitchFamily="34" charset="0"/>
              </a:rPr>
              <a:t> </a:t>
            </a:r>
            <a:r>
              <a:rPr lang="en-US" dirty="0" err="1">
                <a:latin typeface="Aptos" panose="020B0004020202020204" pitchFamily="34" charset="0"/>
              </a:rPr>
              <a:t>đầu</a:t>
            </a:r>
            <a:r>
              <a:rPr lang="en-US" dirty="0">
                <a:latin typeface="Aptos" panose="020B0004020202020204" pitchFamily="34" charset="0"/>
              </a:rPr>
              <a:t> </a:t>
            </a:r>
            <a:r>
              <a:rPr lang="en-US" dirty="0" err="1">
                <a:latin typeface="Aptos" panose="020B0004020202020204" pitchFamily="34" charset="0"/>
              </a:rPr>
              <a:t>truyền</a:t>
            </a:r>
            <a:r>
              <a:rPr lang="en-US" dirty="0">
                <a:latin typeface="Aptos" panose="020B0004020202020204" pitchFamily="34" charset="0"/>
              </a:rPr>
              <a:t>, </a:t>
            </a:r>
            <a:r>
              <a:rPr lang="en-US" dirty="0" err="1">
                <a:latin typeface="Aptos" panose="020B0004020202020204" pitchFamily="34" charset="0"/>
              </a:rPr>
              <a:t>giữ</a:t>
            </a:r>
            <a:r>
              <a:rPr lang="en-US" dirty="0">
                <a:latin typeface="Aptos" panose="020B0004020202020204" pitchFamily="34" charset="0"/>
              </a:rPr>
              <a:t> low </a:t>
            </a:r>
            <a:r>
              <a:rPr lang="en-US" dirty="0" err="1">
                <a:latin typeface="Aptos" panose="020B0004020202020204" pitchFamily="34" charset="0"/>
              </a:rPr>
              <a:t>đến</a:t>
            </a:r>
            <a:r>
              <a:rPr lang="en-US" dirty="0">
                <a:latin typeface="Aptos" panose="020B0004020202020204" pitchFamily="34" charset="0"/>
              </a:rPr>
              <a:t> </a:t>
            </a:r>
            <a:r>
              <a:rPr lang="en-US" dirty="0" err="1">
                <a:latin typeface="Aptos" panose="020B0004020202020204" pitchFamily="34" charset="0"/>
              </a:rPr>
              <a:t>hết</a:t>
            </a:r>
            <a:r>
              <a:rPr lang="en-US" dirty="0">
                <a:latin typeface="Aptos" panose="020B0004020202020204" pitchFamily="34" charset="0"/>
              </a:rPr>
              <a:t> byte </a:t>
            </a:r>
            <a:r>
              <a:rPr lang="en-US" dirty="0" err="1">
                <a:latin typeface="Aptos" panose="020B0004020202020204" pitchFamily="34" charset="0"/>
              </a:rPr>
              <a:t>cuối</a:t>
            </a:r>
            <a:r>
              <a:rPr lang="en-US" dirty="0">
                <a:latin typeface="Aptos" panose="020B0004020202020204" pitchFamily="34" charset="0"/>
              </a:rPr>
              <a:t> </a:t>
            </a:r>
            <a:r>
              <a:rPr lang="en-US" dirty="0" err="1">
                <a:latin typeface="Aptos" panose="020B0004020202020204" pitchFamily="34" charset="0"/>
              </a:rPr>
              <a:t>cùng</a:t>
            </a:r>
            <a:r>
              <a:rPr lang="en-US" dirty="0">
                <a:latin typeface="Aptos" panose="020B0004020202020204" pitchFamily="34" charset="0"/>
              </a:rPr>
              <a:t> </a:t>
            </a:r>
            <a:r>
              <a:rPr lang="en-US" dirty="0" err="1">
                <a:latin typeface="Aptos" panose="020B0004020202020204" pitchFamily="34" charset="0"/>
              </a:rPr>
              <a:t>được</a:t>
            </a:r>
            <a:r>
              <a:rPr lang="en-US" dirty="0">
                <a:latin typeface="Aptos" panose="020B0004020202020204" pitchFamily="34" charset="0"/>
              </a:rPr>
              <a:t> </a:t>
            </a:r>
            <a:r>
              <a:rPr lang="en-US" dirty="0" err="1">
                <a:latin typeface="Aptos" panose="020B0004020202020204" pitchFamily="34" charset="0"/>
              </a:rPr>
              <a:t>truyền</a:t>
            </a:r>
            <a:r>
              <a:rPr lang="en-US" dirty="0">
                <a:latin typeface="Aptos" panose="020B0004020202020204" pitchFamily="34" charset="0"/>
              </a:rPr>
              <a:t> </a:t>
            </a:r>
            <a:r>
              <a:rPr lang="en-US" dirty="0" err="1">
                <a:latin typeface="Aptos" panose="020B0004020202020204" pitchFamily="34" charset="0"/>
              </a:rPr>
              <a:t>đi</a:t>
            </a:r>
            <a:endParaRPr lang="en-US" dirty="0">
              <a:latin typeface="Aptos" panose="020B0004020202020204" pitchFamily="34" charset="0"/>
            </a:endParaRPr>
          </a:p>
          <a:p>
            <a:pPr marL="800100" lvl="1" indent="-342900">
              <a:buFont typeface="+mj-lt"/>
              <a:buAutoNum type="arabicParenR"/>
            </a:pPr>
            <a:r>
              <a:rPr lang="en-US" dirty="0">
                <a:latin typeface="Aptos" panose="020B0004020202020204" pitchFamily="34" charset="0"/>
              </a:rPr>
              <a:t>Byte </a:t>
            </a:r>
            <a:r>
              <a:rPr lang="en-US" dirty="0" err="1">
                <a:latin typeface="Aptos" panose="020B0004020202020204" pitchFamily="34" charset="0"/>
              </a:rPr>
              <a:t>đầu</a:t>
            </a:r>
            <a:r>
              <a:rPr lang="en-US" dirty="0">
                <a:latin typeface="Aptos" panose="020B0004020202020204" pitchFamily="34" charset="0"/>
              </a:rPr>
              <a:t> </a:t>
            </a:r>
            <a:r>
              <a:rPr lang="en-US" dirty="0" err="1">
                <a:latin typeface="Aptos" panose="020B0004020202020204" pitchFamily="34" charset="0"/>
              </a:rPr>
              <a:t>tiên</a:t>
            </a:r>
            <a:r>
              <a:rPr lang="en-US" dirty="0">
                <a:latin typeface="Aptos" panose="020B0004020202020204" pitchFamily="34" charset="0"/>
              </a:rPr>
              <a:t> </a:t>
            </a:r>
            <a:r>
              <a:rPr lang="en-US" dirty="0" err="1">
                <a:latin typeface="Aptos" panose="020B0004020202020204" pitchFamily="34" charset="0"/>
              </a:rPr>
              <a:t>là</a:t>
            </a:r>
            <a:r>
              <a:rPr lang="en-US" dirty="0">
                <a:latin typeface="Aptos" panose="020B0004020202020204" pitchFamily="34" charset="0"/>
              </a:rPr>
              <a:t> 1 bit w/r(1/0) </a:t>
            </a:r>
            <a:r>
              <a:rPr lang="en-US" dirty="0" err="1">
                <a:latin typeface="Aptos" panose="020B0004020202020204" pitchFamily="34" charset="0"/>
              </a:rPr>
              <a:t>và</a:t>
            </a:r>
            <a:r>
              <a:rPr lang="en-US" dirty="0">
                <a:latin typeface="Aptos" panose="020B0004020202020204" pitchFamily="34" charset="0"/>
              </a:rPr>
              <a:t> 7 bit </a:t>
            </a:r>
            <a:r>
              <a:rPr lang="en-US" dirty="0" err="1">
                <a:latin typeface="Aptos" panose="020B0004020202020204" pitchFamily="34" charset="0"/>
              </a:rPr>
              <a:t>địa</a:t>
            </a:r>
            <a:r>
              <a:rPr lang="en-US" dirty="0">
                <a:latin typeface="Aptos" panose="020B0004020202020204" pitchFamily="34" charset="0"/>
              </a:rPr>
              <a:t> </a:t>
            </a:r>
            <a:r>
              <a:rPr lang="en-US" dirty="0" err="1">
                <a:latin typeface="Aptos" panose="020B0004020202020204" pitchFamily="34" charset="0"/>
              </a:rPr>
              <a:t>chỉ</a:t>
            </a:r>
            <a:r>
              <a:rPr lang="en-US" dirty="0">
                <a:latin typeface="Aptos" panose="020B0004020202020204" pitchFamily="34" charset="0"/>
              </a:rPr>
              <a:t> </a:t>
            </a:r>
            <a:r>
              <a:rPr lang="en-US" dirty="0" err="1">
                <a:latin typeface="Aptos" panose="020B0004020202020204" pitchFamily="34" charset="0"/>
              </a:rPr>
              <a:t>thanh</a:t>
            </a:r>
            <a:r>
              <a:rPr lang="en-US" dirty="0">
                <a:latin typeface="Aptos" panose="020B0004020202020204" pitchFamily="34" charset="0"/>
              </a:rPr>
              <a:t> </a:t>
            </a:r>
            <a:r>
              <a:rPr lang="en-US" dirty="0" err="1">
                <a:latin typeface="Aptos" panose="020B0004020202020204" pitchFamily="34" charset="0"/>
              </a:rPr>
              <a:t>ghi</a:t>
            </a:r>
            <a:endParaRPr lang="en-US" dirty="0">
              <a:latin typeface="Aptos" panose="020B0004020202020204" pitchFamily="34" charset="0"/>
            </a:endParaRPr>
          </a:p>
          <a:p>
            <a:pPr marL="800100" lvl="1" indent="-342900">
              <a:buFont typeface="+mj-lt"/>
              <a:buAutoNum type="arabicParenR"/>
            </a:pPr>
            <a:r>
              <a:rPr lang="en-US" dirty="0" err="1">
                <a:latin typeface="Aptos" panose="020B0004020202020204" pitchFamily="34" charset="0"/>
              </a:rPr>
              <a:t>Các</a:t>
            </a:r>
            <a:r>
              <a:rPr lang="en-US" dirty="0">
                <a:latin typeface="Aptos" panose="020B0004020202020204" pitchFamily="34" charset="0"/>
              </a:rPr>
              <a:t> byte </a:t>
            </a:r>
            <a:r>
              <a:rPr lang="en-US" dirty="0" err="1">
                <a:latin typeface="Aptos" panose="020B0004020202020204" pitchFamily="34" charset="0"/>
              </a:rPr>
              <a:t>tiếp</a:t>
            </a:r>
            <a:r>
              <a:rPr lang="en-US" dirty="0">
                <a:latin typeface="Aptos" panose="020B0004020202020204" pitchFamily="34" charset="0"/>
              </a:rPr>
              <a:t> </a:t>
            </a:r>
            <a:r>
              <a:rPr lang="en-US" dirty="0" err="1">
                <a:latin typeface="Aptos" panose="020B0004020202020204" pitchFamily="34" charset="0"/>
              </a:rPr>
              <a:t>theo</a:t>
            </a:r>
            <a:r>
              <a:rPr lang="en-US" dirty="0">
                <a:latin typeface="Aptos" panose="020B0004020202020204" pitchFamily="34" charset="0"/>
              </a:rPr>
              <a:t> </a:t>
            </a:r>
            <a:r>
              <a:rPr lang="en-US" dirty="0" err="1">
                <a:latin typeface="Aptos" panose="020B0004020202020204" pitchFamily="34" charset="0"/>
              </a:rPr>
              <a:t>là</a:t>
            </a:r>
            <a:r>
              <a:rPr lang="en-US" dirty="0">
                <a:latin typeface="Aptos" panose="020B0004020202020204" pitchFamily="34" charset="0"/>
              </a:rPr>
              <a:t> byte </a:t>
            </a:r>
            <a:r>
              <a:rPr lang="en-US" dirty="0" err="1">
                <a:latin typeface="Aptos" panose="020B0004020202020204" pitchFamily="34" charset="0"/>
              </a:rPr>
              <a:t>dữ</a:t>
            </a:r>
            <a:r>
              <a:rPr lang="en-US" dirty="0">
                <a:latin typeface="Aptos" panose="020B0004020202020204" pitchFamily="34" charset="0"/>
              </a:rPr>
              <a:t> </a:t>
            </a:r>
            <a:r>
              <a:rPr lang="en-US" dirty="0" err="1">
                <a:latin typeface="Aptos" panose="020B0004020202020204" pitchFamily="34" charset="0"/>
              </a:rPr>
              <a:t>liệu</a:t>
            </a:r>
            <a:r>
              <a:rPr lang="en-US" dirty="0">
                <a:latin typeface="Aptos" panose="020B0004020202020204" pitchFamily="34" charset="0"/>
              </a:rPr>
              <a:t>, </a:t>
            </a:r>
            <a:r>
              <a:rPr lang="en-US" dirty="0" err="1">
                <a:latin typeface="Aptos" panose="020B0004020202020204" pitchFamily="34" charset="0"/>
              </a:rPr>
              <a:t>kể</a:t>
            </a:r>
            <a:r>
              <a:rPr lang="en-US" dirty="0">
                <a:latin typeface="Aptos" panose="020B0004020202020204" pitchFamily="34" charset="0"/>
              </a:rPr>
              <a:t> </a:t>
            </a:r>
            <a:r>
              <a:rPr lang="en-US" dirty="0" err="1">
                <a:latin typeface="Aptos" panose="020B0004020202020204" pitchFamily="34" charset="0"/>
              </a:rPr>
              <a:t>cả</a:t>
            </a:r>
            <a:r>
              <a:rPr lang="en-US" dirty="0">
                <a:latin typeface="Aptos" panose="020B0004020202020204" pitchFamily="34" charset="0"/>
              </a:rPr>
              <a:t> </a:t>
            </a:r>
            <a:r>
              <a:rPr lang="en-US" dirty="0" err="1">
                <a:latin typeface="Aptos" panose="020B0004020202020204" pitchFamily="34" charset="0"/>
              </a:rPr>
              <a:t>là</a:t>
            </a:r>
            <a:r>
              <a:rPr lang="en-US" dirty="0">
                <a:latin typeface="Aptos" panose="020B0004020202020204" pitchFamily="34" charset="0"/>
              </a:rPr>
              <a:t> </a:t>
            </a:r>
            <a:r>
              <a:rPr lang="en-US" dirty="0" err="1">
                <a:latin typeface="Aptos" panose="020B0004020202020204" pitchFamily="34" charset="0"/>
              </a:rPr>
              <a:t>dữ</a:t>
            </a:r>
            <a:r>
              <a:rPr lang="en-US" dirty="0">
                <a:latin typeface="Aptos" panose="020B0004020202020204" pitchFamily="34" charset="0"/>
              </a:rPr>
              <a:t> </a:t>
            </a:r>
            <a:r>
              <a:rPr lang="en-US" dirty="0" err="1">
                <a:latin typeface="Aptos" panose="020B0004020202020204" pitchFamily="34" charset="0"/>
              </a:rPr>
              <a:t>liệu</a:t>
            </a:r>
            <a:r>
              <a:rPr lang="en-US" dirty="0">
                <a:latin typeface="Aptos" panose="020B0004020202020204" pitchFamily="34" charset="0"/>
              </a:rPr>
              <a:t> MOSI (</a:t>
            </a:r>
            <a:r>
              <a:rPr lang="en-US" dirty="0" err="1">
                <a:latin typeface="Aptos" panose="020B0004020202020204" pitchFamily="34" charset="0"/>
              </a:rPr>
              <a:t>ghi</a:t>
            </a:r>
            <a:r>
              <a:rPr lang="en-US" dirty="0">
                <a:latin typeface="Aptos" panose="020B0004020202020204" pitchFamily="34" charset="0"/>
              </a:rPr>
              <a:t>) hay MISO (</a:t>
            </a:r>
            <a:r>
              <a:rPr lang="en-US" dirty="0" err="1">
                <a:latin typeface="Aptos" panose="020B0004020202020204" pitchFamily="34" charset="0"/>
              </a:rPr>
              <a:t>đọc</a:t>
            </a:r>
            <a:r>
              <a:rPr lang="en-US" dirty="0">
                <a:latin typeface="Aptos" panose="020B0004020202020204" pitchFamily="34" charset="0"/>
              </a:rPr>
              <a:t>)</a:t>
            </a:r>
          </a:p>
          <a:p>
            <a:pPr marL="800100" lvl="1" indent="-342900">
              <a:buFont typeface="+mj-lt"/>
              <a:buAutoNum type="arabicParenR"/>
            </a:pPr>
            <a:r>
              <a:rPr lang="en-US" dirty="0">
                <a:latin typeface="Aptos" panose="020B0004020202020204" pitchFamily="34" charset="0"/>
              </a:rPr>
              <a:t>NSS </a:t>
            </a:r>
            <a:r>
              <a:rPr lang="en-US" dirty="0" err="1">
                <a:latin typeface="Aptos" panose="020B0004020202020204" pitchFamily="34" charset="0"/>
              </a:rPr>
              <a:t>lên</a:t>
            </a:r>
            <a:r>
              <a:rPr lang="en-US" dirty="0">
                <a:latin typeface="Aptos" panose="020B0004020202020204" pitchFamily="34" charset="0"/>
              </a:rPr>
              <a:t> </a:t>
            </a:r>
            <a:r>
              <a:rPr lang="en-US" dirty="0" err="1">
                <a:latin typeface="Aptos" panose="020B0004020202020204" pitchFamily="34" charset="0"/>
              </a:rPr>
              <a:t>cao</a:t>
            </a:r>
            <a:r>
              <a:rPr lang="en-US" dirty="0">
                <a:latin typeface="Aptos" panose="020B0004020202020204" pitchFamily="34" charset="0"/>
              </a:rPr>
              <a:t> </a:t>
            </a:r>
            <a:r>
              <a:rPr lang="en-US" dirty="0" err="1">
                <a:latin typeface="Aptos" panose="020B0004020202020204" pitchFamily="34" charset="0"/>
              </a:rPr>
              <a:t>khi</a:t>
            </a:r>
            <a:r>
              <a:rPr lang="en-US" dirty="0">
                <a:latin typeface="Aptos" panose="020B0004020202020204" pitchFamily="34" charset="0"/>
              </a:rPr>
              <a:t> </a:t>
            </a:r>
            <a:r>
              <a:rPr lang="en-US" dirty="0" err="1">
                <a:latin typeface="Aptos" panose="020B0004020202020204" pitchFamily="34" charset="0"/>
              </a:rPr>
              <a:t>kết</a:t>
            </a:r>
            <a:r>
              <a:rPr lang="en-US" dirty="0">
                <a:latin typeface="Aptos" panose="020B0004020202020204" pitchFamily="34" charset="0"/>
              </a:rPr>
              <a:t> </a:t>
            </a:r>
            <a:r>
              <a:rPr lang="en-US" dirty="0" err="1">
                <a:latin typeface="Aptos" panose="020B0004020202020204" pitchFamily="34" charset="0"/>
              </a:rPr>
              <a:t>thúc</a:t>
            </a:r>
            <a:r>
              <a:rPr lang="en-US" dirty="0">
                <a:latin typeface="Aptos" panose="020B0004020202020204" pitchFamily="34" charset="0"/>
              </a:rPr>
              <a:t> </a:t>
            </a:r>
            <a:r>
              <a:rPr lang="en-US" dirty="0" err="1">
                <a:latin typeface="Aptos" panose="020B0004020202020204" pitchFamily="34" charset="0"/>
              </a:rPr>
              <a:t>quá</a:t>
            </a:r>
            <a:r>
              <a:rPr lang="en-US" dirty="0">
                <a:latin typeface="Aptos" panose="020B0004020202020204" pitchFamily="34" charset="0"/>
              </a:rPr>
              <a:t> </a:t>
            </a:r>
            <a:r>
              <a:rPr lang="en-US" dirty="0" err="1">
                <a:latin typeface="Aptos" panose="020B0004020202020204" pitchFamily="34" charset="0"/>
              </a:rPr>
              <a:t>trình</a:t>
            </a:r>
            <a:r>
              <a:rPr lang="en-US" dirty="0">
                <a:latin typeface="Aptos" panose="020B0004020202020204" pitchFamily="34" charset="0"/>
              </a:rPr>
              <a:t> </a:t>
            </a:r>
            <a:r>
              <a:rPr lang="en-US" dirty="0" err="1">
                <a:latin typeface="Aptos" panose="020B0004020202020204" pitchFamily="34" charset="0"/>
              </a:rPr>
              <a:t>đọc</a:t>
            </a:r>
            <a:r>
              <a:rPr lang="en-US" dirty="0">
                <a:latin typeface="Aptos" panose="020B0004020202020204" pitchFamily="34" charset="0"/>
              </a:rPr>
              <a:t>/</a:t>
            </a:r>
            <a:r>
              <a:rPr lang="en-US" dirty="0" err="1">
                <a:latin typeface="Aptos" panose="020B0004020202020204" pitchFamily="34" charset="0"/>
              </a:rPr>
              <a:t>ghi</a:t>
            </a:r>
            <a:endParaRPr lang="en-US" dirty="0">
              <a:latin typeface="Aptos" panose="020B0004020202020204" pitchFamily="34" charset="0"/>
            </a:endParaRPr>
          </a:p>
          <a:p>
            <a:pPr marL="285750" indent="-285750">
              <a:buFont typeface="Wingdings" panose="05000000000000000000" pitchFamily="2" charset="2"/>
              <a:buChar char="q"/>
            </a:pPr>
            <a:r>
              <a:rPr lang="en-US" dirty="0">
                <a:latin typeface="Aptos" panose="020B0004020202020204" pitchFamily="34" charset="0"/>
              </a:rPr>
              <a:t>Burst: </a:t>
            </a:r>
            <a:r>
              <a:rPr lang="en-US" dirty="0" err="1">
                <a:latin typeface="Aptos" panose="020B0004020202020204" pitchFamily="34" charset="0"/>
              </a:rPr>
              <a:t>ghi</a:t>
            </a:r>
            <a:r>
              <a:rPr lang="en-US" dirty="0">
                <a:latin typeface="Aptos" panose="020B0004020202020204" pitchFamily="34" charset="0"/>
              </a:rPr>
              <a:t>/ </a:t>
            </a:r>
            <a:r>
              <a:rPr lang="en-US" dirty="0" err="1">
                <a:latin typeface="Aptos" panose="020B0004020202020204" pitchFamily="34" charset="0"/>
              </a:rPr>
              <a:t>đọc</a:t>
            </a:r>
            <a:r>
              <a:rPr lang="en-US" dirty="0">
                <a:latin typeface="Aptos" panose="020B0004020202020204" pitchFamily="34" charset="0"/>
              </a:rPr>
              <a:t> 1 </a:t>
            </a:r>
            <a:r>
              <a:rPr lang="en-US" dirty="0" err="1">
                <a:latin typeface="Aptos" panose="020B0004020202020204" pitchFamily="34" charset="0"/>
              </a:rPr>
              <a:t>loạt</a:t>
            </a:r>
            <a:r>
              <a:rPr lang="en-US" dirty="0">
                <a:latin typeface="Aptos" panose="020B0004020202020204" pitchFamily="34" charset="0"/>
              </a:rPr>
              <a:t> </a:t>
            </a:r>
            <a:r>
              <a:rPr lang="en-US" dirty="0" err="1">
                <a:latin typeface="Aptos" panose="020B0004020202020204" pitchFamily="34" charset="0"/>
              </a:rPr>
              <a:t>thanh</a:t>
            </a:r>
            <a:r>
              <a:rPr lang="en-US" dirty="0">
                <a:latin typeface="Aptos" panose="020B0004020202020204" pitchFamily="34" charset="0"/>
              </a:rPr>
              <a:t> </a:t>
            </a:r>
            <a:r>
              <a:rPr lang="en-US" dirty="0" err="1">
                <a:latin typeface="Aptos" panose="020B0004020202020204" pitchFamily="34" charset="0"/>
              </a:rPr>
              <a:t>ghi</a:t>
            </a:r>
            <a:r>
              <a:rPr lang="en-US" dirty="0">
                <a:latin typeface="Aptos" panose="020B0004020202020204" pitchFamily="34" charset="0"/>
              </a:rPr>
              <a:t> </a:t>
            </a:r>
            <a:r>
              <a:rPr lang="en-US" dirty="0" err="1">
                <a:latin typeface="Aptos" panose="020B0004020202020204" pitchFamily="34" charset="0"/>
              </a:rPr>
              <a:t>với</a:t>
            </a:r>
            <a:r>
              <a:rPr lang="en-US" dirty="0">
                <a:latin typeface="Aptos" panose="020B0004020202020204" pitchFamily="34" charset="0"/>
              </a:rPr>
              <a:t> </a:t>
            </a:r>
            <a:r>
              <a:rPr lang="en-US" dirty="0" err="1">
                <a:latin typeface="Aptos" panose="020B0004020202020204" pitchFamily="34" charset="0"/>
              </a:rPr>
              <a:t>địa</a:t>
            </a:r>
            <a:r>
              <a:rPr lang="en-US" dirty="0">
                <a:latin typeface="Aptos" panose="020B0004020202020204" pitchFamily="34" charset="0"/>
              </a:rPr>
              <a:t> </a:t>
            </a:r>
            <a:r>
              <a:rPr lang="en-US" dirty="0" err="1">
                <a:latin typeface="Aptos" panose="020B0004020202020204" pitchFamily="34" charset="0"/>
              </a:rPr>
              <a:t>chỉ</a:t>
            </a:r>
            <a:r>
              <a:rPr lang="en-US" dirty="0">
                <a:latin typeface="Aptos" panose="020B0004020202020204" pitchFamily="34" charset="0"/>
              </a:rPr>
              <a:t> </a:t>
            </a:r>
            <a:r>
              <a:rPr lang="en-US" dirty="0" err="1">
                <a:latin typeface="Aptos" panose="020B0004020202020204" pitchFamily="34" charset="0"/>
              </a:rPr>
              <a:t>tự</a:t>
            </a:r>
            <a:r>
              <a:rPr lang="en-US" dirty="0">
                <a:latin typeface="Aptos" panose="020B0004020202020204" pitchFamily="34" charset="0"/>
              </a:rPr>
              <a:t> </a:t>
            </a:r>
            <a:r>
              <a:rPr lang="en-US" dirty="0" err="1">
                <a:latin typeface="Aptos" panose="020B0004020202020204" pitchFamily="34" charset="0"/>
              </a:rPr>
              <a:t>động</a:t>
            </a:r>
            <a:r>
              <a:rPr lang="en-US" dirty="0">
                <a:latin typeface="Aptos" panose="020B0004020202020204" pitchFamily="34" charset="0"/>
              </a:rPr>
              <a:t> </a:t>
            </a:r>
            <a:r>
              <a:rPr lang="en-US" dirty="0" err="1">
                <a:latin typeface="Aptos" panose="020B0004020202020204" pitchFamily="34" charset="0"/>
              </a:rPr>
              <a:t>tăng</a:t>
            </a:r>
            <a:r>
              <a:rPr lang="en-US" dirty="0">
                <a:latin typeface="Aptos" panose="020B0004020202020204" pitchFamily="34" charset="0"/>
              </a:rPr>
              <a:t>, </a:t>
            </a:r>
            <a:r>
              <a:rPr lang="en-US" dirty="0" err="1">
                <a:latin typeface="Aptos" panose="020B0004020202020204" pitchFamily="34" charset="0"/>
              </a:rPr>
              <a:t>địa</a:t>
            </a:r>
            <a:r>
              <a:rPr lang="en-US" dirty="0">
                <a:latin typeface="Aptos" panose="020B0004020202020204" pitchFamily="34" charset="0"/>
              </a:rPr>
              <a:t> </a:t>
            </a:r>
            <a:r>
              <a:rPr lang="en-US" dirty="0" err="1">
                <a:latin typeface="Aptos" panose="020B0004020202020204" pitchFamily="34" charset="0"/>
              </a:rPr>
              <a:t>chỉ</a:t>
            </a:r>
            <a:r>
              <a:rPr lang="en-US" dirty="0">
                <a:latin typeface="Aptos" panose="020B0004020202020204" pitchFamily="34" charset="0"/>
              </a:rPr>
              <a:t> </a:t>
            </a:r>
            <a:r>
              <a:rPr lang="en-US" dirty="0" err="1">
                <a:latin typeface="Aptos" panose="020B0004020202020204" pitchFamily="34" charset="0"/>
              </a:rPr>
              <a:t>thanh</a:t>
            </a:r>
            <a:r>
              <a:rPr lang="en-US" dirty="0">
                <a:latin typeface="Aptos" panose="020B0004020202020204" pitchFamily="34" charset="0"/>
              </a:rPr>
              <a:t> </a:t>
            </a:r>
            <a:r>
              <a:rPr lang="en-US" dirty="0" err="1">
                <a:latin typeface="Aptos" panose="020B0004020202020204" pitchFamily="34" charset="0"/>
              </a:rPr>
              <a:t>ghi</a:t>
            </a:r>
            <a:r>
              <a:rPr lang="en-US" dirty="0">
                <a:latin typeface="Aptos" panose="020B0004020202020204" pitchFamily="34" charset="0"/>
              </a:rPr>
              <a:t> </a:t>
            </a:r>
            <a:r>
              <a:rPr lang="en-US" dirty="0" err="1">
                <a:latin typeface="Aptos" panose="020B0004020202020204" pitchFamily="34" charset="0"/>
              </a:rPr>
              <a:t>khác</a:t>
            </a:r>
            <a:r>
              <a:rPr lang="en-US" dirty="0">
                <a:latin typeface="Aptos" panose="020B0004020202020204" pitchFamily="34" charset="0"/>
              </a:rPr>
              <a:t> </a:t>
            </a:r>
            <a:r>
              <a:rPr lang="en-US" dirty="0" err="1">
                <a:latin typeface="Aptos" panose="020B0004020202020204" pitchFamily="34" charset="0"/>
              </a:rPr>
              <a:t>RegFiFo</a:t>
            </a:r>
            <a:endParaRPr lang="en-US" dirty="0">
              <a:latin typeface="Aptos" panose="020B0004020202020204" pitchFamily="34" charset="0"/>
            </a:endParaRPr>
          </a:p>
          <a:p>
            <a:pPr marL="285750" indent="-285750">
              <a:buFont typeface="Wingdings" panose="05000000000000000000" pitchFamily="2" charset="2"/>
              <a:buChar char="q"/>
            </a:pPr>
            <a:r>
              <a:rPr lang="en-US" dirty="0" err="1">
                <a:latin typeface="Aptos" panose="020B0004020202020204" pitchFamily="34" charset="0"/>
              </a:rPr>
              <a:t>Chế</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FIFO </a:t>
            </a:r>
            <a:r>
              <a:rPr lang="en-US" dirty="0" err="1">
                <a:latin typeface="Aptos" panose="020B0004020202020204" pitchFamily="34" charset="0"/>
              </a:rPr>
              <a:t>truy</a:t>
            </a:r>
            <a:r>
              <a:rPr lang="en-US" dirty="0">
                <a:latin typeface="Aptos" panose="020B0004020202020204" pitchFamily="34" charset="0"/>
              </a:rPr>
              <a:t> </a:t>
            </a:r>
            <a:r>
              <a:rPr lang="en-US" dirty="0" err="1">
                <a:latin typeface="Aptos" panose="020B0004020202020204" pitchFamily="34" charset="0"/>
              </a:rPr>
              <a:t>cập</a:t>
            </a:r>
            <a:r>
              <a:rPr lang="en-US" dirty="0">
                <a:latin typeface="Aptos" panose="020B0004020202020204" pitchFamily="34" charset="0"/>
              </a:rPr>
              <a:t> </a:t>
            </a:r>
            <a:r>
              <a:rPr lang="en-US" dirty="0" err="1">
                <a:latin typeface="Aptos" panose="020B0004020202020204" pitchFamily="34" charset="0"/>
              </a:rPr>
              <a:t>tới</a:t>
            </a:r>
            <a:r>
              <a:rPr lang="en-US" dirty="0">
                <a:latin typeface="Aptos" panose="020B0004020202020204" pitchFamily="34" charset="0"/>
              </a:rPr>
              <a:t> </a:t>
            </a:r>
            <a:r>
              <a:rPr lang="en-US" dirty="0" err="1">
                <a:latin typeface="Aptos" panose="020B0004020202020204" pitchFamily="34" charset="0"/>
              </a:rPr>
              <a:t>vùng</a:t>
            </a:r>
            <a:r>
              <a:rPr lang="en-US" dirty="0">
                <a:latin typeface="Aptos" panose="020B0004020202020204" pitchFamily="34" charset="0"/>
              </a:rPr>
              <a:t> </a:t>
            </a:r>
            <a:r>
              <a:rPr lang="en-US" dirty="0" err="1">
                <a:latin typeface="Aptos" panose="020B0004020202020204" pitchFamily="34" charset="0"/>
              </a:rPr>
              <a:t>databuffer</a:t>
            </a:r>
            <a:r>
              <a:rPr lang="en-US" dirty="0">
                <a:latin typeface="Aptos" panose="020B0004020202020204" pitchFamily="34" charset="0"/>
              </a:rPr>
              <a:t> </a:t>
            </a:r>
            <a:r>
              <a:rPr lang="en-US" dirty="0" err="1">
                <a:latin typeface="Aptos" panose="020B0004020202020204" pitchFamily="34" charset="0"/>
              </a:rPr>
              <a:t>với</a:t>
            </a:r>
            <a:r>
              <a:rPr lang="en-US" dirty="0">
                <a:latin typeface="Aptos" panose="020B0004020202020204" pitchFamily="34" charset="0"/>
              </a:rPr>
              <a:t> </a:t>
            </a:r>
            <a:r>
              <a:rPr lang="en-US" dirty="0" err="1">
                <a:latin typeface="Aptos" panose="020B0004020202020204" pitchFamily="34" charset="0"/>
              </a:rPr>
              <a:t>địa</a:t>
            </a:r>
            <a:r>
              <a:rPr lang="en-US" dirty="0">
                <a:latin typeface="Aptos" panose="020B0004020202020204" pitchFamily="34" charset="0"/>
              </a:rPr>
              <a:t> </a:t>
            </a:r>
            <a:r>
              <a:rPr lang="en-US" dirty="0" err="1">
                <a:latin typeface="Aptos" panose="020B0004020202020204" pitchFamily="34" charset="0"/>
              </a:rPr>
              <a:t>chỉ</a:t>
            </a:r>
            <a:r>
              <a:rPr lang="en-US" dirty="0">
                <a:latin typeface="Aptos" panose="020B0004020202020204" pitchFamily="34" charset="0"/>
              </a:rPr>
              <a:t> </a:t>
            </a:r>
            <a:r>
              <a:rPr lang="en-US" dirty="0" err="1">
                <a:latin typeface="Aptos" panose="020B0004020202020204" pitchFamily="34" charset="0"/>
              </a:rPr>
              <a:t>thanh</a:t>
            </a:r>
            <a:r>
              <a:rPr lang="en-US" dirty="0">
                <a:latin typeface="Aptos" panose="020B0004020202020204" pitchFamily="34" charset="0"/>
              </a:rPr>
              <a:t> </a:t>
            </a:r>
            <a:r>
              <a:rPr lang="en-US" dirty="0" err="1">
                <a:latin typeface="Aptos" panose="020B0004020202020204" pitchFamily="34" charset="0"/>
              </a:rPr>
              <a:t>ghi</a:t>
            </a:r>
            <a:r>
              <a:rPr lang="en-US" dirty="0">
                <a:latin typeface="Aptos" panose="020B0004020202020204" pitchFamily="34" charset="0"/>
              </a:rPr>
              <a:t> </a:t>
            </a:r>
            <a:r>
              <a:rPr lang="en-US" dirty="0" err="1">
                <a:latin typeface="Aptos" panose="020B0004020202020204" pitchFamily="34" charset="0"/>
              </a:rPr>
              <a:t>là</a:t>
            </a:r>
            <a:r>
              <a:rPr lang="en-US" dirty="0">
                <a:latin typeface="Aptos" panose="020B0004020202020204" pitchFamily="34" charset="0"/>
              </a:rPr>
              <a:t> </a:t>
            </a:r>
            <a:r>
              <a:rPr lang="en-US" dirty="0" err="1">
                <a:latin typeface="Aptos" panose="020B0004020202020204" pitchFamily="34" charset="0"/>
              </a:rPr>
              <a:t>RegFiFo</a:t>
            </a:r>
            <a:endParaRPr lang="en-US" dirty="0">
              <a:latin typeface="Aptos" panose="020B0004020202020204" pitchFamily="34" charset="0"/>
            </a:endParaRPr>
          </a:p>
          <a:p>
            <a:pPr marL="285750" indent="-285750">
              <a:buFontTx/>
              <a:buChar char="-"/>
            </a:pPr>
            <a:endParaRPr lang="en-US" sz="1400" dirty="0">
              <a:latin typeface="Aptos" panose="020B0004020202020204" pitchFamily="34" charset="0"/>
            </a:endParaRPr>
          </a:p>
        </p:txBody>
      </p:sp>
      <p:pic>
        <p:nvPicPr>
          <p:cNvPr id="10" name="Picture 9">
            <a:extLst>
              <a:ext uri="{FF2B5EF4-FFF2-40B4-BE49-F238E27FC236}">
                <a16:creationId xmlns:a16="http://schemas.microsoft.com/office/drawing/2014/main" id="{0906A4C2-393D-49E1-E7E9-CFD7AC6BD5FC}"/>
              </a:ext>
            </a:extLst>
          </p:cNvPr>
          <p:cNvPicPr>
            <a:picLocks noChangeAspect="1"/>
          </p:cNvPicPr>
          <p:nvPr/>
        </p:nvPicPr>
        <p:blipFill>
          <a:blip r:embed="rId2"/>
          <a:stretch>
            <a:fillRect/>
          </a:stretch>
        </p:blipFill>
        <p:spPr>
          <a:xfrm>
            <a:off x="2087418" y="1349850"/>
            <a:ext cx="5285425" cy="1411292"/>
          </a:xfrm>
          <a:prstGeom prst="rect">
            <a:avLst/>
          </a:prstGeom>
        </p:spPr>
      </p:pic>
    </p:spTree>
    <p:extLst>
      <p:ext uri="{BB962C8B-B14F-4D97-AF65-F5344CB8AC3E}">
        <p14:creationId xmlns:p14="http://schemas.microsoft.com/office/powerpoint/2010/main" val="2354257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vi-VN"/>
              <a:t>III. Lập trình cấu hình các thông số của LoRa</a:t>
            </a:r>
            <a:endParaRPr lang="en-US"/>
          </a:p>
        </p:txBody>
      </p:sp>
      <p:sp>
        <p:nvSpPr>
          <p:cNvPr id="4" name="TextBox 3">
            <a:extLst>
              <a:ext uri="{FF2B5EF4-FFF2-40B4-BE49-F238E27FC236}">
                <a16:creationId xmlns:a16="http://schemas.microsoft.com/office/drawing/2014/main" id="{C23DBD83-0ED5-38E9-7D5C-A90AE5FB6084}"/>
              </a:ext>
            </a:extLst>
          </p:cNvPr>
          <p:cNvSpPr txBox="1"/>
          <p:nvPr/>
        </p:nvSpPr>
        <p:spPr>
          <a:xfrm>
            <a:off x="370983" y="1092746"/>
            <a:ext cx="5447952" cy="4308872"/>
          </a:xfrm>
          <a:prstGeom prst="rect">
            <a:avLst/>
          </a:prstGeom>
          <a:noFill/>
        </p:spPr>
        <p:txBody>
          <a:bodyPr wrap="square" rtlCol="0">
            <a:spAutoFit/>
          </a:bodyPr>
          <a:lstStyle/>
          <a:p>
            <a:r>
              <a:rPr lang="en-US" sz="1400" dirty="0">
                <a:latin typeface="Aptos" panose="020B0004020202020204" pitchFamily="34" charset="0"/>
              </a:rPr>
              <a:t>3.10</a:t>
            </a:r>
            <a:r>
              <a:rPr lang="vi-VN" sz="1400" dirty="0">
                <a:latin typeface="Aptos" panose="020B0004020202020204" pitchFamily="34" charset="0"/>
              </a:rPr>
              <a:t> Cấu hình SPI</a:t>
            </a:r>
            <a:endParaRPr lang="en-US" sz="1400" dirty="0">
              <a:latin typeface="Aptos" panose="020B0004020202020204" pitchFamily="34" charset="0"/>
            </a:endParaRPr>
          </a:p>
          <a:p>
            <a:r>
              <a:rPr lang="en-US" sz="1400" dirty="0" err="1">
                <a:latin typeface="Aptos" panose="020B0004020202020204" pitchFamily="34" charset="0"/>
              </a:rPr>
              <a:t>Lựa</a:t>
            </a:r>
            <a:r>
              <a:rPr lang="en-US" sz="1400" dirty="0">
                <a:latin typeface="Aptos" panose="020B0004020202020204" pitchFamily="34" charset="0"/>
              </a:rPr>
              <a:t> chon VĐK stm32f102c8t6</a:t>
            </a:r>
          </a:p>
          <a:p>
            <a:r>
              <a:rPr lang="en-US" sz="1400" dirty="0">
                <a:latin typeface="Aptos" panose="020B0004020202020204" pitchFamily="34" charset="0"/>
              </a:rPr>
              <a:t>VĐK </a:t>
            </a:r>
            <a:r>
              <a:rPr lang="en-US" sz="1400" dirty="0" err="1">
                <a:latin typeface="Aptos" panose="020B0004020202020204" pitchFamily="34" charset="0"/>
              </a:rPr>
              <a:t>có</a:t>
            </a:r>
            <a:r>
              <a:rPr lang="en-US" sz="1400" dirty="0">
                <a:latin typeface="Aptos" panose="020B0004020202020204" pitchFamily="34" charset="0"/>
              </a:rPr>
              <a:t> </a:t>
            </a:r>
            <a:r>
              <a:rPr lang="en-US" sz="1400" dirty="0" err="1">
                <a:latin typeface="Aptos" panose="020B0004020202020204" pitchFamily="34" charset="0"/>
              </a:rPr>
              <a:t>hỗ</a:t>
            </a:r>
            <a:r>
              <a:rPr lang="en-US" sz="1400" dirty="0">
                <a:latin typeface="Aptos" panose="020B0004020202020204" pitchFamily="34" charset="0"/>
              </a:rPr>
              <a:t> </a:t>
            </a:r>
            <a:r>
              <a:rPr lang="en-US" sz="1400" dirty="0" err="1">
                <a:latin typeface="Aptos" panose="020B0004020202020204" pitchFamily="34" charset="0"/>
              </a:rPr>
              <a:t>trợ</a:t>
            </a:r>
            <a:r>
              <a:rPr lang="en-US" sz="1400" dirty="0">
                <a:latin typeface="Aptos" panose="020B0004020202020204" pitchFamily="34" charset="0"/>
              </a:rPr>
              <a:t> 2 </a:t>
            </a:r>
            <a:r>
              <a:rPr lang="en-US" sz="1400" dirty="0" err="1">
                <a:latin typeface="Aptos" panose="020B0004020202020204" pitchFamily="34" charset="0"/>
              </a:rPr>
              <a:t>bộ</a:t>
            </a:r>
            <a:r>
              <a:rPr lang="en-US" sz="1400" dirty="0">
                <a:latin typeface="Aptos" panose="020B0004020202020204" pitchFamily="34" charset="0"/>
              </a:rPr>
              <a:t> SPI, I2C, ADC,…, </a:t>
            </a:r>
            <a:r>
              <a:rPr lang="en-US" sz="1400" dirty="0" err="1">
                <a:latin typeface="Aptos" panose="020B0004020202020204" pitchFamily="34" charset="0"/>
              </a:rPr>
              <a:t>xung</a:t>
            </a:r>
            <a:r>
              <a:rPr lang="en-US" sz="1400" dirty="0">
                <a:latin typeface="Aptos" panose="020B0004020202020204" pitchFamily="34" charset="0"/>
              </a:rPr>
              <a:t> </a:t>
            </a:r>
            <a:r>
              <a:rPr lang="en-US" sz="1400" dirty="0" err="1">
                <a:latin typeface="Aptos" panose="020B0004020202020204" pitchFamily="34" charset="0"/>
              </a:rPr>
              <a:t>nhịp</a:t>
            </a:r>
            <a:r>
              <a:rPr lang="en-US" sz="1400" dirty="0">
                <a:latin typeface="Aptos" panose="020B0004020202020204" pitchFamily="34" charset="0"/>
              </a:rPr>
              <a:t> </a:t>
            </a:r>
            <a:r>
              <a:rPr lang="en-US" sz="1400" dirty="0" err="1">
                <a:latin typeface="Aptos" panose="020B0004020202020204" pitchFamily="34" charset="0"/>
              </a:rPr>
              <a:t>lên</a:t>
            </a:r>
            <a:r>
              <a:rPr lang="en-US" sz="1400" dirty="0">
                <a:latin typeface="Aptos" panose="020B0004020202020204" pitchFamily="34" charset="0"/>
              </a:rPr>
              <a:t> </a:t>
            </a:r>
            <a:r>
              <a:rPr lang="en-US" sz="1400" dirty="0" err="1">
                <a:latin typeface="Aptos" panose="020B0004020202020204" pitchFamily="34" charset="0"/>
              </a:rPr>
              <a:t>tới</a:t>
            </a:r>
            <a:r>
              <a:rPr lang="en-US" sz="1400" dirty="0">
                <a:latin typeface="Aptos" panose="020B0004020202020204" pitchFamily="34" charset="0"/>
              </a:rPr>
              <a:t> 72MHz</a:t>
            </a:r>
          </a:p>
          <a:p>
            <a:endParaRPr lang="vi-VN" sz="1400" dirty="0">
              <a:latin typeface="Aptos" panose="020B0004020202020204" pitchFamily="34" charset="0"/>
            </a:endParaRPr>
          </a:p>
          <a:p>
            <a:r>
              <a:rPr lang="en-US" sz="1400" dirty="0">
                <a:latin typeface="Aptos" panose="020B0004020202020204" pitchFamily="34" charset="0"/>
              </a:rPr>
              <a:t>- </a:t>
            </a:r>
            <a:r>
              <a:rPr lang="vi-VN" sz="1400" dirty="0">
                <a:latin typeface="Aptos" panose="020B0004020202020204" pitchFamily="34" charset="0"/>
              </a:rPr>
              <a:t>Ra02 hỗ trợ giao thức SPI song công</a:t>
            </a:r>
            <a:r>
              <a:rPr lang="en-US" sz="1400" dirty="0">
                <a:latin typeface="Aptos" panose="020B0004020202020204" pitchFamily="34" charset="0"/>
              </a:rPr>
              <a:t>, </a:t>
            </a:r>
            <a:r>
              <a:rPr lang="en-US" sz="1400" dirty="0" err="1">
                <a:latin typeface="Aptos" panose="020B0004020202020204" pitchFamily="34" charset="0"/>
              </a:rPr>
              <a:t>với</a:t>
            </a:r>
            <a:r>
              <a:rPr lang="en-US" sz="1400" dirty="0">
                <a:latin typeface="Aptos" panose="020B0004020202020204" pitchFamily="34" charset="0"/>
              </a:rPr>
              <a:t> </a:t>
            </a:r>
            <a:r>
              <a:rPr lang="en-US" sz="1400" b="0" i="0" dirty="0">
                <a:solidFill>
                  <a:srgbClr val="000000"/>
                </a:solidFill>
                <a:effectLst/>
                <a:latin typeface="Aptos" panose="020B0004020202020204" pitchFamily="34" charset="0"/>
              </a:rPr>
              <a:t>CPOL = 0 and CPHA = 0, MSB first</a:t>
            </a:r>
            <a:br>
              <a:rPr lang="en-US" sz="1400" dirty="0">
                <a:latin typeface="Aptos" panose="020B0004020202020204" pitchFamily="34" charset="0"/>
              </a:rPr>
            </a:br>
            <a:r>
              <a:rPr lang="vi-VN" sz="1400" dirty="0">
                <a:latin typeface="Aptos" panose="020B0004020202020204" pitchFamily="34" charset="0"/>
              </a:rPr>
              <a:t>Cấu hình các thông số</a:t>
            </a:r>
            <a:r>
              <a:rPr lang="en-US" sz="1400" dirty="0">
                <a:latin typeface="Aptos" panose="020B0004020202020204" pitchFamily="34" charset="0"/>
              </a:rPr>
              <a:t> SPI </a:t>
            </a:r>
            <a:r>
              <a:rPr lang="en-US" sz="1400" dirty="0" err="1">
                <a:latin typeface="Aptos" panose="020B0004020202020204" pitchFamily="34" charset="0"/>
              </a:rPr>
              <a:t>cho</a:t>
            </a:r>
            <a:r>
              <a:rPr lang="en-US" sz="1400" dirty="0">
                <a:latin typeface="Aptos" panose="020B0004020202020204" pitchFamily="34" charset="0"/>
              </a:rPr>
              <a:t> VĐK</a:t>
            </a:r>
            <a:r>
              <a:rPr lang="vi-VN" sz="1400" dirty="0">
                <a:latin typeface="Aptos" panose="020B0004020202020204" pitchFamily="34" charset="0"/>
              </a:rPr>
              <a:t> như hình</a:t>
            </a:r>
            <a:endParaRPr lang="en-US" sz="1400" dirty="0">
              <a:latin typeface="Aptos" panose="020B0004020202020204" pitchFamily="34" charset="0"/>
            </a:endParaRPr>
          </a:p>
          <a:p>
            <a:endParaRPr lang="en-US" sz="1400" dirty="0">
              <a:latin typeface="Aptos" panose="020B0004020202020204" pitchFamily="34" charset="0"/>
            </a:endParaRPr>
          </a:p>
          <a:p>
            <a:r>
              <a:rPr lang="en-US" sz="1400" dirty="0" err="1">
                <a:latin typeface="Aptos" panose="020B0004020202020204" pitchFamily="34" charset="0"/>
              </a:rPr>
              <a:t>Các</a:t>
            </a:r>
            <a:r>
              <a:rPr lang="en-US" sz="1400" dirty="0">
                <a:latin typeface="Aptos" panose="020B0004020202020204" pitchFamily="34" charset="0"/>
              </a:rPr>
              <a:t> </a:t>
            </a:r>
            <a:r>
              <a:rPr lang="en-US" sz="1400" dirty="0" err="1">
                <a:latin typeface="Aptos" panose="020B0004020202020204" pitchFamily="34" charset="0"/>
              </a:rPr>
              <a:t>hàm</a:t>
            </a:r>
            <a:r>
              <a:rPr lang="en-US" sz="1400" dirty="0">
                <a:latin typeface="Aptos" panose="020B0004020202020204" pitchFamily="34" charset="0"/>
              </a:rPr>
              <a:t> </a:t>
            </a:r>
            <a:r>
              <a:rPr lang="en-US" sz="1400" dirty="0" err="1">
                <a:latin typeface="Aptos" panose="020B0004020202020204" pitchFamily="34" charset="0"/>
              </a:rPr>
              <a:t>chính</a:t>
            </a:r>
            <a:r>
              <a:rPr lang="en-US" sz="1400" dirty="0">
                <a:latin typeface="Aptos" panose="020B0004020202020204" pitchFamily="34" charset="0"/>
              </a:rPr>
              <a:t>:</a:t>
            </a:r>
          </a:p>
          <a:p>
            <a:r>
              <a:rPr lang="en-US" sz="1400" dirty="0">
                <a:latin typeface="Aptos" panose="020B0004020202020204" pitchFamily="34" charset="0"/>
              </a:rPr>
              <a:t> </a:t>
            </a:r>
          </a:p>
          <a:p>
            <a:r>
              <a:rPr lang="en-US" sz="1000" dirty="0" err="1">
                <a:solidFill>
                  <a:srgbClr val="005032"/>
                </a:solidFill>
                <a:effectLst/>
                <a:latin typeface="Aptos" panose="020B0004020202020204" pitchFamily="34" charset="0"/>
              </a:rPr>
              <a:t>HAL_StatusTypeDef</a:t>
            </a:r>
            <a:r>
              <a:rPr lang="en-US" sz="1000" dirty="0">
                <a:solidFill>
                  <a:srgbClr val="000000"/>
                </a:solidFill>
                <a:effectLst/>
                <a:latin typeface="Aptos" panose="020B0004020202020204" pitchFamily="34" charset="0"/>
              </a:rPr>
              <a:t> </a:t>
            </a:r>
            <a:r>
              <a:rPr lang="en-US" sz="1000" b="1" dirty="0" err="1">
                <a:solidFill>
                  <a:srgbClr val="000000"/>
                </a:solidFill>
                <a:effectLst/>
                <a:latin typeface="Aptos" panose="020B0004020202020204" pitchFamily="34" charset="0"/>
              </a:rPr>
              <a:t>HAL_SPI_Transmit</a:t>
            </a:r>
            <a:r>
              <a:rPr lang="en-US" sz="1000" dirty="0">
                <a:solidFill>
                  <a:srgbClr val="000000"/>
                </a:solidFill>
                <a:effectLst/>
                <a:latin typeface="Aptos" panose="020B0004020202020204" pitchFamily="34" charset="0"/>
              </a:rPr>
              <a:t>(</a:t>
            </a:r>
            <a:r>
              <a:rPr lang="en-US" sz="1000" dirty="0" err="1">
                <a:solidFill>
                  <a:srgbClr val="005032"/>
                </a:solidFill>
                <a:effectLst/>
                <a:latin typeface="Aptos" panose="020B0004020202020204" pitchFamily="34" charset="0"/>
              </a:rPr>
              <a:t>SPI_HandleTypeDef</a:t>
            </a:r>
            <a:r>
              <a:rPr lang="en-US" sz="1000" dirty="0">
                <a:solidFill>
                  <a:srgbClr val="000000"/>
                </a:solidFill>
                <a:effectLst/>
                <a:latin typeface="Aptos" panose="020B0004020202020204" pitchFamily="34" charset="0"/>
              </a:rPr>
              <a:t> *</a:t>
            </a:r>
            <a:r>
              <a:rPr lang="en-US" sz="1000" dirty="0" err="1">
                <a:solidFill>
                  <a:srgbClr val="000000"/>
                </a:solidFill>
                <a:effectLst/>
                <a:latin typeface="Aptos" panose="020B0004020202020204" pitchFamily="34" charset="0"/>
              </a:rPr>
              <a:t>hspi</a:t>
            </a:r>
            <a:r>
              <a:rPr lang="en-US" sz="1000" dirty="0">
                <a:solidFill>
                  <a:srgbClr val="000000"/>
                </a:solidFill>
                <a:effectLst/>
                <a:latin typeface="Aptos" panose="020B0004020202020204" pitchFamily="34" charset="0"/>
              </a:rPr>
              <a:t>, </a:t>
            </a:r>
            <a:r>
              <a:rPr lang="en-US" sz="1000" b="1" dirty="0">
                <a:solidFill>
                  <a:srgbClr val="7F0055"/>
                </a:solidFill>
                <a:effectLst/>
                <a:latin typeface="Aptos" panose="020B0004020202020204" pitchFamily="34" charset="0"/>
              </a:rPr>
              <a:t>const</a:t>
            </a:r>
            <a:r>
              <a:rPr lang="en-US" sz="1000" dirty="0">
                <a:solidFill>
                  <a:srgbClr val="000000"/>
                </a:solidFill>
                <a:effectLst/>
                <a:latin typeface="Aptos" panose="020B0004020202020204" pitchFamily="34" charset="0"/>
              </a:rPr>
              <a:t> </a:t>
            </a:r>
            <a:r>
              <a:rPr lang="en-US" sz="1000" dirty="0">
                <a:solidFill>
                  <a:srgbClr val="005032"/>
                </a:solidFill>
                <a:effectLst/>
                <a:latin typeface="Aptos" panose="020B0004020202020204" pitchFamily="34" charset="0"/>
              </a:rPr>
              <a:t>uint8_t</a:t>
            </a:r>
            <a:r>
              <a:rPr lang="en-US" sz="1000" dirty="0">
                <a:solidFill>
                  <a:srgbClr val="000000"/>
                </a:solidFill>
                <a:effectLst/>
                <a:latin typeface="Aptos" panose="020B0004020202020204" pitchFamily="34" charset="0"/>
              </a:rPr>
              <a:t> *</a:t>
            </a:r>
            <a:r>
              <a:rPr lang="en-US" sz="1000" dirty="0" err="1">
                <a:solidFill>
                  <a:srgbClr val="000000"/>
                </a:solidFill>
                <a:effectLst/>
                <a:latin typeface="Aptos" panose="020B0004020202020204" pitchFamily="34" charset="0"/>
              </a:rPr>
              <a:t>pData</a:t>
            </a:r>
            <a:r>
              <a:rPr lang="en-US" sz="1000" dirty="0">
                <a:solidFill>
                  <a:srgbClr val="000000"/>
                </a:solidFill>
                <a:effectLst/>
                <a:latin typeface="Aptos" panose="020B0004020202020204" pitchFamily="34" charset="0"/>
              </a:rPr>
              <a:t>, </a:t>
            </a:r>
            <a:r>
              <a:rPr lang="en-US" sz="1000" dirty="0">
                <a:solidFill>
                  <a:srgbClr val="005032"/>
                </a:solidFill>
                <a:effectLst/>
                <a:latin typeface="Aptos" panose="020B0004020202020204" pitchFamily="34" charset="0"/>
              </a:rPr>
              <a:t>uint16_t</a:t>
            </a:r>
            <a:r>
              <a:rPr lang="en-US" sz="1000" dirty="0">
                <a:solidFill>
                  <a:srgbClr val="000000"/>
                </a:solidFill>
                <a:effectLst/>
                <a:latin typeface="Aptos" panose="020B0004020202020204" pitchFamily="34" charset="0"/>
              </a:rPr>
              <a:t> Size, </a:t>
            </a:r>
            <a:r>
              <a:rPr lang="en-US" sz="1000" dirty="0">
                <a:solidFill>
                  <a:srgbClr val="005032"/>
                </a:solidFill>
                <a:effectLst/>
                <a:latin typeface="Aptos" panose="020B0004020202020204" pitchFamily="34" charset="0"/>
              </a:rPr>
              <a:t>uint32_t</a:t>
            </a:r>
            <a:r>
              <a:rPr lang="en-US" sz="1000" dirty="0">
                <a:solidFill>
                  <a:srgbClr val="000000"/>
                </a:solidFill>
                <a:effectLst/>
                <a:latin typeface="Aptos" panose="020B0004020202020204" pitchFamily="34" charset="0"/>
              </a:rPr>
              <a:t> </a:t>
            </a:r>
            <a:r>
              <a:rPr lang="en-US" sz="1000" u="sng" dirty="0">
                <a:solidFill>
                  <a:srgbClr val="0066CC"/>
                </a:solidFill>
                <a:effectLst/>
                <a:latin typeface="Aptos" panose="020B0004020202020204" pitchFamily="34" charset="0"/>
              </a:rPr>
              <a:t>Timeout</a:t>
            </a:r>
            <a:r>
              <a:rPr lang="en-US" sz="1000" dirty="0">
                <a:solidFill>
                  <a:srgbClr val="000000"/>
                </a:solidFill>
                <a:effectLst/>
                <a:latin typeface="Aptos" panose="020B0004020202020204" pitchFamily="34" charset="0"/>
              </a:rPr>
              <a:t>)</a:t>
            </a:r>
          </a:p>
          <a:p>
            <a:endParaRPr lang="en-US" sz="1000" dirty="0">
              <a:solidFill>
                <a:srgbClr val="005032"/>
              </a:solidFill>
              <a:effectLst/>
              <a:latin typeface="Aptos" panose="020B0004020202020204" pitchFamily="34" charset="0"/>
            </a:endParaRPr>
          </a:p>
          <a:p>
            <a:r>
              <a:rPr lang="en-US" sz="1000" dirty="0" err="1">
                <a:solidFill>
                  <a:srgbClr val="005032"/>
                </a:solidFill>
                <a:effectLst/>
                <a:latin typeface="Aptos" panose="020B0004020202020204" pitchFamily="34" charset="0"/>
              </a:rPr>
              <a:t>HAL_StatusTypeDef</a:t>
            </a:r>
            <a:r>
              <a:rPr lang="en-US" sz="1000" dirty="0">
                <a:solidFill>
                  <a:srgbClr val="000000"/>
                </a:solidFill>
                <a:effectLst/>
                <a:latin typeface="Aptos" panose="020B0004020202020204" pitchFamily="34" charset="0"/>
              </a:rPr>
              <a:t> </a:t>
            </a:r>
            <a:r>
              <a:rPr lang="en-US" sz="1000" b="1" dirty="0">
                <a:solidFill>
                  <a:srgbClr val="000000"/>
                </a:solidFill>
                <a:effectLst/>
                <a:latin typeface="Aptos" panose="020B0004020202020204" pitchFamily="34" charset="0"/>
              </a:rPr>
              <a:t>HAL_SPI_Receive</a:t>
            </a:r>
            <a:r>
              <a:rPr lang="en-US" sz="1000" dirty="0">
                <a:solidFill>
                  <a:srgbClr val="000000"/>
                </a:solidFill>
                <a:effectLst/>
                <a:latin typeface="Aptos" panose="020B0004020202020204" pitchFamily="34" charset="0"/>
              </a:rPr>
              <a:t>(</a:t>
            </a:r>
            <a:r>
              <a:rPr lang="en-US" sz="1000" dirty="0">
                <a:solidFill>
                  <a:srgbClr val="005032"/>
                </a:solidFill>
                <a:effectLst/>
                <a:latin typeface="Aptos" panose="020B0004020202020204" pitchFamily="34" charset="0"/>
              </a:rPr>
              <a:t>SPI_HandleTypeDef</a:t>
            </a:r>
            <a:r>
              <a:rPr lang="en-US" sz="1000" dirty="0">
                <a:solidFill>
                  <a:srgbClr val="000000"/>
                </a:solidFill>
                <a:effectLst/>
                <a:latin typeface="Aptos" panose="020B0004020202020204" pitchFamily="34" charset="0"/>
              </a:rPr>
              <a:t> *</a:t>
            </a:r>
            <a:r>
              <a:rPr lang="en-US" sz="1000" dirty="0" err="1">
                <a:solidFill>
                  <a:srgbClr val="000000"/>
                </a:solidFill>
                <a:effectLst/>
                <a:latin typeface="Aptos" panose="020B0004020202020204" pitchFamily="34" charset="0"/>
              </a:rPr>
              <a:t>hspi</a:t>
            </a:r>
            <a:r>
              <a:rPr lang="en-US" sz="1000" dirty="0">
                <a:solidFill>
                  <a:srgbClr val="000000"/>
                </a:solidFill>
                <a:effectLst/>
                <a:latin typeface="Aptos" panose="020B0004020202020204" pitchFamily="34" charset="0"/>
              </a:rPr>
              <a:t>, </a:t>
            </a:r>
            <a:r>
              <a:rPr lang="en-US" sz="1000" dirty="0">
                <a:solidFill>
                  <a:srgbClr val="005032"/>
                </a:solidFill>
                <a:effectLst/>
                <a:latin typeface="Aptos" panose="020B0004020202020204" pitchFamily="34" charset="0"/>
              </a:rPr>
              <a:t>uint8_t</a:t>
            </a:r>
            <a:r>
              <a:rPr lang="en-US" sz="1000" dirty="0">
                <a:solidFill>
                  <a:srgbClr val="000000"/>
                </a:solidFill>
                <a:effectLst/>
                <a:latin typeface="Aptos" panose="020B0004020202020204" pitchFamily="34" charset="0"/>
              </a:rPr>
              <a:t> *</a:t>
            </a:r>
            <a:r>
              <a:rPr lang="en-US" sz="1000" dirty="0" err="1">
                <a:solidFill>
                  <a:srgbClr val="000000"/>
                </a:solidFill>
                <a:effectLst/>
                <a:latin typeface="Aptos" panose="020B0004020202020204" pitchFamily="34" charset="0"/>
              </a:rPr>
              <a:t>pData</a:t>
            </a:r>
            <a:r>
              <a:rPr lang="en-US" sz="1000" dirty="0">
                <a:solidFill>
                  <a:srgbClr val="000000"/>
                </a:solidFill>
                <a:effectLst/>
                <a:latin typeface="Aptos" panose="020B0004020202020204" pitchFamily="34" charset="0"/>
              </a:rPr>
              <a:t>, </a:t>
            </a:r>
            <a:r>
              <a:rPr lang="en-US" sz="1000" dirty="0">
                <a:solidFill>
                  <a:srgbClr val="005032"/>
                </a:solidFill>
                <a:effectLst/>
                <a:latin typeface="Aptos" panose="020B0004020202020204" pitchFamily="34" charset="0"/>
              </a:rPr>
              <a:t>uint16_t</a:t>
            </a:r>
            <a:r>
              <a:rPr lang="en-US" sz="1000" dirty="0">
                <a:solidFill>
                  <a:srgbClr val="000000"/>
                </a:solidFill>
                <a:effectLst/>
                <a:latin typeface="Aptos" panose="020B0004020202020204" pitchFamily="34" charset="0"/>
              </a:rPr>
              <a:t> Size, </a:t>
            </a:r>
            <a:r>
              <a:rPr lang="en-US" sz="1000" dirty="0">
                <a:solidFill>
                  <a:srgbClr val="005032"/>
                </a:solidFill>
                <a:effectLst/>
                <a:latin typeface="Aptos" panose="020B0004020202020204" pitchFamily="34" charset="0"/>
              </a:rPr>
              <a:t>uint32_t</a:t>
            </a:r>
            <a:r>
              <a:rPr lang="en-US" sz="1000" dirty="0">
                <a:solidFill>
                  <a:srgbClr val="000000"/>
                </a:solidFill>
                <a:effectLst/>
                <a:latin typeface="Aptos" panose="020B0004020202020204" pitchFamily="34" charset="0"/>
              </a:rPr>
              <a:t> Timeout)</a:t>
            </a:r>
          </a:p>
          <a:p>
            <a:endParaRPr lang="en-US" sz="1200" dirty="0">
              <a:solidFill>
                <a:srgbClr val="000000"/>
              </a:solidFill>
              <a:latin typeface="Aptos" panose="020B0004020202020204" pitchFamily="34" charset="0"/>
            </a:endParaRPr>
          </a:p>
          <a:p>
            <a:endParaRPr lang="en-US" sz="1200" dirty="0">
              <a:solidFill>
                <a:srgbClr val="000000"/>
              </a:solidFill>
              <a:latin typeface="Aptos" panose="020B0004020202020204" pitchFamily="34" charset="0"/>
            </a:endParaRPr>
          </a:p>
          <a:p>
            <a:r>
              <a:rPr lang="en-US" sz="1200" dirty="0">
                <a:solidFill>
                  <a:srgbClr val="000000"/>
                </a:solidFill>
                <a:latin typeface="Aptos" panose="020B0004020202020204" pitchFamily="34" charset="0"/>
              </a:rPr>
              <a:t>*</a:t>
            </a:r>
            <a:r>
              <a:rPr lang="en-US" sz="1200" dirty="0" err="1">
                <a:solidFill>
                  <a:srgbClr val="000000"/>
                </a:solidFill>
                <a:latin typeface="Aptos" panose="020B0004020202020204" pitchFamily="34" charset="0"/>
              </a:rPr>
              <a:t>hspi</a:t>
            </a:r>
            <a:r>
              <a:rPr lang="en-US" sz="1200" dirty="0">
                <a:solidFill>
                  <a:srgbClr val="000000"/>
                </a:solidFill>
                <a:latin typeface="Aptos" panose="020B0004020202020204" pitchFamily="34" charset="0"/>
              </a:rPr>
              <a:t>: con </a:t>
            </a:r>
            <a:r>
              <a:rPr lang="en-US" sz="1200" dirty="0" err="1">
                <a:solidFill>
                  <a:srgbClr val="000000"/>
                </a:solidFill>
                <a:latin typeface="Aptos" panose="020B0004020202020204" pitchFamily="34" charset="0"/>
              </a:rPr>
              <a:t>trỏ</a:t>
            </a:r>
            <a:r>
              <a:rPr lang="en-US" sz="1200" dirty="0">
                <a:solidFill>
                  <a:srgbClr val="000000"/>
                </a:solidFill>
                <a:latin typeface="Aptos" panose="020B0004020202020204" pitchFamily="34" charset="0"/>
              </a:rPr>
              <a:t> </a:t>
            </a:r>
            <a:r>
              <a:rPr lang="en-US" sz="1200" dirty="0" err="1">
                <a:solidFill>
                  <a:srgbClr val="000000"/>
                </a:solidFill>
                <a:latin typeface="Aptos" panose="020B0004020202020204" pitchFamily="34" charset="0"/>
              </a:rPr>
              <a:t>trỏ</a:t>
            </a:r>
            <a:r>
              <a:rPr lang="en-US" sz="1200" dirty="0">
                <a:solidFill>
                  <a:srgbClr val="000000"/>
                </a:solidFill>
                <a:latin typeface="Aptos" panose="020B0004020202020204" pitchFamily="34" charset="0"/>
              </a:rPr>
              <a:t> </a:t>
            </a:r>
            <a:r>
              <a:rPr lang="en-US" sz="1200" dirty="0" err="1">
                <a:solidFill>
                  <a:srgbClr val="000000"/>
                </a:solidFill>
                <a:latin typeface="Aptos" panose="020B0004020202020204" pitchFamily="34" charset="0"/>
              </a:rPr>
              <a:t>tới</a:t>
            </a:r>
            <a:r>
              <a:rPr lang="en-US" sz="1200" dirty="0">
                <a:solidFill>
                  <a:srgbClr val="000000"/>
                </a:solidFill>
                <a:latin typeface="Aptos" panose="020B0004020202020204" pitchFamily="34" charset="0"/>
              </a:rPr>
              <a:t> struct </a:t>
            </a:r>
            <a:r>
              <a:rPr lang="en-US" sz="1200" dirty="0" err="1">
                <a:solidFill>
                  <a:srgbClr val="000000"/>
                </a:solidFill>
                <a:latin typeface="Aptos" panose="020B0004020202020204" pitchFamily="34" charset="0"/>
              </a:rPr>
              <a:t>cấu</a:t>
            </a:r>
            <a:r>
              <a:rPr lang="en-US" sz="1200" dirty="0">
                <a:solidFill>
                  <a:srgbClr val="000000"/>
                </a:solidFill>
                <a:latin typeface="Aptos" panose="020B0004020202020204" pitchFamily="34" charset="0"/>
              </a:rPr>
              <a:t> </a:t>
            </a:r>
            <a:r>
              <a:rPr lang="en-US" sz="1200" dirty="0" err="1">
                <a:solidFill>
                  <a:srgbClr val="000000"/>
                </a:solidFill>
                <a:latin typeface="Aptos" panose="020B0004020202020204" pitchFamily="34" charset="0"/>
              </a:rPr>
              <a:t>hình</a:t>
            </a:r>
            <a:r>
              <a:rPr lang="en-US" sz="1200" dirty="0">
                <a:solidFill>
                  <a:srgbClr val="000000"/>
                </a:solidFill>
                <a:latin typeface="Aptos" panose="020B0004020202020204" pitchFamily="34" charset="0"/>
              </a:rPr>
              <a:t> </a:t>
            </a:r>
            <a:r>
              <a:rPr lang="en-US" sz="1200" dirty="0" err="1">
                <a:solidFill>
                  <a:srgbClr val="000000"/>
                </a:solidFill>
                <a:latin typeface="Aptos" panose="020B0004020202020204" pitchFamily="34" charset="0"/>
              </a:rPr>
              <a:t>spi</a:t>
            </a:r>
            <a:endParaRPr lang="en-US" sz="1200" dirty="0">
              <a:solidFill>
                <a:srgbClr val="000000"/>
              </a:solidFill>
              <a:latin typeface="Aptos" panose="020B0004020202020204" pitchFamily="34" charset="0"/>
            </a:endParaRPr>
          </a:p>
          <a:p>
            <a:r>
              <a:rPr lang="en-US" sz="1200" dirty="0">
                <a:solidFill>
                  <a:srgbClr val="000000"/>
                </a:solidFill>
                <a:latin typeface="Aptos" panose="020B0004020202020204" pitchFamily="34" charset="0"/>
              </a:rPr>
              <a:t>*</a:t>
            </a:r>
            <a:r>
              <a:rPr lang="en-US" sz="1200" dirty="0" err="1">
                <a:solidFill>
                  <a:srgbClr val="000000"/>
                </a:solidFill>
                <a:latin typeface="Aptos" panose="020B0004020202020204" pitchFamily="34" charset="0"/>
              </a:rPr>
              <a:t>pData</a:t>
            </a:r>
            <a:r>
              <a:rPr lang="en-US" sz="1200" dirty="0">
                <a:solidFill>
                  <a:srgbClr val="000000"/>
                </a:solidFill>
                <a:latin typeface="Aptos" panose="020B0004020202020204" pitchFamily="34" charset="0"/>
              </a:rPr>
              <a:t>: con </a:t>
            </a:r>
            <a:r>
              <a:rPr lang="en-US" sz="1200" dirty="0" err="1">
                <a:solidFill>
                  <a:srgbClr val="000000"/>
                </a:solidFill>
                <a:latin typeface="Aptos" panose="020B0004020202020204" pitchFamily="34" charset="0"/>
              </a:rPr>
              <a:t>trỏ</a:t>
            </a:r>
            <a:r>
              <a:rPr lang="en-US" sz="1200" dirty="0">
                <a:solidFill>
                  <a:srgbClr val="000000"/>
                </a:solidFill>
                <a:latin typeface="Aptos" panose="020B0004020202020204" pitchFamily="34" charset="0"/>
              </a:rPr>
              <a:t> </a:t>
            </a:r>
            <a:r>
              <a:rPr lang="en-US" sz="1200" dirty="0" err="1">
                <a:solidFill>
                  <a:srgbClr val="000000"/>
                </a:solidFill>
                <a:latin typeface="Aptos" panose="020B0004020202020204" pitchFamily="34" charset="0"/>
              </a:rPr>
              <a:t>trỏ</a:t>
            </a:r>
            <a:r>
              <a:rPr lang="en-US" sz="1200" dirty="0">
                <a:solidFill>
                  <a:srgbClr val="000000"/>
                </a:solidFill>
                <a:latin typeface="Aptos" panose="020B0004020202020204" pitchFamily="34" charset="0"/>
              </a:rPr>
              <a:t> </a:t>
            </a:r>
            <a:r>
              <a:rPr lang="en-US" sz="1200" dirty="0" err="1">
                <a:solidFill>
                  <a:srgbClr val="000000"/>
                </a:solidFill>
                <a:latin typeface="Aptos" panose="020B0004020202020204" pitchFamily="34" charset="0"/>
              </a:rPr>
              <a:t>tới</a:t>
            </a:r>
            <a:r>
              <a:rPr lang="en-US" sz="1200" dirty="0">
                <a:solidFill>
                  <a:srgbClr val="000000"/>
                </a:solidFill>
                <a:latin typeface="Aptos" panose="020B0004020202020204" pitchFamily="34" charset="0"/>
              </a:rPr>
              <a:t> </a:t>
            </a:r>
            <a:r>
              <a:rPr lang="en-US" sz="1200" dirty="0" err="1">
                <a:solidFill>
                  <a:srgbClr val="000000"/>
                </a:solidFill>
                <a:latin typeface="Aptos" panose="020B0004020202020204" pitchFamily="34" charset="0"/>
              </a:rPr>
              <a:t>databuff</a:t>
            </a:r>
            <a:endParaRPr lang="en-US" sz="1200" dirty="0">
              <a:solidFill>
                <a:srgbClr val="000000"/>
              </a:solidFill>
              <a:latin typeface="Aptos" panose="020B0004020202020204" pitchFamily="34" charset="0"/>
            </a:endParaRPr>
          </a:p>
          <a:p>
            <a:r>
              <a:rPr lang="en-US" sz="1200" dirty="0">
                <a:solidFill>
                  <a:srgbClr val="000000"/>
                </a:solidFill>
                <a:latin typeface="Aptos" panose="020B0004020202020204" pitchFamily="34" charset="0"/>
              </a:rPr>
              <a:t>Size: </a:t>
            </a:r>
            <a:r>
              <a:rPr lang="en-US" sz="1200" dirty="0" err="1">
                <a:solidFill>
                  <a:srgbClr val="000000"/>
                </a:solidFill>
                <a:latin typeface="Aptos" panose="020B0004020202020204" pitchFamily="34" charset="0"/>
              </a:rPr>
              <a:t>số</a:t>
            </a:r>
            <a:r>
              <a:rPr lang="en-US" sz="1200" dirty="0">
                <a:solidFill>
                  <a:srgbClr val="000000"/>
                </a:solidFill>
                <a:latin typeface="Aptos" panose="020B0004020202020204" pitchFamily="34" charset="0"/>
              </a:rPr>
              <a:t> </a:t>
            </a:r>
            <a:r>
              <a:rPr lang="en-US" sz="1200" dirty="0" err="1">
                <a:solidFill>
                  <a:srgbClr val="000000"/>
                </a:solidFill>
                <a:latin typeface="Aptos" panose="020B0004020202020204" pitchFamily="34" charset="0"/>
              </a:rPr>
              <a:t>lượng</a:t>
            </a:r>
            <a:r>
              <a:rPr lang="en-US" sz="1200" dirty="0">
                <a:solidFill>
                  <a:srgbClr val="000000"/>
                </a:solidFill>
                <a:latin typeface="Aptos" panose="020B0004020202020204" pitchFamily="34" charset="0"/>
              </a:rPr>
              <a:t> byte </a:t>
            </a:r>
            <a:r>
              <a:rPr lang="en-US" sz="1200" dirty="0" err="1">
                <a:solidFill>
                  <a:srgbClr val="000000"/>
                </a:solidFill>
                <a:latin typeface="Aptos" panose="020B0004020202020204" pitchFamily="34" charset="0"/>
              </a:rPr>
              <a:t>ghi</a:t>
            </a:r>
            <a:r>
              <a:rPr lang="en-US" sz="1200" dirty="0">
                <a:solidFill>
                  <a:srgbClr val="000000"/>
                </a:solidFill>
                <a:latin typeface="Aptos" panose="020B0004020202020204" pitchFamily="34" charset="0"/>
              </a:rPr>
              <a:t>/</a:t>
            </a:r>
            <a:r>
              <a:rPr lang="en-US" sz="1200" dirty="0" err="1">
                <a:solidFill>
                  <a:srgbClr val="000000"/>
                </a:solidFill>
                <a:latin typeface="Aptos" panose="020B0004020202020204" pitchFamily="34" charset="0"/>
              </a:rPr>
              <a:t>đọc</a:t>
            </a:r>
            <a:endParaRPr lang="en-US" sz="1200" dirty="0">
              <a:solidFill>
                <a:srgbClr val="000000"/>
              </a:solidFill>
              <a:latin typeface="Aptos" panose="020B0004020202020204" pitchFamily="34" charset="0"/>
            </a:endParaRPr>
          </a:p>
          <a:p>
            <a:r>
              <a:rPr lang="en-US" sz="1200" dirty="0">
                <a:solidFill>
                  <a:srgbClr val="000000"/>
                </a:solidFill>
                <a:latin typeface="Aptos" panose="020B0004020202020204" pitchFamily="34" charset="0"/>
              </a:rPr>
              <a:t>Timeout</a:t>
            </a:r>
            <a:endParaRPr lang="en-US" sz="1400" dirty="0">
              <a:solidFill>
                <a:srgbClr val="000000"/>
              </a:solidFill>
              <a:latin typeface="Aptos" panose="020B0004020202020204" pitchFamily="34" charset="0"/>
            </a:endParaRPr>
          </a:p>
          <a:p>
            <a:endParaRPr lang="en-US" sz="1200" dirty="0">
              <a:solidFill>
                <a:srgbClr val="000000"/>
              </a:solidFill>
              <a:effectLst/>
              <a:latin typeface="Aptos" panose="020B0004020202020204" pitchFamily="34" charset="0"/>
            </a:endParaRPr>
          </a:p>
        </p:txBody>
      </p:sp>
      <p:pic>
        <p:nvPicPr>
          <p:cNvPr id="6" name="Picture 5">
            <a:extLst>
              <a:ext uri="{FF2B5EF4-FFF2-40B4-BE49-F238E27FC236}">
                <a16:creationId xmlns:a16="http://schemas.microsoft.com/office/drawing/2014/main" id="{F0E050BC-8479-4244-561D-8BF01D0709D7}"/>
              </a:ext>
            </a:extLst>
          </p:cNvPr>
          <p:cNvPicPr>
            <a:picLocks noChangeAspect="1"/>
          </p:cNvPicPr>
          <p:nvPr/>
        </p:nvPicPr>
        <p:blipFill>
          <a:blip r:embed="rId2"/>
          <a:stretch>
            <a:fillRect/>
          </a:stretch>
        </p:blipFill>
        <p:spPr>
          <a:xfrm>
            <a:off x="5818935" y="861060"/>
            <a:ext cx="3105848" cy="4402196"/>
          </a:xfrm>
          <a:prstGeom prst="rect">
            <a:avLst/>
          </a:prstGeom>
        </p:spPr>
      </p:pic>
    </p:spTree>
    <p:extLst>
      <p:ext uri="{BB962C8B-B14F-4D97-AF65-F5344CB8AC3E}">
        <p14:creationId xmlns:p14="http://schemas.microsoft.com/office/powerpoint/2010/main" val="2751358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78613"/>
            <a:ext cx="8673846" cy="451739"/>
          </a:xfrm>
        </p:spPr>
        <p:txBody>
          <a:bodyPr/>
          <a:lstStyle/>
          <a:p>
            <a:r>
              <a:rPr lang="en-US" dirty="0"/>
              <a:t>IV. </a:t>
            </a:r>
            <a:r>
              <a:rPr lang="en-US" dirty="0" err="1"/>
              <a:t>Quá</a:t>
            </a:r>
            <a:r>
              <a:rPr lang="en-US" dirty="0"/>
              <a:t> </a:t>
            </a:r>
            <a:r>
              <a:rPr lang="en-US" dirty="0" err="1"/>
              <a:t>trình</a:t>
            </a:r>
            <a:r>
              <a:rPr lang="en-US" dirty="0"/>
              <a:t> </a:t>
            </a:r>
            <a:r>
              <a:rPr lang="en-US" dirty="0" err="1"/>
              <a:t>truyền</a:t>
            </a:r>
            <a:r>
              <a:rPr lang="en-US" dirty="0"/>
              <a:t> </a:t>
            </a:r>
            <a:r>
              <a:rPr lang="en-US" dirty="0" err="1"/>
              <a:t>và</a:t>
            </a:r>
            <a:r>
              <a:rPr lang="en-US" dirty="0"/>
              <a:t> </a:t>
            </a:r>
            <a:r>
              <a:rPr lang="en-US" dirty="0" err="1"/>
              <a:t>nhận</a:t>
            </a:r>
            <a:r>
              <a:rPr lang="en-US" dirty="0"/>
              <a:t> </a:t>
            </a:r>
            <a:r>
              <a:rPr lang="en-US" dirty="0" err="1"/>
              <a:t>bản</a:t>
            </a:r>
            <a:r>
              <a:rPr lang="en-US" dirty="0"/>
              <a:t> tin</a:t>
            </a:r>
          </a:p>
        </p:txBody>
      </p:sp>
      <p:pic>
        <p:nvPicPr>
          <p:cNvPr id="5" name="Picture 4">
            <a:extLst>
              <a:ext uri="{FF2B5EF4-FFF2-40B4-BE49-F238E27FC236}">
                <a16:creationId xmlns:a16="http://schemas.microsoft.com/office/drawing/2014/main" id="{B0C9BFC3-0C9B-B4E0-D643-5F16D14D44C7}"/>
              </a:ext>
            </a:extLst>
          </p:cNvPr>
          <p:cNvPicPr>
            <a:picLocks noChangeAspect="1"/>
          </p:cNvPicPr>
          <p:nvPr/>
        </p:nvPicPr>
        <p:blipFill>
          <a:blip r:embed="rId2"/>
          <a:stretch>
            <a:fillRect/>
          </a:stretch>
        </p:blipFill>
        <p:spPr>
          <a:xfrm>
            <a:off x="568717" y="1175672"/>
            <a:ext cx="3736096" cy="4293296"/>
          </a:xfrm>
          <a:prstGeom prst="rect">
            <a:avLst/>
          </a:prstGeom>
        </p:spPr>
      </p:pic>
      <p:pic>
        <p:nvPicPr>
          <p:cNvPr id="8" name="Picture 7">
            <a:extLst>
              <a:ext uri="{FF2B5EF4-FFF2-40B4-BE49-F238E27FC236}">
                <a16:creationId xmlns:a16="http://schemas.microsoft.com/office/drawing/2014/main" id="{29C3777B-3E69-7755-9463-93B078B456E9}"/>
              </a:ext>
            </a:extLst>
          </p:cNvPr>
          <p:cNvPicPr>
            <a:picLocks noChangeAspect="1"/>
          </p:cNvPicPr>
          <p:nvPr/>
        </p:nvPicPr>
        <p:blipFill>
          <a:blip r:embed="rId3"/>
          <a:stretch>
            <a:fillRect/>
          </a:stretch>
        </p:blipFill>
        <p:spPr>
          <a:xfrm>
            <a:off x="4304813" y="1066800"/>
            <a:ext cx="3809083" cy="4724400"/>
          </a:xfrm>
          <a:prstGeom prst="rect">
            <a:avLst/>
          </a:prstGeom>
        </p:spPr>
      </p:pic>
      <p:pic>
        <p:nvPicPr>
          <p:cNvPr id="4" name="Picture 3">
            <a:extLst>
              <a:ext uri="{FF2B5EF4-FFF2-40B4-BE49-F238E27FC236}">
                <a16:creationId xmlns:a16="http://schemas.microsoft.com/office/drawing/2014/main" id="{D64FBB4F-2261-0A54-DB7F-180A1ABA28E4}"/>
              </a:ext>
            </a:extLst>
          </p:cNvPr>
          <p:cNvPicPr>
            <a:picLocks noChangeAspect="1"/>
          </p:cNvPicPr>
          <p:nvPr/>
        </p:nvPicPr>
        <p:blipFill>
          <a:blip r:embed="rId2"/>
          <a:stretch>
            <a:fillRect/>
          </a:stretch>
        </p:blipFill>
        <p:spPr>
          <a:xfrm>
            <a:off x="642608" y="1284544"/>
            <a:ext cx="3736096" cy="4506656"/>
          </a:xfrm>
          <a:prstGeom prst="rect">
            <a:avLst/>
          </a:prstGeom>
        </p:spPr>
      </p:pic>
    </p:spTree>
    <p:extLst>
      <p:ext uri="{BB962C8B-B14F-4D97-AF65-F5344CB8AC3E}">
        <p14:creationId xmlns:p14="http://schemas.microsoft.com/office/powerpoint/2010/main" val="3140516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4" name="TextBox 3">
            <a:extLst>
              <a:ext uri="{FF2B5EF4-FFF2-40B4-BE49-F238E27FC236}">
                <a16:creationId xmlns:a16="http://schemas.microsoft.com/office/drawing/2014/main" id="{741B1972-91D0-9B00-2491-ABD6A867B85F}"/>
              </a:ext>
            </a:extLst>
          </p:cNvPr>
          <p:cNvSpPr txBox="1"/>
          <p:nvPr/>
        </p:nvSpPr>
        <p:spPr>
          <a:xfrm>
            <a:off x="235077" y="799826"/>
            <a:ext cx="8303491" cy="369332"/>
          </a:xfrm>
          <a:prstGeom prst="rect">
            <a:avLst/>
          </a:prstGeom>
          <a:noFill/>
        </p:spPr>
        <p:txBody>
          <a:bodyPr wrap="square" rtlCol="0">
            <a:spAutoFit/>
          </a:bodyPr>
          <a:lstStyle/>
          <a:p>
            <a:r>
              <a:rPr lang="en-US" dirty="0"/>
              <a:t>5.1. </a:t>
            </a:r>
            <a:r>
              <a:rPr lang="en-US" dirty="0" err="1"/>
              <a:t>Các</a:t>
            </a:r>
            <a:r>
              <a:rPr lang="en-US" dirty="0"/>
              <a:t> </a:t>
            </a:r>
            <a:r>
              <a:rPr lang="en-US" dirty="0" err="1"/>
              <a:t>yêu</a:t>
            </a:r>
            <a:r>
              <a:rPr lang="en-US" dirty="0"/>
              <a:t> </a:t>
            </a:r>
            <a:r>
              <a:rPr lang="en-US" dirty="0" err="1"/>
              <a:t>cầu</a:t>
            </a:r>
            <a:r>
              <a:rPr lang="en-US" dirty="0"/>
              <a:t>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graphicFrame>
        <p:nvGraphicFramePr>
          <p:cNvPr id="6" name="Table 5">
            <a:extLst>
              <a:ext uri="{FF2B5EF4-FFF2-40B4-BE49-F238E27FC236}">
                <a16:creationId xmlns:a16="http://schemas.microsoft.com/office/drawing/2014/main" id="{D15B5C23-87E3-B348-51DB-5C43A65B7432}"/>
              </a:ext>
            </a:extLst>
          </p:cNvPr>
          <p:cNvGraphicFramePr>
            <a:graphicFrameLocks noGrp="1"/>
          </p:cNvGraphicFramePr>
          <p:nvPr>
            <p:extLst>
              <p:ext uri="{D42A27DB-BD31-4B8C-83A1-F6EECF244321}">
                <p14:modId xmlns:p14="http://schemas.microsoft.com/office/powerpoint/2010/main" val="3126807540"/>
              </p:ext>
            </p:extLst>
          </p:nvPr>
        </p:nvGraphicFramePr>
        <p:xfrm>
          <a:off x="0" y="1169158"/>
          <a:ext cx="9144000" cy="5188710"/>
        </p:xfrm>
        <a:graphic>
          <a:graphicData uri="http://schemas.openxmlformats.org/drawingml/2006/table">
            <a:tbl>
              <a:tblPr/>
              <a:tblGrid>
                <a:gridCol w="912929">
                  <a:extLst>
                    <a:ext uri="{9D8B030D-6E8A-4147-A177-3AD203B41FA5}">
                      <a16:colId xmlns:a16="http://schemas.microsoft.com/office/drawing/2014/main" val="2198019922"/>
                    </a:ext>
                  </a:extLst>
                </a:gridCol>
                <a:gridCol w="8231071">
                  <a:extLst>
                    <a:ext uri="{9D8B030D-6E8A-4147-A177-3AD203B41FA5}">
                      <a16:colId xmlns:a16="http://schemas.microsoft.com/office/drawing/2014/main" val="2760452320"/>
                    </a:ext>
                  </a:extLst>
                </a:gridCol>
              </a:tblGrid>
              <a:tr h="157074">
                <a:tc>
                  <a:txBody>
                    <a:bodyPr/>
                    <a:lstStyle/>
                    <a:p>
                      <a:pPr algn="ctr" rtl="0" fontAlgn="base"/>
                      <a:r>
                        <a:rPr lang="en-US" sz="1400" b="0" i="0">
                          <a:effectLst/>
                          <a:latin typeface="Aptos" panose="020B0004020202020204" pitchFamily="34" charset="0"/>
                        </a:rPr>
                        <a:t>TT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tc>
                  <a:txBody>
                    <a:bodyPr/>
                    <a:lstStyle/>
                    <a:p>
                      <a:pPr algn="ctr" rtl="0" fontAlgn="base"/>
                      <a:r>
                        <a:rPr lang="en-US" sz="1600" b="0" i="0" dirty="0" err="1">
                          <a:effectLst/>
                          <a:latin typeface="Aptos" panose="020B0004020202020204" pitchFamily="34" charset="0"/>
                        </a:rPr>
                        <a:t>Nội</a:t>
                      </a:r>
                      <a:r>
                        <a:rPr lang="en-US" sz="1600" b="0" i="0" dirty="0">
                          <a:effectLst/>
                          <a:latin typeface="Aptos" panose="020B0004020202020204" pitchFamily="34" charset="0"/>
                        </a:rPr>
                        <a:t> dung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4152438694"/>
                  </a:ext>
                </a:extLst>
              </a:tr>
              <a:tr h="918204">
                <a:tc>
                  <a:txBody>
                    <a:bodyPr/>
                    <a:lstStyle/>
                    <a:p>
                      <a:pPr algn="ctr" rtl="0" fontAlgn="base"/>
                      <a:r>
                        <a:rPr lang="en-US" sz="1400" b="0" i="0">
                          <a:effectLst/>
                          <a:latin typeface="Aptos" panose="020B0004020202020204" pitchFamily="34" charset="0"/>
                        </a:rPr>
                        <a:t>1 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tc>
                  <a:txBody>
                    <a:bodyPr/>
                    <a:lstStyle/>
                    <a:p>
                      <a:pPr algn="l" rtl="0" fontAlgn="base"/>
                      <a:r>
                        <a:rPr lang="vi-VN" sz="1100" b="1" i="0" dirty="0">
                          <a:effectLst/>
                          <a:latin typeface="Aptos" panose="020B0004020202020204" pitchFamily="34" charset="0"/>
                        </a:rPr>
                        <a:t>Yêu cầu đo lường:                          </a:t>
                      </a:r>
                      <a:endParaRPr lang="en-US" sz="1100" b="1" i="0" dirty="0">
                        <a:effectLst/>
                        <a:latin typeface="Aptos" panose="020B0004020202020204" pitchFamily="34" charset="0"/>
                      </a:endParaRPr>
                    </a:p>
                    <a:p>
                      <a:pPr algn="l" rtl="0" fontAlgn="base"/>
                      <a:r>
                        <a:rPr lang="vi-VN" sz="1100" b="0" i="0" dirty="0">
                          <a:effectLst/>
                          <a:latin typeface="Aptos" panose="020B0004020202020204" pitchFamily="34" charset="0"/>
                        </a:rPr>
                        <a:t>- Dải đo: -10</a:t>
                      </a:r>
                      <a:r>
                        <a:rPr lang="vi-VN" sz="1100" b="0" i="0" baseline="30000" dirty="0">
                          <a:effectLst/>
                          <a:latin typeface="Aptos" panose="020B0004020202020204" pitchFamily="34" charset="0"/>
                        </a:rPr>
                        <a:t>o</a:t>
                      </a:r>
                      <a:r>
                        <a:rPr lang="vi-VN" sz="1100" b="0" i="0" dirty="0">
                          <a:effectLst/>
                          <a:latin typeface="Aptos" panose="020B0004020202020204" pitchFamily="34" charset="0"/>
                        </a:rPr>
                        <a:t>C ÷ 50</a:t>
                      </a:r>
                      <a:r>
                        <a:rPr lang="vi-VN" sz="1100" b="0" i="0" baseline="30000" dirty="0">
                          <a:effectLst/>
                          <a:latin typeface="Aptos" panose="020B0004020202020204" pitchFamily="34" charset="0"/>
                        </a:rPr>
                        <a:t>o</a:t>
                      </a:r>
                      <a:r>
                        <a:rPr lang="vi-VN" sz="1100" b="0" i="0" dirty="0">
                          <a:effectLst/>
                          <a:latin typeface="Aptos" panose="020B0004020202020204" pitchFamily="34" charset="0"/>
                        </a:rPr>
                        <a:t>C với nhiệt độ, 0–100 %RH (độ ẩm không khí) và 0–60% Vol (độ ẩm đất). </a:t>
                      </a:r>
                    </a:p>
                    <a:p>
                      <a:pPr algn="l" rtl="0" fontAlgn="base"/>
                      <a:r>
                        <a:rPr lang="vi-VN" sz="1100" b="0" i="0" dirty="0">
                          <a:effectLst/>
                          <a:latin typeface="Aptos" panose="020B0004020202020204" pitchFamily="34" charset="0"/>
                        </a:rPr>
                        <a:t>- Độ chính xác: ±0.5 </a:t>
                      </a:r>
                      <a:r>
                        <a:rPr lang="vi-VN" sz="1100" b="0" i="0" baseline="30000" dirty="0">
                          <a:effectLst/>
                          <a:latin typeface="Aptos" panose="020B0004020202020204" pitchFamily="34" charset="0"/>
                        </a:rPr>
                        <a:t>o</a:t>
                      </a:r>
                      <a:r>
                        <a:rPr lang="vi-VN" sz="1100" b="0" i="0" dirty="0">
                          <a:effectLst/>
                          <a:latin typeface="Aptos" panose="020B0004020202020204" pitchFamily="34" charset="0"/>
                        </a:rPr>
                        <a:t>C và ±2% RH (không khí), ±3% Vol (độ ẩm đất). </a:t>
                      </a:r>
                    </a:p>
                    <a:p>
                      <a:pPr algn="l" rtl="0" fontAlgn="base"/>
                      <a:r>
                        <a:rPr lang="vi-VN" sz="1100" b="0" i="0" dirty="0">
                          <a:effectLst/>
                          <a:latin typeface="Aptos" panose="020B0004020202020204" pitchFamily="34" charset="0"/>
                        </a:rPr>
                        <a:t>- Độ phân giải hiển thị: 0.1</a:t>
                      </a:r>
                      <a:r>
                        <a:rPr lang="vi-VN" sz="1100" b="0" i="0" baseline="30000" dirty="0">
                          <a:effectLst/>
                          <a:latin typeface="Aptos" panose="020B0004020202020204" pitchFamily="34" charset="0"/>
                        </a:rPr>
                        <a:t>o</a:t>
                      </a:r>
                      <a:r>
                        <a:rPr lang="vi-VN" sz="1100" b="0" i="0" dirty="0">
                          <a:effectLst/>
                          <a:latin typeface="Aptos" panose="020B0004020202020204" pitchFamily="34" charset="0"/>
                        </a:rPr>
                        <a:t>C và 0.1 %RH. </a:t>
                      </a:r>
                    </a:p>
                    <a:p>
                      <a:pPr algn="l" rtl="0" fontAlgn="base"/>
                      <a:r>
                        <a:rPr lang="vi-VN" sz="1100" b="0" i="0" dirty="0">
                          <a:effectLst/>
                          <a:latin typeface="Aptos" panose="020B0004020202020204" pitchFamily="34" charset="0"/>
                        </a:rPr>
                        <a:t>- Thời gian đo một mẫu : &lt;60s. (nâng cao &lt; 10s)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5230434"/>
                  </a:ext>
                </a:extLst>
              </a:tr>
              <a:tr h="591128">
                <a:tc>
                  <a:txBody>
                    <a:bodyPr/>
                    <a:lstStyle/>
                    <a:p>
                      <a:pPr algn="ctr" rtl="0" fontAlgn="base"/>
                      <a:r>
                        <a:rPr lang="en-US" sz="1400" b="0" i="0" dirty="0">
                          <a:effectLst/>
                          <a:latin typeface="Aptos" panose="020B0004020202020204" pitchFamily="34" charset="0"/>
                        </a:rPr>
                        <a:t>2 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tc>
                  <a:txBody>
                    <a:bodyPr/>
                    <a:lstStyle/>
                    <a:p>
                      <a:pPr algn="l" rtl="0" fontAlgn="base"/>
                      <a:r>
                        <a:rPr lang="vi-VN" sz="1100" b="1" i="0" dirty="0">
                          <a:effectLst/>
                          <a:latin typeface="Aptos" panose="020B0004020202020204" pitchFamily="34" charset="0"/>
                        </a:rPr>
                        <a:t>Yêu cầu nguồn và năng lượng tiêu thụ:</a:t>
                      </a:r>
                      <a:r>
                        <a:rPr lang="vi-VN" sz="1100" b="0" i="0" dirty="0">
                          <a:effectLst/>
                          <a:latin typeface="Aptos" panose="020B0004020202020204" pitchFamily="34" charset="0"/>
                        </a:rPr>
                        <a:t> </a:t>
                      </a:r>
                    </a:p>
                    <a:p>
                      <a:pPr algn="l" rtl="0" fontAlgn="base"/>
                      <a:r>
                        <a:rPr lang="vi-VN" sz="1100" b="0" i="0" dirty="0">
                          <a:effectLst/>
                          <a:latin typeface="Aptos" panose="020B0004020202020204" pitchFamily="34" charset="0"/>
                        </a:rPr>
                        <a:t>- Thiết bị sử dụng pin (Nâng cao: sử dụng năng lượng mặt trời để tăng thời gian hoạt động). </a:t>
                      </a:r>
                    </a:p>
                    <a:p>
                      <a:pPr algn="l" rtl="0" fontAlgn="base"/>
                      <a:r>
                        <a:rPr lang="vi-VN" sz="1100" b="0" i="0" dirty="0">
                          <a:effectLst/>
                          <a:latin typeface="Aptos" panose="020B0004020202020204" pitchFamily="34" charset="0"/>
                        </a:rPr>
                        <a:t>- Pin có thể thay thế, sạc lại qua năng lượng tái tạo.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4043581708"/>
                  </a:ext>
                </a:extLst>
              </a:tr>
              <a:tr h="603672">
                <a:tc>
                  <a:txBody>
                    <a:bodyPr/>
                    <a:lstStyle/>
                    <a:p>
                      <a:pPr algn="ctr" rtl="0" fontAlgn="base"/>
                      <a:r>
                        <a:rPr lang="en-US" sz="1400" b="0" i="0" dirty="0">
                          <a:effectLst/>
                          <a:latin typeface="Aptos" panose="020B0004020202020204" pitchFamily="34" charset="0"/>
                        </a:rPr>
                        <a:t>3 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tc>
                  <a:txBody>
                    <a:bodyPr/>
                    <a:lstStyle/>
                    <a:p>
                      <a:pPr algn="l" rtl="0" fontAlgn="base"/>
                      <a:r>
                        <a:rPr lang="vi-VN" sz="1100" b="1" i="0" dirty="0">
                          <a:effectLst/>
                          <a:latin typeface="Aptos" panose="020B0004020202020204" pitchFamily="34" charset="0"/>
                        </a:rPr>
                        <a:t>Yêu cầu kích thước và trọng lượng</a:t>
                      </a:r>
                      <a:r>
                        <a:rPr lang="vi-VN" sz="1100" b="0" i="0" dirty="0">
                          <a:effectLst/>
                          <a:latin typeface="Aptos" panose="020B0004020202020204" pitchFamily="34" charset="0"/>
                        </a:rPr>
                        <a:t>: </a:t>
                      </a:r>
                    </a:p>
                    <a:p>
                      <a:pPr algn="l" rtl="0" fontAlgn="base"/>
                      <a:r>
                        <a:rPr lang="vi-VN" sz="1100" b="0" i="0" dirty="0">
                          <a:effectLst/>
                          <a:latin typeface="Aptos" panose="020B0004020202020204" pitchFamily="34" charset="0"/>
                        </a:rPr>
                        <a:t>- Kích thước (dự kiến): 50 cm x 80 cm (</a:t>
                      </a:r>
                      <a:r>
                        <a:rPr lang="vi-VN" sz="1100" b="0" i="0" dirty="0">
                          <a:solidFill>
                            <a:srgbClr val="FF0000"/>
                          </a:solidFill>
                          <a:effectLst/>
                          <a:latin typeface="Aptos" panose="020B0004020202020204" pitchFamily="34" charset="0"/>
                        </a:rPr>
                        <a:t>nhỏ gọn, có tiềm năng phục vụ chuẩn chống nước IP65</a:t>
                      </a:r>
                      <a:r>
                        <a:rPr lang="vi-VN" sz="1100" b="0" i="0" dirty="0">
                          <a:effectLst/>
                          <a:latin typeface="Aptos" panose="020B0004020202020204" pitchFamily="34" charset="0"/>
                        </a:rPr>
                        <a:t>) </a:t>
                      </a:r>
                    </a:p>
                    <a:p>
                      <a:pPr algn="l" rtl="0" fontAlgn="base"/>
                      <a:r>
                        <a:rPr lang="vi-VN" sz="1100" b="0" i="0" dirty="0">
                          <a:effectLst/>
                          <a:latin typeface="Aptos" panose="020B0004020202020204" pitchFamily="34" charset="0"/>
                        </a:rPr>
                        <a:t>- Trọng lượng (dự kiến): &lt;150g.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1894558946"/>
                  </a:ext>
                </a:extLst>
              </a:tr>
              <a:tr h="603672">
                <a:tc>
                  <a:txBody>
                    <a:bodyPr/>
                    <a:lstStyle/>
                    <a:p>
                      <a:pPr algn="ctr" rtl="0" fontAlgn="base"/>
                      <a:r>
                        <a:rPr lang="en-US" sz="1400" b="0" i="0" dirty="0">
                          <a:effectLst/>
                          <a:latin typeface="Aptos" panose="020B0004020202020204" pitchFamily="34" charset="0"/>
                        </a:rPr>
                        <a:t>4</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tc>
                  <a:txBody>
                    <a:bodyPr/>
                    <a:lstStyle/>
                    <a:p>
                      <a:pPr algn="l" rtl="0" fontAlgn="base"/>
                      <a:r>
                        <a:rPr lang="en-US" sz="1100" b="1" i="0" dirty="0" err="1">
                          <a:effectLst/>
                          <a:latin typeface="Aptos" panose="020B0004020202020204" pitchFamily="34" charset="0"/>
                        </a:rPr>
                        <a:t>Yêu</a:t>
                      </a:r>
                      <a:r>
                        <a:rPr lang="en-US" sz="1100" b="1" i="0" dirty="0">
                          <a:effectLst/>
                          <a:latin typeface="Aptos" panose="020B0004020202020204" pitchFamily="34" charset="0"/>
                        </a:rPr>
                        <a:t> </a:t>
                      </a:r>
                      <a:r>
                        <a:rPr lang="en-US" sz="1100" b="1" i="0" dirty="0" err="1">
                          <a:effectLst/>
                          <a:latin typeface="Aptos" panose="020B0004020202020204" pitchFamily="34" charset="0"/>
                        </a:rPr>
                        <a:t>cầu</a:t>
                      </a:r>
                      <a:r>
                        <a:rPr lang="en-US" sz="1100" b="1" i="0" dirty="0">
                          <a:effectLst/>
                          <a:latin typeface="Aptos" panose="020B0004020202020204" pitchFamily="34" charset="0"/>
                        </a:rPr>
                        <a:t> </a:t>
                      </a:r>
                      <a:r>
                        <a:rPr lang="en-US" sz="1100" b="1" i="0" dirty="0" err="1">
                          <a:effectLst/>
                          <a:latin typeface="Aptos" panose="020B0004020202020204" pitchFamily="34" charset="0"/>
                        </a:rPr>
                        <a:t>truyền</a:t>
                      </a:r>
                      <a:r>
                        <a:rPr lang="en-US" sz="1100" b="1" i="0" dirty="0">
                          <a:effectLst/>
                          <a:latin typeface="Aptos" panose="020B0004020202020204" pitchFamily="34" charset="0"/>
                        </a:rPr>
                        <a:t> </a:t>
                      </a:r>
                      <a:r>
                        <a:rPr lang="en-US" sz="1100" b="1" i="0" dirty="0" err="1">
                          <a:effectLst/>
                          <a:latin typeface="Aptos" panose="020B0004020202020204" pitchFamily="34" charset="0"/>
                        </a:rPr>
                        <a:t>thông</a:t>
                      </a:r>
                      <a:r>
                        <a:rPr lang="en-US" sz="1100" b="1" i="0" dirty="0">
                          <a:effectLst/>
                          <a:latin typeface="Aptos" panose="020B0004020202020204" pitchFamily="34" charset="0"/>
                        </a:rPr>
                        <a:t> </a:t>
                      </a:r>
                      <a:r>
                        <a:rPr lang="en-US" sz="1100" b="1" i="0" dirty="0" err="1">
                          <a:effectLst/>
                          <a:latin typeface="Aptos" panose="020B0004020202020204" pitchFamily="34" charset="0"/>
                        </a:rPr>
                        <a:t>và</a:t>
                      </a:r>
                      <a:r>
                        <a:rPr lang="en-US" sz="1100" b="1" i="0" dirty="0">
                          <a:effectLst/>
                          <a:latin typeface="Aptos" panose="020B0004020202020204" pitchFamily="34" charset="0"/>
                        </a:rPr>
                        <a:t> </a:t>
                      </a:r>
                      <a:r>
                        <a:rPr lang="en-US" sz="1100" b="1" i="0" dirty="0" err="1">
                          <a:effectLst/>
                          <a:latin typeface="Aptos" panose="020B0004020202020204" pitchFamily="34" charset="0"/>
                        </a:rPr>
                        <a:t>mạng</a:t>
                      </a:r>
                      <a:r>
                        <a:rPr lang="en-US" sz="1100" b="1" i="0" dirty="0">
                          <a:effectLst/>
                          <a:latin typeface="Aptos" panose="020B0004020202020204" pitchFamily="34" charset="0"/>
                        </a:rPr>
                        <a:t>:</a:t>
                      </a:r>
                      <a:r>
                        <a:rPr lang="en-US" sz="1100" b="0" i="0" dirty="0">
                          <a:effectLst/>
                          <a:latin typeface="Aptos" panose="020B0004020202020204" pitchFamily="34" charset="0"/>
                        </a:rPr>
                        <a:t> </a:t>
                      </a:r>
                    </a:p>
                    <a:p>
                      <a:pPr algn="l" rtl="0" fontAlgn="base"/>
                      <a:r>
                        <a:rPr lang="en-US" sz="1100" b="0" i="0" dirty="0">
                          <a:effectLst/>
                          <a:latin typeface="Aptos" panose="020B0004020202020204" pitchFamily="34" charset="0"/>
                        </a:rPr>
                        <a:t>- </a:t>
                      </a:r>
                      <a:r>
                        <a:rPr lang="en-US" sz="1100" b="0" i="0" dirty="0" err="1">
                          <a:effectLst/>
                          <a:latin typeface="Aptos" panose="020B0004020202020204" pitchFamily="34" charset="0"/>
                        </a:rPr>
                        <a:t>Độ</a:t>
                      </a:r>
                      <a:r>
                        <a:rPr lang="en-US" sz="1100" b="0" i="0" dirty="0">
                          <a:effectLst/>
                          <a:latin typeface="Aptos" panose="020B0004020202020204" pitchFamily="34" charset="0"/>
                        </a:rPr>
                        <a:t> </a:t>
                      </a:r>
                      <a:r>
                        <a:rPr lang="en-US" sz="1100" b="0" i="0" dirty="0" err="1">
                          <a:effectLst/>
                          <a:latin typeface="Aptos" panose="020B0004020202020204" pitchFamily="34" charset="0"/>
                        </a:rPr>
                        <a:t>trễ</a:t>
                      </a:r>
                      <a:r>
                        <a:rPr lang="en-US" sz="1100" b="0" i="0" dirty="0">
                          <a:effectLst/>
                          <a:latin typeface="Aptos" panose="020B0004020202020204" pitchFamily="34" charset="0"/>
                        </a:rPr>
                        <a:t> </a:t>
                      </a:r>
                      <a:r>
                        <a:rPr lang="en-US" sz="1100" b="0" i="0" dirty="0" err="1">
                          <a:effectLst/>
                          <a:latin typeface="Aptos" panose="020B0004020202020204" pitchFamily="34" charset="0"/>
                        </a:rPr>
                        <a:t>thấp</a:t>
                      </a:r>
                      <a:r>
                        <a:rPr lang="en-US" sz="1100" b="0" i="0" dirty="0">
                          <a:effectLst/>
                          <a:latin typeface="Aptos" panose="020B0004020202020204" pitchFamily="34" charset="0"/>
                        </a:rPr>
                        <a:t> </a:t>
                      </a:r>
                      <a:r>
                        <a:rPr lang="en-US" sz="1100" b="0" i="0" dirty="0" err="1">
                          <a:effectLst/>
                          <a:latin typeface="Aptos" panose="020B0004020202020204" pitchFamily="34" charset="0"/>
                        </a:rPr>
                        <a:t>nhất</a:t>
                      </a:r>
                      <a:r>
                        <a:rPr lang="en-US" sz="1100" b="0" i="0" dirty="0">
                          <a:effectLst/>
                          <a:latin typeface="Aptos" panose="020B0004020202020204" pitchFamily="34" charset="0"/>
                        </a:rPr>
                        <a:t> </a:t>
                      </a:r>
                      <a:r>
                        <a:rPr lang="en-US" sz="1100" b="0" i="0" dirty="0" err="1">
                          <a:effectLst/>
                          <a:latin typeface="Aptos" panose="020B0004020202020204" pitchFamily="34" charset="0"/>
                        </a:rPr>
                        <a:t>thu</a:t>
                      </a:r>
                      <a:r>
                        <a:rPr lang="en-US" sz="1100" b="0" i="0" dirty="0">
                          <a:effectLst/>
                          <a:latin typeface="Aptos" panose="020B0004020202020204" pitchFamily="34" charset="0"/>
                        </a:rPr>
                        <a:t> </a:t>
                      </a:r>
                      <a:r>
                        <a:rPr lang="en-US" sz="1100" b="0" i="0" dirty="0" err="1">
                          <a:effectLst/>
                          <a:latin typeface="Aptos" panose="020B0004020202020204" pitchFamily="34" charset="0"/>
                        </a:rPr>
                        <a:t>thập</a:t>
                      </a:r>
                      <a:r>
                        <a:rPr lang="en-US" sz="1100" b="0" i="0" dirty="0">
                          <a:effectLst/>
                          <a:latin typeface="Aptos" panose="020B0004020202020204" pitchFamily="34" charset="0"/>
                        </a:rPr>
                        <a:t> </a:t>
                      </a:r>
                      <a:r>
                        <a:rPr lang="en-US" sz="1100" b="0" i="0" dirty="0" err="1">
                          <a:effectLst/>
                          <a:latin typeface="Aptos" panose="020B0004020202020204" pitchFamily="34" charset="0"/>
                        </a:rPr>
                        <a:t>dữ</a:t>
                      </a:r>
                      <a:r>
                        <a:rPr lang="en-US" sz="1100" b="0" i="0" dirty="0">
                          <a:effectLst/>
                          <a:latin typeface="Aptos" panose="020B0004020202020204" pitchFamily="34" charset="0"/>
                        </a:rPr>
                        <a:t> </a:t>
                      </a:r>
                      <a:r>
                        <a:rPr lang="en-US" sz="1100" b="0" i="0" dirty="0" err="1">
                          <a:effectLst/>
                          <a:latin typeface="Aptos" panose="020B0004020202020204" pitchFamily="34" charset="0"/>
                        </a:rPr>
                        <a:t>liệu</a:t>
                      </a:r>
                      <a:r>
                        <a:rPr lang="en-US" sz="1100" b="0" i="0" dirty="0">
                          <a:effectLst/>
                          <a:latin typeface="Aptos" panose="020B0004020202020204" pitchFamily="34" charset="0"/>
                        </a:rPr>
                        <a:t>: &lt; 30 s (</a:t>
                      </a:r>
                      <a:r>
                        <a:rPr lang="en-US" sz="1100" b="0" i="0" dirty="0" err="1">
                          <a:effectLst/>
                          <a:latin typeface="Aptos" panose="020B0004020202020204" pitchFamily="34" charset="0"/>
                        </a:rPr>
                        <a:t>nâng</a:t>
                      </a:r>
                      <a:r>
                        <a:rPr lang="en-US" sz="1100" b="0" i="0" dirty="0">
                          <a:effectLst/>
                          <a:latin typeface="Aptos" panose="020B0004020202020204" pitchFamily="34" charset="0"/>
                        </a:rPr>
                        <a:t> </a:t>
                      </a:r>
                      <a:r>
                        <a:rPr lang="en-US" sz="1100" b="0" i="0" dirty="0" err="1">
                          <a:effectLst/>
                          <a:latin typeface="Aptos" panose="020B0004020202020204" pitchFamily="34" charset="0"/>
                        </a:rPr>
                        <a:t>cao</a:t>
                      </a:r>
                      <a:r>
                        <a:rPr lang="en-US" sz="1100" b="0" i="0" dirty="0">
                          <a:effectLst/>
                          <a:latin typeface="Aptos" panose="020B0004020202020204" pitchFamily="34" charset="0"/>
                        </a:rPr>
                        <a:t>: &lt; 5 s). </a:t>
                      </a:r>
                    </a:p>
                    <a:p>
                      <a:pPr algn="l" rtl="0" fontAlgn="base"/>
                      <a:r>
                        <a:rPr lang="en-US" sz="1100" b="0" i="0" dirty="0">
                          <a:effectLst/>
                          <a:latin typeface="Aptos" panose="020B0004020202020204" pitchFamily="34" charset="0"/>
                        </a:rPr>
                        <a:t>- </a:t>
                      </a:r>
                      <a:r>
                        <a:rPr lang="en-US" sz="1100" b="0" i="0" dirty="0" err="1">
                          <a:effectLst/>
                          <a:latin typeface="Aptos" panose="020B0004020202020204" pitchFamily="34" charset="0"/>
                        </a:rPr>
                        <a:t>Quản</a:t>
                      </a:r>
                      <a:r>
                        <a:rPr lang="en-US" sz="1100" b="0" i="0" dirty="0">
                          <a:effectLst/>
                          <a:latin typeface="Aptos" panose="020B0004020202020204" pitchFamily="34" charset="0"/>
                        </a:rPr>
                        <a:t> </a:t>
                      </a:r>
                      <a:r>
                        <a:rPr lang="en-US" sz="1100" b="0" i="0" dirty="0" err="1">
                          <a:effectLst/>
                          <a:latin typeface="Aptos" panose="020B0004020202020204" pitchFamily="34" charset="0"/>
                        </a:rPr>
                        <a:t>lý</a:t>
                      </a:r>
                      <a:r>
                        <a:rPr lang="en-US" sz="1100" b="0" i="0" dirty="0">
                          <a:effectLst/>
                          <a:latin typeface="Aptos" panose="020B0004020202020204" pitchFamily="34" charset="0"/>
                        </a:rPr>
                        <a:t> </a:t>
                      </a:r>
                      <a:r>
                        <a:rPr lang="en-US" sz="1100" b="0" i="0" dirty="0" err="1">
                          <a:effectLst/>
                          <a:latin typeface="Aptos" panose="020B0004020202020204" pitchFamily="34" charset="0"/>
                        </a:rPr>
                        <a:t>tối</a:t>
                      </a:r>
                      <a:r>
                        <a:rPr lang="en-US" sz="1100" b="0" i="0" dirty="0">
                          <a:effectLst/>
                          <a:latin typeface="Aptos" panose="020B0004020202020204" pitchFamily="34" charset="0"/>
                        </a:rPr>
                        <a:t> </a:t>
                      </a:r>
                      <a:r>
                        <a:rPr lang="en-US" sz="1100" b="0" i="0" dirty="0" err="1">
                          <a:effectLst/>
                          <a:latin typeface="Aptos" panose="020B0004020202020204" pitchFamily="34" charset="0"/>
                        </a:rPr>
                        <a:t>thiểu</a:t>
                      </a:r>
                      <a:r>
                        <a:rPr lang="en-US" sz="1100" b="0" i="0" dirty="0">
                          <a:effectLst/>
                          <a:latin typeface="Aptos" panose="020B0004020202020204" pitchFamily="34" charset="0"/>
                        </a:rPr>
                        <a:t>: 100 </a:t>
                      </a:r>
                      <a:r>
                        <a:rPr lang="en-US" sz="1100" b="0" i="0" dirty="0" err="1">
                          <a:effectLst/>
                          <a:latin typeface="Aptos" panose="020B0004020202020204" pitchFamily="34" charset="0"/>
                        </a:rPr>
                        <a:t>nút</a:t>
                      </a:r>
                      <a:r>
                        <a:rPr lang="en-US" sz="1100" b="0" i="0" dirty="0">
                          <a:effectLst/>
                          <a:latin typeface="Aptos" panose="020B0004020202020204" pitchFamily="34" charset="0"/>
                        </a:rPr>
                        <a:t> </a:t>
                      </a:r>
                      <a:r>
                        <a:rPr lang="en-US" sz="1100" b="0" i="0" dirty="0" err="1">
                          <a:effectLst/>
                          <a:latin typeface="Aptos" panose="020B0004020202020204" pitchFamily="34" charset="0"/>
                        </a:rPr>
                        <a:t>cảm</a:t>
                      </a:r>
                      <a:r>
                        <a:rPr lang="en-US" sz="1100" b="0" i="0" dirty="0">
                          <a:effectLst/>
                          <a:latin typeface="Aptos" panose="020B0004020202020204" pitchFamily="34" charset="0"/>
                        </a:rPr>
                        <a:t> </a:t>
                      </a:r>
                      <a:r>
                        <a:rPr lang="en-US" sz="1100" b="0" i="0" dirty="0" err="1">
                          <a:effectLst/>
                          <a:latin typeface="Aptos" panose="020B0004020202020204" pitchFamily="34" charset="0"/>
                        </a:rPr>
                        <a:t>biến</a:t>
                      </a:r>
                      <a:r>
                        <a:rPr lang="en-US" sz="1100" b="0" i="0" dirty="0">
                          <a:effectLst/>
                          <a:latin typeface="Aptos" panose="020B0004020202020204" pitchFamily="34" charset="0"/>
                        </a:rPr>
                        <a:t> (</a:t>
                      </a:r>
                      <a:r>
                        <a:rPr lang="en-US" sz="1100" b="0" i="0" dirty="0" err="1">
                          <a:effectLst/>
                          <a:latin typeface="Aptos" panose="020B0004020202020204" pitchFamily="34" charset="0"/>
                        </a:rPr>
                        <a:t>nâng</a:t>
                      </a:r>
                      <a:r>
                        <a:rPr lang="en-US" sz="1100" b="0" i="0" dirty="0">
                          <a:effectLst/>
                          <a:latin typeface="Aptos" panose="020B0004020202020204" pitchFamily="34" charset="0"/>
                        </a:rPr>
                        <a:t> </a:t>
                      </a:r>
                      <a:r>
                        <a:rPr lang="en-US" sz="1100" b="0" i="0" dirty="0" err="1">
                          <a:effectLst/>
                          <a:latin typeface="Aptos" panose="020B0004020202020204" pitchFamily="34" charset="0"/>
                        </a:rPr>
                        <a:t>cao</a:t>
                      </a:r>
                      <a:r>
                        <a:rPr lang="en-US" sz="1100" b="0" i="0" dirty="0">
                          <a:effectLst/>
                          <a:latin typeface="Aptos" panose="020B0004020202020204" pitchFamily="34" charset="0"/>
                        </a:rPr>
                        <a:t>: </a:t>
                      </a:r>
                      <a:r>
                        <a:rPr lang="en-US" sz="1100" b="0" i="0" dirty="0" err="1">
                          <a:effectLst/>
                          <a:latin typeface="Aptos" panose="020B0004020202020204" pitchFamily="34" charset="0"/>
                        </a:rPr>
                        <a:t>mở</a:t>
                      </a:r>
                      <a:r>
                        <a:rPr lang="en-US" sz="1100" b="0" i="0" dirty="0">
                          <a:effectLst/>
                          <a:latin typeface="Aptos" panose="020B0004020202020204" pitchFamily="34" charset="0"/>
                        </a:rPr>
                        <a:t> </a:t>
                      </a:r>
                      <a:r>
                        <a:rPr lang="en-US" sz="1100" b="0" i="0" dirty="0" err="1">
                          <a:effectLst/>
                          <a:latin typeface="Aptos" panose="020B0004020202020204" pitchFamily="34" charset="0"/>
                        </a:rPr>
                        <a:t>rộng</a:t>
                      </a:r>
                      <a:r>
                        <a:rPr lang="en-US" sz="1100" b="0" i="0" dirty="0">
                          <a:effectLst/>
                          <a:latin typeface="Aptos" panose="020B0004020202020204" pitchFamily="34" charset="0"/>
                        </a:rPr>
                        <a:t> </a:t>
                      </a:r>
                      <a:r>
                        <a:rPr lang="en-US" sz="1100" b="0" i="0" dirty="0" err="1">
                          <a:effectLst/>
                          <a:latin typeface="Aptos" panose="020B0004020202020204" pitchFamily="34" charset="0"/>
                        </a:rPr>
                        <a:t>hàng</a:t>
                      </a:r>
                      <a:r>
                        <a:rPr lang="en-US" sz="1100" b="0" i="0" dirty="0">
                          <a:effectLst/>
                          <a:latin typeface="Aptos" panose="020B0004020202020204" pitchFamily="34" charset="0"/>
                        </a:rPr>
                        <a:t> </a:t>
                      </a:r>
                      <a:r>
                        <a:rPr lang="en-US" sz="1100" b="0" i="0" dirty="0" err="1">
                          <a:effectLst/>
                          <a:latin typeface="Aptos" panose="020B0004020202020204" pitchFamily="34" charset="0"/>
                        </a:rPr>
                        <a:t>nghìn</a:t>
                      </a:r>
                      <a:r>
                        <a:rPr lang="en-US" sz="1100" b="0" i="0" dirty="0">
                          <a:effectLst/>
                          <a:latin typeface="Aptos" panose="020B0004020202020204" pitchFamily="34" charset="0"/>
                        </a:rPr>
                        <a:t> </a:t>
                      </a:r>
                      <a:r>
                        <a:rPr lang="en-US" sz="1100" b="0" i="0" dirty="0" err="1">
                          <a:effectLst/>
                          <a:latin typeface="Aptos" panose="020B0004020202020204" pitchFamily="34" charset="0"/>
                        </a:rPr>
                        <a:t>nút</a:t>
                      </a:r>
                      <a:r>
                        <a:rPr lang="en-US" sz="1100" b="0" i="0" dirty="0">
                          <a:effectLst/>
                          <a:latin typeface="Aptos" panose="020B0004020202020204" pitchFamily="34" charset="0"/>
                        </a:rPr>
                        <a:t>).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1466173552"/>
                  </a:ext>
                </a:extLst>
              </a:tr>
              <a:tr h="603672">
                <a:tc>
                  <a:txBody>
                    <a:bodyPr/>
                    <a:lstStyle/>
                    <a:p>
                      <a:pPr algn="ctr" rtl="0" fontAlgn="base"/>
                      <a:r>
                        <a:rPr lang="en-US" sz="1400" b="0" i="0" dirty="0">
                          <a:effectLst/>
                          <a:latin typeface="Aptos" panose="020B0004020202020204" pitchFamily="34" charset="0"/>
                        </a:rPr>
                        <a:t>5</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tc>
                  <a:txBody>
                    <a:bodyPr/>
                    <a:lstStyle/>
                    <a:p>
                      <a:pPr algn="l" rtl="0" fontAlgn="base"/>
                      <a:r>
                        <a:rPr lang="en-US" sz="1100" b="1" i="0">
                          <a:effectLst/>
                          <a:latin typeface="Aptos" panose="020B0004020202020204" pitchFamily="34" charset="0"/>
                        </a:rPr>
                        <a:t>Yêu cầu phần mềm &amp; giao diện Phần mềm máy tính</a:t>
                      </a:r>
                      <a:r>
                        <a:rPr lang="en-US" sz="1100" b="0" i="0">
                          <a:effectLst/>
                          <a:latin typeface="Aptos" panose="020B0004020202020204" pitchFamily="34" charset="0"/>
                        </a:rPr>
                        <a:t>:  </a:t>
                      </a:r>
                    </a:p>
                    <a:p>
                      <a:pPr algn="l" rtl="0" fontAlgn="base"/>
                      <a:r>
                        <a:rPr lang="en-US" sz="1100" b="0" i="0">
                          <a:effectLst/>
                          <a:latin typeface="Aptos" panose="020B0004020202020204" pitchFamily="34" charset="0"/>
                        </a:rPr>
                        <a:t>- Thu thập giá trị đo từ thiết bị đo, quản lý dữ liệu, xuất báo cáo dạng excel.  </a:t>
                      </a:r>
                    </a:p>
                    <a:p>
                      <a:pPr algn="l" rtl="0" fontAlgn="base"/>
                      <a:r>
                        <a:rPr lang="en-US" sz="1100" b="0" i="0">
                          <a:effectLst/>
                          <a:latin typeface="Aptos" panose="020B0004020202020204" pitchFamily="34" charset="0"/>
                        </a:rPr>
                        <a:t>- Giao diện theo mẫu thống nhất.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2357841444"/>
                  </a:ext>
                </a:extLst>
              </a:tr>
              <a:tr h="603672">
                <a:tc>
                  <a:txBody>
                    <a:bodyPr/>
                    <a:lstStyle/>
                    <a:p>
                      <a:pPr algn="ctr" rtl="0" fontAlgn="base"/>
                      <a:r>
                        <a:rPr lang="en-US" sz="1400" b="0" i="0" dirty="0">
                          <a:effectLst/>
                          <a:latin typeface="Aptos" panose="020B0004020202020204" pitchFamily="34" charset="0"/>
                        </a:rPr>
                        <a:t>6</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tc>
                  <a:txBody>
                    <a:bodyPr/>
                    <a:lstStyle/>
                    <a:p>
                      <a:pPr algn="l" rtl="0" fontAlgn="base"/>
                      <a:r>
                        <a:rPr lang="vi-VN" sz="1100" b="1" i="0" dirty="0">
                          <a:effectLst/>
                          <a:latin typeface="Aptos" panose="020B0004020202020204" pitchFamily="34" charset="0"/>
                        </a:rPr>
                        <a:t>Yêu cầu phần mềm &amp; giao diệnPhần mềm máy tính</a:t>
                      </a:r>
                      <a:r>
                        <a:rPr lang="vi-VN" sz="1100" b="0" i="0" dirty="0">
                          <a:effectLst/>
                          <a:latin typeface="Aptos" panose="020B0004020202020204" pitchFamily="34" charset="0"/>
                        </a:rPr>
                        <a:t>:  </a:t>
                      </a:r>
                    </a:p>
                    <a:p>
                      <a:pPr algn="l" rtl="0" fontAlgn="base"/>
                      <a:r>
                        <a:rPr lang="vi-VN" sz="1100" b="0" i="0" dirty="0">
                          <a:effectLst/>
                          <a:latin typeface="Aptos" panose="020B0004020202020204" pitchFamily="34" charset="0"/>
                        </a:rPr>
                        <a:t>- Cảnh báo vượt ngưỡng: LED tại nút + thông báo qua server. </a:t>
                      </a:r>
                    </a:p>
                    <a:p>
                      <a:pPr algn="l" rtl="0" fontAlgn="base"/>
                      <a:r>
                        <a:rPr lang="vi-VN" sz="1100" b="0" i="0" dirty="0">
                          <a:effectLst/>
                          <a:latin typeface="Aptos" panose="020B0004020202020204" pitchFamily="34" charset="0"/>
                        </a:rPr>
                        <a:t>- Có thể cấu hình ngưỡng nhiệt độ, độ ẩm và chu kỳ đo từ xa.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3562296554"/>
                  </a:ext>
                </a:extLst>
              </a:tr>
              <a:tr h="967568">
                <a:tc>
                  <a:txBody>
                    <a:bodyPr/>
                    <a:lstStyle/>
                    <a:p>
                      <a:pPr algn="ctr" rtl="0" fontAlgn="base"/>
                      <a:r>
                        <a:rPr lang="en-US" sz="1400" b="0" i="0" dirty="0">
                          <a:effectLst/>
                          <a:latin typeface="Aptos" panose="020B0004020202020204" pitchFamily="34" charset="0"/>
                        </a:rPr>
                        <a:t>7</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tc>
                  <a:txBody>
                    <a:bodyPr/>
                    <a:lstStyle/>
                    <a:p>
                      <a:pPr algn="l" rtl="0" fontAlgn="base"/>
                      <a:r>
                        <a:rPr lang="vi-VN" sz="1100" b="1" i="0" dirty="0">
                          <a:effectLst/>
                          <a:latin typeface="Aptos" panose="020B0004020202020204" pitchFamily="34" charset="0"/>
                        </a:rPr>
                        <a:t>Yêu cầu mở rộng &amp; nâng cao</a:t>
                      </a:r>
                      <a:r>
                        <a:rPr lang="vi-VN" sz="1100" b="0" i="0" dirty="0">
                          <a:effectLst/>
                          <a:latin typeface="Aptos" panose="020B0004020202020204" pitchFamily="34" charset="0"/>
                        </a:rPr>
                        <a:t> </a:t>
                      </a:r>
                    </a:p>
                    <a:p>
                      <a:pPr algn="l" rtl="0" fontAlgn="base"/>
                      <a:r>
                        <a:rPr lang="vi-VN" sz="1100" b="0" i="0" dirty="0">
                          <a:effectLst/>
                          <a:latin typeface="Aptos" panose="020B0004020202020204" pitchFamily="34" charset="0"/>
                        </a:rPr>
                        <a:t>- Update firmware OTA (Over The Air) (tính năng nâng cao) </a:t>
                      </a:r>
                    </a:p>
                    <a:p>
                      <a:pPr algn="l" rtl="0" fontAlgn="base"/>
                      <a:r>
                        <a:rPr lang="vi-VN" sz="1100" b="0" i="0" dirty="0">
                          <a:effectLst/>
                          <a:latin typeface="Aptos" panose="020B0004020202020204" pitchFamily="34" charset="0"/>
                        </a:rPr>
                        <a:t>- Tích hợp thuật toán tiết kiệm năng lượng thông minh (adaptive duty cycle). </a:t>
                      </a:r>
                    </a:p>
                    <a:p>
                      <a:pPr algn="l" rtl="0" fontAlgn="base"/>
                      <a:r>
                        <a:rPr lang="vi-VN" sz="1100" b="0" i="0" dirty="0">
                          <a:effectLst/>
                          <a:latin typeface="Aptos" panose="020B0004020202020204" pitchFamily="34" charset="0"/>
                        </a:rPr>
                        <a:t>- Hỗ trợ phân tích dữ liệu cho ứng dụng nông nghiệp chính xác (ví dụ: dự báo tưới tiêu…). </a:t>
                      </a:r>
                    </a:p>
                    <a:p>
                      <a:pPr algn="l" rtl="0" fontAlgn="base"/>
                      <a:r>
                        <a:rPr lang="vi-VN" sz="1100" b="0" i="0" dirty="0">
                          <a:effectLst/>
                          <a:latin typeface="Aptos" panose="020B0004020202020204" pitchFamily="34" charset="0"/>
                        </a:rPr>
                        <a:t> </a:t>
                      </a:r>
                    </a:p>
                  </a:txBody>
                  <a:tcPr marL="53282" marR="53282" marT="26641" marB="26641">
                    <a:lnL w="7620" cap="flat" cmpd="sng" algn="ctr">
                      <a:solidFill>
                        <a:srgbClr val="A3A3A3"/>
                      </a:solidFill>
                      <a:prstDash val="solid"/>
                      <a:round/>
                      <a:headEnd type="none" w="med" len="med"/>
                      <a:tailEnd type="none" w="med" len="med"/>
                    </a:lnL>
                    <a:lnR w="7620" cap="flat" cmpd="sng" algn="ctr">
                      <a:solidFill>
                        <a:srgbClr val="A3A3A3"/>
                      </a:solidFill>
                      <a:prstDash val="solid"/>
                      <a:round/>
                      <a:headEnd type="none" w="med" len="med"/>
                      <a:tailEnd type="none" w="med" len="med"/>
                    </a:lnR>
                    <a:lnT w="7620" cap="flat" cmpd="sng" algn="ctr">
                      <a:solidFill>
                        <a:srgbClr val="A3A3A3"/>
                      </a:solidFill>
                      <a:prstDash val="solid"/>
                      <a:round/>
                      <a:headEnd type="none" w="med" len="med"/>
                      <a:tailEnd type="none" w="med" len="med"/>
                    </a:lnT>
                    <a:lnB w="762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3025757634"/>
                  </a:ext>
                </a:extLst>
              </a:tr>
            </a:tbl>
          </a:graphicData>
        </a:graphic>
      </p:graphicFrame>
    </p:spTree>
    <p:extLst>
      <p:ext uri="{BB962C8B-B14F-4D97-AF65-F5344CB8AC3E}">
        <p14:creationId xmlns:p14="http://schemas.microsoft.com/office/powerpoint/2010/main" val="2534748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4" name="TextBox 3">
            <a:extLst>
              <a:ext uri="{FF2B5EF4-FFF2-40B4-BE49-F238E27FC236}">
                <a16:creationId xmlns:a16="http://schemas.microsoft.com/office/drawing/2014/main" id="{741B1972-91D0-9B00-2491-ABD6A867B85F}"/>
              </a:ext>
            </a:extLst>
          </p:cNvPr>
          <p:cNvSpPr txBox="1"/>
          <p:nvPr/>
        </p:nvSpPr>
        <p:spPr>
          <a:xfrm>
            <a:off x="387927" y="804407"/>
            <a:ext cx="8303491" cy="369332"/>
          </a:xfrm>
          <a:prstGeom prst="rect">
            <a:avLst/>
          </a:prstGeom>
          <a:noFill/>
        </p:spPr>
        <p:txBody>
          <a:bodyPr wrap="square" rtlCol="0">
            <a:spAutoFit/>
          </a:bodyPr>
          <a:lstStyle/>
          <a:p>
            <a:r>
              <a:rPr lang="en-US" dirty="0"/>
              <a:t>5.1. </a:t>
            </a:r>
            <a:r>
              <a:rPr lang="en-US" dirty="0" err="1"/>
              <a:t>Các</a:t>
            </a:r>
            <a:r>
              <a:rPr lang="en-US" dirty="0"/>
              <a:t> </a:t>
            </a:r>
            <a:r>
              <a:rPr lang="en-US" dirty="0" err="1"/>
              <a:t>yêu</a:t>
            </a:r>
            <a:r>
              <a:rPr lang="en-US" dirty="0"/>
              <a:t> </a:t>
            </a:r>
            <a:r>
              <a:rPr lang="en-US" dirty="0" err="1"/>
              <a:t>cầu</a:t>
            </a:r>
            <a:r>
              <a:rPr lang="en-US" dirty="0"/>
              <a:t>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graphicFrame>
        <p:nvGraphicFramePr>
          <p:cNvPr id="6" name="Table 5">
            <a:extLst>
              <a:ext uri="{FF2B5EF4-FFF2-40B4-BE49-F238E27FC236}">
                <a16:creationId xmlns:a16="http://schemas.microsoft.com/office/drawing/2014/main" id="{8F18B873-1BB3-719E-0D7F-071A9D5C7AE2}"/>
              </a:ext>
            </a:extLst>
          </p:cNvPr>
          <p:cNvGraphicFramePr>
            <a:graphicFrameLocks noGrp="1"/>
          </p:cNvGraphicFramePr>
          <p:nvPr>
            <p:extLst>
              <p:ext uri="{D42A27DB-BD31-4B8C-83A1-F6EECF244321}">
                <p14:modId xmlns:p14="http://schemas.microsoft.com/office/powerpoint/2010/main" val="3153554004"/>
              </p:ext>
            </p:extLst>
          </p:nvPr>
        </p:nvGraphicFramePr>
        <p:xfrm>
          <a:off x="387927" y="1173738"/>
          <a:ext cx="8414329" cy="5185272"/>
        </p:xfrm>
        <a:graphic>
          <a:graphicData uri="http://schemas.openxmlformats.org/drawingml/2006/table">
            <a:tbl>
              <a:tblPr/>
              <a:tblGrid>
                <a:gridCol w="1173018">
                  <a:extLst>
                    <a:ext uri="{9D8B030D-6E8A-4147-A177-3AD203B41FA5}">
                      <a16:colId xmlns:a16="http://schemas.microsoft.com/office/drawing/2014/main" val="2837660141"/>
                    </a:ext>
                  </a:extLst>
                </a:gridCol>
                <a:gridCol w="2401455">
                  <a:extLst>
                    <a:ext uri="{9D8B030D-6E8A-4147-A177-3AD203B41FA5}">
                      <a16:colId xmlns:a16="http://schemas.microsoft.com/office/drawing/2014/main" val="1282066796"/>
                    </a:ext>
                  </a:extLst>
                </a:gridCol>
                <a:gridCol w="4193309">
                  <a:extLst>
                    <a:ext uri="{9D8B030D-6E8A-4147-A177-3AD203B41FA5}">
                      <a16:colId xmlns:a16="http://schemas.microsoft.com/office/drawing/2014/main" val="3828239356"/>
                    </a:ext>
                  </a:extLst>
                </a:gridCol>
                <a:gridCol w="646547">
                  <a:extLst>
                    <a:ext uri="{9D8B030D-6E8A-4147-A177-3AD203B41FA5}">
                      <a16:colId xmlns:a16="http://schemas.microsoft.com/office/drawing/2014/main" val="3331291756"/>
                    </a:ext>
                  </a:extLst>
                </a:gridCol>
              </a:tblGrid>
              <a:tr h="844368">
                <a:tc>
                  <a:txBody>
                    <a:bodyPr/>
                    <a:lstStyle/>
                    <a:p>
                      <a:pPr algn="ctr" fontAlgn="base"/>
                      <a:r>
                        <a:rPr lang="en-US" sz="1100" b="1" i="0" dirty="0" err="1">
                          <a:solidFill>
                            <a:srgbClr val="000000"/>
                          </a:solidFill>
                          <a:effectLst/>
                          <a:latin typeface="Aptos" panose="020B0004020202020204" pitchFamily="34" charset="0"/>
                        </a:rPr>
                        <a:t>Thứ</a:t>
                      </a:r>
                      <a:r>
                        <a:rPr lang="en-US" sz="1100" b="1" i="0" dirty="0">
                          <a:solidFill>
                            <a:srgbClr val="000000"/>
                          </a:solidFill>
                          <a:effectLst/>
                          <a:latin typeface="Aptos" panose="020B0004020202020204" pitchFamily="34" charset="0"/>
                        </a:rPr>
                        <a:t> </a:t>
                      </a:r>
                      <a:r>
                        <a:rPr lang="en-US" sz="1100" b="1" i="0" dirty="0" err="1">
                          <a:solidFill>
                            <a:srgbClr val="000000"/>
                          </a:solidFill>
                          <a:effectLst/>
                          <a:latin typeface="Aptos" panose="020B0004020202020204" pitchFamily="34" charset="0"/>
                        </a:rPr>
                        <a:t>tự</a:t>
                      </a:r>
                      <a:r>
                        <a:rPr lang="en-US" sz="1100" b="1" i="0" dirty="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en-US" sz="1100" b="1" i="0" dirty="0" err="1">
                          <a:solidFill>
                            <a:srgbClr val="000000"/>
                          </a:solidFill>
                          <a:effectLst/>
                          <a:latin typeface="Aptos" panose="020B0004020202020204" pitchFamily="34" charset="0"/>
                        </a:rPr>
                        <a:t>Yêu</a:t>
                      </a:r>
                      <a:r>
                        <a:rPr lang="en-US" sz="1100" b="1" i="0" dirty="0">
                          <a:solidFill>
                            <a:srgbClr val="000000"/>
                          </a:solidFill>
                          <a:effectLst/>
                          <a:latin typeface="Aptos" panose="020B0004020202020204" pitchFamily="34" charset="0"/>
                        </a:rPr>
                        <a:t> </a:t>
                      </a:r>
                      <a:r>
                        <a:rPr lang="en-US" sz="1100" b="1" i="0" dirty="0" err="1">
                          <a:solidFill>
                            <a:srgbClr val="000000"/>
                          </a:solidFill>
                          <a:effectLst/>
                          <a:latin typeface="Aptos" panose="020B0004020202020204" pitchFamily="34" charset="0"/>
                        </a:rPr>
                        <a:t>cầu</a:t>
                      </a:r>
                      <a:r>
                        <a:rPr lang="en-US" sz="1100" b="1" i="0" dirty="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en-US" sz="1100" b="1" i="0">
                          <a:solidFill>
                            <a:srgbClr val="000000"/>
                          </a:solidFill>
                          <a:effectLst/>
                          <a:latin typeface="Aptos" panose="020B0004020202020204" pitchFamily="34" charset="0"/>
                        </a:rPr>
                        <a:t>Chức năng, thông số,...</a:t>
                      </a:r>
                      <a:r>
                        <a:rPr lang="en-US" sz="1100" b="1" i="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vi-VN" sz="1100" b="1" i="0">
                          <a:solidFill>
                            <a:srgbClr val="000000"/>
                          </a:solidFill>
                          <a:effectLst/>
                          <a:latin typeface="Aptos" panose="020B0004020202020204" pitchFamily="34" charset="0"/>
                        </a:rPr>
                        <a:t>Mức độ ưu tiên</a:t>
                      </a:r>
                      <a:r>
                        <a:rPr lang="vi-VN" sz="1100" b="1" i="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7457397"/>
                  </a:ext>
                </a:extLst>
              </a:tr>
              <a:tr h="586800">
                <a:tc>
                  <a:txBody>
                    <a:bodyPr/>
                    <a:lstStyle/>
                    <a:p>
                      <a:pPr algn="ctr" fontAlgn="base"/>
                      <a:r>
                        <a:rPr lang="en-US" sz="1100" b="1" i="0">
                          <a:solidFill>
                            <a:srgbClr val="000000"/>
                          </a:solidFill>
                          <a:effectLst/>
                          <a:latin typeface="Aptos" panose="020B0004020202020204" pitchFamily="34" charset="0"/>
                        </a:rPr>
                        <a:t>1</a:t>
                      </a:r>
                      <a:r>
                        <a:rPr lang="en-US" sz="1100" b="1" i="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Dải</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đo</a:t>
                      </a:r>
                      <a:r>
                        <a:rPr lang="en-US" sz="1100" b="0" i="0" dirty="0">
                          <a:solidFill>
                            <a:srgbClr val="000000"/>
                          </a:solidFill>
                          <a:effectLst/>
                          <a:latin typeface="Aptos" panose="020B0004020202020204" pitchFamily="34" charset="0"/>
                        </a:rPr>
                        <a:t>​</a:t>
                      </a:r>
                      <a:br>
                        <a:rPr lang="en-US" sz="1100" b="0" i="0" dirty="0">
                          <a:solidFill>
                            <a:srgbClr val="000000"/>
                          </a:solidFill>
                          <a:effectLst/>
                          <a:latin typeface="Aptos" panose="020B0004020202020204" pitchFamily="34" charset="0"/>
                        </a:rPr>
                      </a:b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Độ</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chính</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xác</a:t>
                      </a:r>
                      <a:r>
                        <a:rPr lang="en-US" sz="1100" b="0" i="0" dirty="0">
                          <a:solidFill>
                            <a:srgbClr val="000000"/>
                          </a:solidFill>
                          <a:effectLst/>
                          <a:latin typeface="Aptos" panose="020B0004020202020204" pitchFamily="34" charset="0"/>
                        </a:rPr>
                        <a:t>​</a:t>
                      </a:r>
                      <a:br>
                        <a:rPr lang="en-US" sz="1100" b="0" i="0" dirty="0">
                          <a:solidFill>
                            <a:srgbClr val="000000"/>
                          </a:solidFill>
                          <a:effectLst/>
                          <a:latin typeface="Aptos" panose="020B0004020202020204" pitchFamily="34" charset="0"/>
                        </a:rPr>
                      </a:b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Độ</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phân</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giải</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hiển</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thị</a:t>
                      </a:r>
                      <a:r>
                        <a:rPr lang="en-US" sz="1100" b="0" i="0" dirty="0">
                          <a:solidFill>
                            <a:srgbClr val="000000"/>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a:solidFill>
                            <a:srgbClr val="000000"/>
                          </a:solidFill>
                          <a:effectLst/>
                          <a:latin typeface="Aptos" panose="020B0004020202020204" pitchFamily="34" charset="0"/>
                        </a:rPr>
                        <a:t>- Dải đo: 0-80 </a:t>
                      </a:r>
                      <a:r>
                        <a:rPr lang="en-US" sz="1100" b="0" i="0" baseline="30000">
                          <a:solidFill>
                            <a:srgbClr val="000000"/>
                          </a:solidFill>
                          <a:effectLst/>
                          <a:latin typeface="Aptos" panose="020B0004020202020204" pitchFamily="34" charset="0"/>
                        </a:rPr>
                        <a:t>o</a:t>
                      </a:r>
                      <a:r>
                        <a:rPr lang="en-US" sz="1100" b="0" i="0">
                          <a:solidFill>
                            <a:srgbClr val="000000"/>
                          </a:solidFill>
                          <a:effectLst/>
                          <a:latin typeface="Aptos" panose="020B0004020202020204" pitchFamily="34" charset="0"/>
                        </a:rPr>
                        <a:t>C (nhiệt độ), 0-100% (độ ẩm)​</a:t>
                      </a:r>
                      <a:br>
                        <a:rPr lang="en-US" sz="1100" b="0" i="0">
                          <a:solidFill>
                            <a:srgbClr val="000000"/>
                          </a:solidFill>
                          <a:effectLst/>
                          <a:latin typeface="Aptos" panose="020B0004020202020204" pitchFamily="34" charset="0"/>
                        </a:rPr>
                      </a:br>
                      <a:r>
                        <a:rPr lang="en-US" sz="1100" b="0" i="0">
                          <a:solidFill>
                            <a:srgbClr val="000000"/>
                          </a:solidFill>
                          <a:effectLst/>
                          <a:latin typeface="Aptos" panose="020B0004020202020204" pitchFamily="34" charset="0"/>
                        </a:rPr>
                        <a:t>- Độ chính xác: ±1</a:t>
                      </a:r>
                      <a:r>
                        <a:rPr lang="en-US" sz="1100" b="0" i="0" baseline="30000">
                          <a:solidFill>
                            <a:srgbClr val="000000"/>
                          </a:solidFill>
                          <a:effectLst/>
                          <a:latin typeface="Aptos" panose="020B0004020202020204" pitchFamily="34" charset="0"/>
                        </a:rPr>
                        <a:t>o</a:t>
                      </a:r>
                      <a:r>
                        <a:rPr lang="en-US" sz="1100" b="0" i="0">
                          <a:solidFill>
                            <a:srgbClr val="000000"/>
                          </a:solidFill>
                          <a:effectLst/>
                          <a:latin typeface="Aptos" panose="020B0004020202020204" pitchFamily="34" charset="0"/>
                        </a:rPr>
                        <a:t>C​</a:t>
                      </a:r>
                      <a:br>
                        <a:rPr lang="en-US" sz="1100" b="0" i="0">
                          <a:solidFill>
                            <a:srgbClr val="000000"/>
                          </a:solidFill>
                          <a:effectLst/>
                          <a:latin typeface="Aptos" panose="020B0004020202020204" pitchFamily="34" charset="0"/>
                        </a:rPr>
                      </a:br>
                      <a:r>
                        <a:rPr lang="en-US" sz="1100" b="0" i="0">
                          <a:solidFill>
                            <a:srgbClr val="000000"/>
                          </a:solidFill>
                          <a:effectLst/>
                          <a:latin typeface="Aptos" panose="020B0004020202020204" pitchFamily="34" charset="0"/>
                        </a:rPr>
                        <a:t>- Độ phân giải hiển thị: 0.1 </a:t>
                      </a:r>
                      <a:r>
                        <a:rPr lang="en-US" sz="1100" b="0" i="0" baseline="30000">
                          <a:solidFill>
                            <a:srgbClr val="000000"/>
                          </a:solidFill>
                          <a:effectLst/>
                          <a:latin typeface="Aptos" panose="020B0004020202020204" pitchFamily="34" charset="0"/>
                        </a:rPr>
                        <a:t>o</a:t>
                      </a:r>
                      <a:r>
                        <a:rPr lang="en-US" sz="1100" b="0" i="0">
                          <a:solidFill>
                            <a:srgbClr val="000000"/>
                          </a:solidFill>
                          <a:effectLst/>
                          <a:latin typeface="Aptos" panose="020B0004020202020204" pitchFamily="34" charset="0"/>
                        </a:rPr>
                        <a:t>C (nhiệt độ), 1% (độ ẩm)​</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en-US" sz="1100" b="0" i="0">
                          <a:solidFill>
                            <a:srgbClr val="000000"/>
                          </a:solidFill>
                          <a:effectLst/>
                          <a:latin typeface="Aptos" panose="020B0004020202020204" pitchFamily="34" charset="0"/>
                        </a:rPr>
                        <a:t>1​</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5542203"/>
                  </a:ext>
                </a:extLst>
              </a:tr>
              <a:tr h="415087">
                <a:tc>
                  <a:txBody>
                    <a:bodyPr/>
                    <a:lstStyle/>
                    <a:p>
                      <a:pPr algn="ctr" fontAlgn="base"/>
                      <a:r>
                        <a:rPr lang="en-US" sz="1100" b="1" i="0">
                          <a:solidFill>
                            <a:srgbClr val="000000"/>
                          </a:solidFill>
                          <a:effectLst/>
                          <a:latin typeface="Aptos" panose="020B0004020202020204" pitchFamily="34" charset="0"/>
                        </a:rPr>
                        <a:t>2</a:t>
                      </a:r>
                      <a:r>
                        <a:rPr lang="en-US" sz="1100" b="1" i="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dirty="0" err="1">
                          <a:solidFill>
                            <a:srgbClr val="000000"/>
                          </a:solidFill>
                          <a:effectLst/>
                          <a:latin typeface="Aptos" panose="020B0004020202020204" pitchFamily="34" charset="0"/>
                        </a:rPr>
                        <a:t>Độ</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trễ</a:t>
                      </a:r>
                      <a:r>
                        <a:rPr lang="en-US" sz="1100" b="0" i="0" dirty="0">
                          <a:solidFill>
                            <a:srgbClr val="000000"/>
                          </a:solidFill>
                          <a:effectLst/>
                          <a:latin typeface="Aptos" panose="020B0004020202020204" pitchFamily="34" charset="0"/>
                        </a:rPr>
                        <a:t>, chu </a:t>
                      </a:r>
                      <a:r>
                        <a:rPr lang="en-US" sz="1100" b="0" i="0" dirty="0" err="1">
                          <a:solidFill>
                            <a:srgbClr val="000000"/>
                          </a:solidFill>
                          <a:effectLst/>
                          <a:latin typeface="Aptos" panose="020B0004020202020204" pitchFamily="34" charset="0"/>
                        </a:rPr>
                        <a:t>kì</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lấy</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mẫu</a:t>
                      </a:r>
                      <a:r>
                        <a:rPr lang="en-US" sz="1100" b="0" i="0" dirty="0">
                          <a:solidFill>
                            <a:srgbClr val="000000"/>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a:solidFill>
                            <a:srgbClr val="000000"/>
                          </a:solidFill>
                          <a:effectLst/>
                          <a:latin typeface="Aptos" panose="020B0004020202020204" pitchFamily="34" charset="0"/>
                        </a:rPr>
                        <a:t>- Độ trễ &lt;30s​</a:t>
                      </a:r>
                      <a:br>
                        <a:rPr lang="en-US" sz="1100" b="0" i="0">
                          <a:solidFill>
                            <a:srgbClr val="000000"/>
                          </a:solidFill>
                          <a:effectLst/>
                          <a:latin typeface="Aptos" panose="020B0004020202020204" pitchFamily="34" charset="0"/>
                        </a:rPr>
                      </a:br>
                      <a:r>
                        <a:rPr lang="en-US" sz="1100" b="0" i="0">
                          <a:solidFill>
                            <a:srgbClr val="000000"/>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en-US" sz="1100" b="0" i="0">
                          <a:solidFill>
                            <a:srgbClr val="000000"/>
                          </a:solidFill>
                          <a:effectLst/>
                          <a:latin typeface="Aptos" panose="020B0004020202020204" pitchFamily="34" charset="0"/>
                        </a:rPr>
                        <a:t>1​</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714110"/>
                  </a:ext>
                </a:extLst>
              </a:tr>
              <a:tr h="334423">
                <a:tc>
                  <a:txBody>
                    <a:bodyPr/>
                    <a:lstStyle/>
                    <a:p>
                      <a:pPr algn="ctr" fontAlgn="base"/>
                      <a:r>
                        <a:rPr lang="en-US" sz="1100" b="1" i="0">
                          <a:solidFill>
                            <a:srgbClr val="000000"/>
                          </a:solidFill>
                          <a:effectLst/>
                          <a:latin typeface="Aptos" panose="020B0004020202020204" pitchFamily="34" charset="0"/>
                        </a:rPr>
                        <a:t>3</a:t>
                      </a:r>
                      <a:r>
                        <a:rPr lang="en-US" sz="1100" b="1" i="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a:solidFill>
                            <a:srgbClr val="000000"/>
                          </a:solidFill>
                          <a:effectLst/>
                          <a:latin typeface="Aptos" panose="020B0004020202020204" pitchFamily="34" charset="0"/>
                        </a:rPr>
                        <a:t>Kết nối máy tính​</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a:solidFill>
                            <a:srgbClr val="000000"/>
                          </a:solidFill>
                          <a:effectLst/>
                          <a:latin typeface="Aptos" panose="020B0004020202020204" pitchFamily="34" charset="0"/>
                        </a:rPr>
                        <a:t>Khoảng cách truyền từ khu vực đo đến máy tính phạm vi 100 m.​</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en-US" sz="1100" b="0" i="0">
                          <a:solidFill>
                            <a:srgbClr val="000000"/>
                          </a:solidFill>
                          <a:effectLst/>
                          <a:latin typeface="Aptos" panose="020B0004020202020204" pitchFamily="34" charset="0"/>
                        </a:rPr>
                        <a:t>1​</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043378"/>
                  </a:ext>
                </a:extLst>
              </a:tr>
              <a:tr h="414020">
                <a:tc>
                  <a:txBody>
                    <a:bodyPr/>
                    <a:lstStyle/>
                    <a:p>
                      <a:pPr algn="ctr" fontAlgn="base"/>
                      <a:r>
                        <a:rPr lang="en-US" sz="1100" b="1" i="0">
                          <a:solidFill>
                            <a:srgbClr val="000000"/>
                          </a:solidFill>
                          <a:effectLst/>
                          <a:latin typeface="Aptos" panose="020B0004020202020204" pitchFamily="34" charset="0"/>
                        </a:rPr>
                        <a:t>4</a:t>
                      </a:r>
                      <a:r>
                        <a:rPr lang="en-US" sz="1100" b="1" i="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a:solidFill>
                            <a:srgbClr val="000000"/>
                          </a:solidFill>
                          <a:effectLst/>
                          <a:latin typeface="Aptos" panose="020B0004020202020204" pitchFamily="34" charset="0"/>
                        </a:rPr>
                        <a:t>Quản lý tối thiểu​</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dirty="0">
                          <a:solidFill>
                            <a:srgbClr val="000000"/>
                          </a:solidFill>
                          <a:effectLst/>
                          <a:latin typeface="Aptos" panose="020B0004020202020204" pitchFamily="34" charset="0"/>
                        </a:rPr>
                        <a:t>100 </a:t>
                      </a:r>
                      <a:r>
                        <a:rPr lang="en-US" sz="1100" b="0" i="0" dirty="0" err="1">
                          <a:solidFill>
                            <a:srgbClr val="000000"/>
                          </a:solidFill>
                          <a:effectLst/>
                          <a:latin typeface="Aptos" panose="020B0004020202020204" pitchFamily="34" charset="0"/>
                        </a:rPr>
                        <a:t>thiết</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bị</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đo</a:t>
                      </a:r>
                      <a:r>
                        <a:rPr lang="en-US" sz="1100" b="0" i="0" dirty="0">
                          <a:solidFill>
                            <a:srgbClr val="000000"/>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en-US" sz="1100" b="0" i="0">
                          <a:solidFill>
                            <a:srgbClr val="000000"/>
                          </a:solidFill>
                          <a:effectLst/>
                          <a:latin typeface="Aptos" panose="020B0004020202020204" pitchFamily="34" charset="0"/>
                        </a:rPr>
                        <a:t>2​</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9479813"/>
                  </a:ext>
                </a:extLst>
              </a:tr>
              <a:tr h="586800">
                <a:tc>
                  <a:txBody>
                    <a:bodyPr/>
                    <a:lstStyle/>
                    <a:p>
                      <a:pPr algn="ctr" fontAlgn="base"/>
                      <a:r>
                        <a:rPr lang="en-US" sz="1100" b="1" i="0">
                          <a:solidFill>
                            <a:srgbClr val="000000"/>
                          </a:solidFill>
                          <a:effectLst/>
                          <a:latin typeface="Aptos" panose="020B0004020202020204" pitchFamily="34" charset="0"/>
                        </a:rPr>
                        <a:t>5</a:t>
                      </a:r>
                      <a:r>
                        <a:rPr lang="en-US" sz="1100" b="1" i="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vi-VN" sz="1100" b="0" i="0" dirty="0">
                          <a:solidFill>
                            <a:srgbClr val="000000"/>
                          </a:solidFill>
                          <a:effectLst/>
                          <a:latin typeface="Aptos" panose="020B0004020202020204" pitchFamily="34" charset="0"/>
                        </a:rPr>
                        <a:t>Năng lượng tiêu thụ​</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vi-VN" sz="1100" b="0" i="0" dirty="0">
                          <a:solidFill>
                            <a:srgbClr val="000000"/>
                          </a:solidFill>
                          <a:effectLst/>
                          <a:latin typeface="Aptos" panose="020B0004020202020204" pitchFamily="34" charset="0"/>
                        </a:rPr>
                        <a:t>- Thiết bị sử dụng pin, tuổi thọ pin/nút: ≥ 2 năm (với chế độ tiết kiệm năng lượng).​</a:t>
                      </a:r>
                    </a:p>
                    <a:p>
                      <a:pPr algn="l" fontAlgn="base"/>
                      <a:r>
                        <a:rPr lang="vi-VN" sz="1100" b="0" i="0" dirty="0">
                          <a:solidFill>
                            <a:srgbClr val="000000"/>
                          </a:solidFill>
                          <a:effectLst/>
                          <a:latin typeface="Aptos" panose="020B0004020202020204" pitchFamily="34" charset="0"/>
                        </a:rPr>
                        <a:t>- Pin có thể thay thế, sạc lại.​</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vi-VN" sz="1100" b="0" i="0">
                          <a:solidFill>
                            <a:srgbClr val="000000"/>
                          </a:solidFill>
                          <a:effectLst/>
                          <a:latin typeface="Aptos" panose="020B0004020202020204" pitchFamily="34" charset="0"/>
                        </a:rPr>
                        <a:t>1​</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2295651"/>
                  </a:ext>
                </a:extLst>
              </a:tr>
              <a:tr h="415087">
                <a:tc rowSpan="2">
                  <a:txBody>
                    <a:bodyPr/>
                    <a:lstStyle/>
                    <a:p>
                      <a:pPr algn="ctr" fontAlgn="base"/>
                      <a:r>
                        <a:rPr lang="en-US" sz="1100" b="1" i="0">
                          <a:solidFill>
                            <a:srgbClr val="000000"/>
                          </a:solidFill>
                          <a:effectLst/>
                          <a:latin typeface="Aptos" panose="020B0004020202020204" pitchFamily="34" charset="0"/>
                        </a:rPr>
                        <a:t>7</a:t>
                      </a:r>
                      <a:r>
                        <a:rPr lang="en-US" sz="1100" b="1" i="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rowSpan="2">
                  <a:txBody>
                    <a:bodyPr/>
                    <a:lstStyle/>
                    <a:p>
                      <a:pPr algn="l" fontAlgn="base"/>
                      <a:r>
                        <a:rPr lang="en-US" sz="1100" b="0" i="0">
                          <a:solidFill>
                            <a:srgbClr val="000000"/>
                          </a:solidFill>
                          <a:effectLst/>
                          <a:latin typeface="Aptos" panose="020B0004020202020204" pitchFamily="34" charset="0"/>
                        </a:rPr>
                        <a:t>Phần mềm máy tính​</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vi-VN" sz="1100" b="0" i="0" dirty="0">
                          <a:solidFill>
                            <a:srgbClr val="000000"/>
                          </a:solidFill>
                          <a:effectLst/>
                          <a:latin typeface="Aptos" panose="020B0004020202020204" pitchFamily="34" charset="0"/>
                        </a:rPr>
                        <a:t>- Cảnh báo vượt ngưỡng: LED tại nút + thông báo qua server.​</a:t>
                      </a:r>
                    </a:p>
                    <a:p>
                      <a:pPr algn="l" fontAlgn="base"/>
                      <a:r>
                        <a:rPr lang="vi-VN" sz="1100" b="0" i="0" dirty="0">
                          <a:solidFill>
                            <a:srgbClr val="000000"/>
                          </a:solidFill>
                          <a:effectLst/>
                          <a:latin typeface="Aptos" panose="020B0004020202020204" pitchFamily="34" charset="0"/>
                        </a:rPr>
                        <a:t>- Có thể cấu hình ngưỡng nhiệt độ, độ ẩm và chu kỳ đo từ xa​</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en-US" sz="1100" b="0" i="0">
                          <a:solidFill>
                            <a:srgbClr val="000000"/>
                          </a:solidFill>
                          <a:effectLst/>
                          <a:latin typeface="Aptos" panose="020B0004020202020204" pitchFamily="34" charset="0"/>
                        </a:rPr>
                        <a:t>2​</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4525427"/>
                  </a:ext>
                </a:extLst>
              </a:tr>
              <a:tr h="586800">
                <a:tc vMerge="1">
                  <a:txBody>
                    <a:bodyPr/>
                    <a:lstStyle/>
                    <a:p>
                      <a:endParaRPr lang="en-US"/>
                    </a:p>
                  </a:txBody>
                  <a:tcPr/>
                </a:tc>
                <a:tc vMerge="1">
                  <a:txBody>
                    <a:bodyPr/>
                    <a:lstStyle/>
                    <a:p>
                      <a:endParaRPr lang="en-US"/>
                    </a:p>
                  </a:txBody>
                  <a:tcPr/>
                </a:tc>
                <a:tc>
                  <a:txBody>
                    <a:bodyPr/>
                    <a:lstStyle/>
                    <a:p>
                      <a:pPr algn="l" fontAlgn="base"/>
                      <a:r>
                        <a:rPr lang="en-US" sz="1100" b="0" i="0" dirty="0">
                          <a:solidFill>
                            <a:srgbClr val="000000"/>
                          </a:solidFill>
                          <a:effectLst/>
                          <a:latin typeface="Aptos" panose="020B0004020202020204" pitchFamily="34" charset="0"/>
                        </a:rPr>
                        <a:t>- Thu </a:t>
                      </a:r>
                      <a:r>
                        <a:rPr lang="en-US" sz="1100" b="0" i="0" dirty="0" err="1">
                          <a:solidFill>
                            <a:srgbClr val="000000"/>
                          </a:solidFill>
                          <a:effectLst/>
                          <a:latin typeface="Aptos" panose="020B0004020202020204" pitchFamily="34" charset="0"/>
                        </a:rPr>
                        <a:t>thập</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giá</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trị</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đo</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từ</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thiết</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bị</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đo</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quản</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lý</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dữ</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liệu</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xuất</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báo</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cáo</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dạng</a:t>
                      </a:r>
                      <a:r>
                        <a:rPr lang="en-US" sz="1100" b="0" i="0" dirty="0">
                          <a:solidFill>
                            <a:srgbClr val="000000"/>
                          </a:solidFill>
                          <a:effectLst/>
                          <a:latin typeface="Aptos" panose="020B0004020202020204" pitchFamily="34" charset="0"/>
                        </a:rPr>
                        <a:t> excel. ​</a:t>
                      </a:r>
                    </a:p>
                    <a:p>
                      <a:pPr algn="l" fontAlgn="base"/>
                      <a:r>
                        <a:rPr lang="en-US" sz="1100" b="0" i="0" dirty="0">
                          <a:solidFill>
                            <a:srgbClr val="000000"/>
                          </a:solidFill>
                          <a:effectLst/>
                          <a:latin typeface="Aptos" panose="020B0004020202020204" pitchFamily="34" charset="0"/>
                        </a:rPr>
                        <a:t>- Giao </a:t>
                      </a:r>
                      <a:r>
                        <a:rPr lang="en-US" sz="1100" b="0" i="0" dirty="0" err="1">
                          <a:solidFill>
                            <a:srgbClr val="000000"/>
                          </a:solidFill>
                          <a:effectLst/>
                          <a:latin typeface="Aptos" panose="020B0004020202020204" pitchFamily="34" charset="0"/>
                        </a:rPr>
                        <a:t>diện</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hiển</a:t>
                      </a:r>
                      <a:r>
                        <a:rPr lang="en-US" sz="1100" b="0" i="0" dirty="0">
                          <a:solidFill>
                            <a:srgbClr val="000000"/>
                          </a:solidFill>
                          <a:effectLst/>
                          <a:latin typeface="Aptos" panose="020B0004020202020204" pitchFamily="34" charset="0"/>
                        </a:rPr>
                        <a:t> </a:t>
                      </a:r>
                      <a:r>
                        <a:rPr lang="en-US" sz="1100" b="0" i="0" dirty="0" err="1">
                          <a:solidFill>
                            <a:srgbClr val="000000"/>
                          </a:solidFill>
                          <a:effectLst/>
                          <a:latin typeface="Aptos" panose="020B0004020202020204" pitchFamily="34" charset="0"/>
                        </a:rPr>
                        <a:t>thị</a:t>
                      </a:r>
                      <a:r>
                        <a:rPr lang="en-US" sz="1100" b="0" i="0" dirty="0">
                          <a:solidFill>
                            <a:srgbClr val="000000"/>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vi-VN" sz="1100" b="0" i="0">
                          <a:solidFill>
                            <a:srgbClr val="000000"/>
                          </a:solidFill>
                          <a:effectLst/>
                          <a:latin typeface="Aptos" panose="020B0004020202020204" pitchFamily="34" charset="0"/>
                        </a:rPr>
                        <a:t>2​</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8988173"/>
                  </a:ext>
                </a:extLst>
              </a:tr>
              <a:tr h="586800">
                <a:tc>
                  <a:txBody>
                    <a:bodyPr/>
                    <a:lstStyle/>
                    <a:p>
                      <a:pPr algn="ctr" fontAlgn="base"/>
                      <a:r>
                        <a:rPr lang="vi-VN" sz="1100" b="1" i="0">
                          <a:solidFill>
                            <a:srgbClr val="000000"/>
                          </a:solidFill>
                          <a:effectLst/>
                          <a:latin typeface="Aptos" panose="020B0004020202020204" pitchFamily="34" charset="0"/>
                        </a:rPr>
                        <a:t>8</a:t>
                      </a:r>
                      <a:r>
                        <a:rPr lang="vi-VN" sz="1100" b="1" i="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vi-VN" sz="1100" b="0" i="0">
                          <a:solidFill>
                            <a:srgbClr val="000000"/>
                          </a:solidFill>
                          <a:effectLst/>
                          <a:latin typeface="Aptos" panose="020B0004020202020204" pitchFamily="34" charset="0"/>
                        </a:rPr>
                        <a:t>Bảo mật, chi phí,kích thước, trọng lượng​</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vi-VN" sz="1100" b="0" i="0">
                          <a:solidFill>
                            <a:srgbClr val="000000"/>
                          </a:solidFill>
                          <a:effectLst/>
                          <a:latin typeface="Aptos" panose="020B0004020202020204" pitchFamily="34" charset="0"/>
                        </a:rPr>
                        <a:t>- Kích thước (dự kiến): 50 cm x 80 cm (nhỏ gọn, có tiềm năng phục vụ chuẩn chống nước IP65)​</a:t>
                      </a:r>
                    </a:p>
                    <a:p>
                      <a:pPr algn="l" fontAlgn="base"/>
                      <a:r>
                        <a:rPr lang="vi-VN" sz="1100" b="0" i="0">
                          <a:solidFill>
                            <a:srgbClr val="000000"/>
                          </a:solidFill>
                          <a:effectLst/>
                          <a:latin typeface="Aptos" panose="020B0004020202020204" pitchFamily="34" charset="0"/>
                        </a:rPr>
                        <a:t>- Trọng lượng (dự kiến): &lt;150g.​</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en-US" sz="1100" b="0" i="0" dirty="0">
                          <a:solidFill>
                            <a:srgbClr val="000000"/>
                          </a:solidFill>
                          <a:effectLst/>
                          <a:latin typeface="Aptos" panose="020B0004020202020204" pitchFamily="34" charset="0"/>
                        </a:rPr>
                        <a:t>3​</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8304921"/>
                  </a:ext>
                </a:extLst>
              </a:tr>
              <a:tr h="415087">
                <a:tc>
                  <a:txBody>
                    <a:bodyPr/>
                    <a:lstStyle/>
                    <a:p>
                      <a:pPr algn="ctr" fontAlgn="base"/>
                      <a:r>
                        <a:rPr lang="vi-VN" sz="1100" b="1" i="0" dirty="0">
                          <a:solidFill>
                            <a:srgbClr val="000000"/>
                          </a:solidFill>
                          <a:effectLst/>
                          <a:latin typeface="Aptos" panose="020B0004020202020204" pitchFamily="34" charset="0"/>
                        </a:rPr>
                        <a:t>9</a:t>
                      </a:r>
                      <a:r>
                        <a:rPr lang="vi-VN" sz="1100" b="1" i="0" dirty="0">
                          <a:solidFill>
                            <a:srgbClr val="FFFFFF"/>
                          </a:solidFill>
                          <a:effectLst/>
                          <a:latin typeface="Aptos" panose="020B0004020202020204" pitchFamily="34" charset="0"/>
                        </a:rPr>
                        <a:t>​</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a:solidFill>
                            <a:srgbClr val="000000"/>
                          </a:solidFill>
                          <a:effectLst/>
                          <a:latin typeface="Aptos" panose="020B0004020202020204" pitchFamily="34" charset="0"/>
                        </a:rPr>
                        <a:t>OTA​</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r>
                        <a:rPr lang="en-US" sz="1100" b="0" i="0">
                          <a:solidFill>
                            <a:srgbClr val="000000"/>
                          </a:solidFill>
                          <a:effectLst/>
                          <a:latin typeface="Aptos" panose="020B0004020202020204" pitchFamily="34" charset="0"/>
                        </a:rPr>
                        <a:t>Cập nhật phần mềm từ xa​</a:t>
                      </a:r>
                    </a:p>
                    <a:p>
                      <a:pPr algn="l" fontAlgn="base"/>
                      <a:r>
                        <a:rPr lang="en-US" sz="1100" b="0" i="0">
                          <a:solidFill>
                            <a:srgbClr val="000000"/>
                          </a:solidFill>
                          <a:effectLst/>
                          <a:latin typeface="Aptos" panose="020B0004020202020204" pitchFamily="34" charset="0"/>
                        </a:rPr>
                        <a:t>Khả năng tái cấu hình của mạng​</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ctr" fontAlgn="base"/>
                      <a:r>
                        <a:rPr lang="en-US" sz="1100" b="0" i="0" dirty="0">
                          <a:solidFill>
                            <a:srgbClr val="000000"/>
                          </a:solidFill>
                          <a:effectLst/>
                          <a:latin typeface="Aptos" panose="020B0004020202020204" pitchFamily="34" charset="0"/>
                        </a:rPr>
                        <a:t>3​</a:t>
                      </a:r>
                    </a:p>
                  </a:txBody>
                  <a:tcPr marL="50882" marR="50882" marT="25441" marB="2544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953883"/>
                  </a:ext>
                </a:extLst>
              </a:tr>
            </a:tbl>
          </a:graphicData>
        </a:graphic>
      </p:graphicFrame>
      <p:sp>
        <p:nvSpPr>
          <p:cNvPr id="7" name="Rectangle 1">
            <a:extLst>
              <a:ext uri="{FF2B5EF4-FFF2-40B4-BE49-F238E27FC236}">
                <a16:creationId xmlns:a16="http://schemas.microsoft.com/office/drawing/2014/main" id="{2D73F1F5-D896-4000-2684-8388700B56D7}"/>
              </a:ext>
            </a:extLst>
          </p:cNvPr>
          <p:cNvSpPr>
            <a:spLocks noChangeArrowheads="1"/>
          </p:cNvSpPr>
          <p:nvPr/>
        </p:nvSpPr>
        <p:spPr bwMode="auto">
          <a:xfrm>
            <a:off x="387927" y="164861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9238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6" name="TextBox 5">
            <a:extLst>
              <a:ext uri="{FF2B5EF4-FFF2-40B4-BE49-F238E27FC236}">
                <a16:creationId xmlns:a16="http://schemas.microsoft.com/office/drawing/2014/main" id="{2844C234-3DB8-8C56-A726-A68DDC17ABD9}"/>
              </a:ext>
            </a:extLst>
          </p:cNvPr>
          <p:cNvSpPr txBox="1"/>
          <p:nvPr/>
        </p:nvSpPr>
        <p:spPr>
          <a:xfrm>
            <a:off x="396115" y="905123"/>
            <a:ext cx="4926443" cy="2246769"/>
          </a:xfrm>
          <a:prstGeom prst="rect">
            <a:avLst/>
          </a:prstGeom>
          <a:noFill/>
        </p:spPr>
        <p:txBody>
          <a:bodyPr wrap="square" rtlCol="0">
            <a:spAutoFit/>
          </a:bodyPr>
          <a:lstStyle/>
          <a:p>
            <a:r>
              <a:rPr lang="en-US" sz="1400" dirty="0"/>
              <a:t>5.2 </a:t>
            </a:r>
            <a:r>
              <a:rPr lang="en-US" sz="1400" dirty="0" err="1"/>
              <a:t>Các</a:t>
            </a:r>
            <a:r>
              <a:rPr lang="en-US" sz="1400" dirty="0"/>
              <a:t> </a:t>
            </a:r>
            <a:r>
              <a:rPr lang="en-US" sz="1400" dirty="0" err="1"/>
              <a:t>cấu</a:t>
            </a:r>
            <a:r>
              <a:rPr lang="en-US" sz="1400" dirty="0"/>
              <a:t> </a:t>
            </a:r>
            <a:r>
              <a:rPr lang="en-US" sz="1400" dirty="0" err="1"/>
              <a:t>trúc</a:t>
            </a:r>
            <a:r>
              <a:rPr lang="en-US" sz="1400" dirty="0"/>
              <a:t> </a:t>
            </a:r>
            <a:r>
              <a:rPr lang="en-US" sz="1400" dirty="0" err="1"/>
              <a:t>mạng</a:t>
            </a:r>
            <a:r>
              <a:rPr lang="en-US" sz="1400" dirty="0"/>
              <a:t> </a:t>
            </a:r>
            <a:r>
              <a:rPr lang="en-US" sz="1400" dirty="0" err="1"/>
              <a:t>cảm</a:t>
            </a:r>
            <a:r>
              <a:rPr lang="en-US" sz="1400" dirty="0"/>
              <a:t> </a:t>
            </a:r>
            <a:r>
              <a:rPr lang="en-US" sz="1400" dirty="0" err="1"/>
              <a:t>biến</a:t>
            </a:r>
            <a:r>
              <a:rPr lang="en-US" sz="1400" dirty="0"/>
              <a:t> (Topology)</a:t>
            </a:r>
          </a:p>
          <a:p>
            <a:br>
              <a:rPr lang="en-US" dirty="0"/>
            </a:br>
            <a:endParaRPr lang="en-US" dirty="0"/>
          </a:p>
          <a:p>
            <a:br>
              <a:rPr lang="en-US" dirty="0"/>
            </a:br>
            <a:endParaRPr lang="en-US" dirty="0"/>
          </a:p>
          <a:p>
            <a:endParaRPr lang="en-US" dirty="0"/>
          </a:p>
          <a:p>
            <a:br>
              <a:rPr lang="en-US" dirty="0"/>
            </a:br>
            <a:endParaRPr lang="en-US" dirty="0"/>
          </a:p>
        </p:txBody>
      </p:sp>
      <p:sp>
        <p:nvSpPr>
          <p:cNvPr id="8" name="TextBox 7">
            <a:extLst>
              <a:ext uri="{FF2B5EF4-FFF2-40B4-BE49-F238E27FC236}">
                <a16:creationId xmlns:a16="http://schemas.microsoft.com/office/drawing/2014/main" id="{1704D90E-2E47-79E2-94D5-C3B292A7D7C4}"/>
              </a:ext>
            </a:extLst>
          </p:cNvPr>
          <p:cNvSpPr txBox="1"/>
          <p:nvPr/>
        </p:nvSpPr>
        <p:spPr>
          <a:xfrm>
            <a:off x="757383" y="5484317"/>
            <a:ext cx="7915563" cy="369332"/>
          </a:xfrm>
          <a:prstGeom prst="rect">
            <a:avLst/>
          </a:prstGeom>
          <a:noFill/>
        </p:spPr>
        <p:txBody>
          <a:bodyPr wrap="square" rtlCol="0">
            <a:spAutoFit/>
          </a:bodyPr>
          <a:lstStyle/>
          <a:p>
            <a:r>
              <a:rPr lang="en-US" dirty="0" err="1"/>
              <a:t>Lựa</a:t>
            </a:r>
            <a:r>
              <a:rPr lang="en-US" dirty="0"/>
              <a:t> </a:t>
            </a:r>
            <a:r>
              <a:rPr lang="en-US" dirty="0" err="1"/>
              <a:t>chọn</a:t>
            </a:r>
            <a:r>
              <a:rPr lang="en-US" dirty="0"/>
              <a:t> Star topology do </a:t>
            </a:r>
            <a:r>
              <a:rPr lang="en-US" dirty="0" err="1"/>
              <a:t>tiết</a:t>
            </a:r>
            <a:r>
              <a:rPr lang="en-US" dirty="0"/>
              <a:t> </a:t>
            </a:r>
            <a:r>
              <a:rPr lang="en-US" dirty="0" err="1"/>
              <a:t>kiệm</a:t>
            </a:r>
            <a:r>
              <a:rPr lang="en-US" dirty="0"/>
              <a:t> </a:t>
            </a:r>
            <a:r>
              <a:rPr lang="en-US" dirty="0" err="1"/>
              <a:t>năng</a:t>
            </a:r>
            <a:r>
              <a:rPr lang="en-US" dirty="0"/>
              <a:t> </a:t>
            </a:r>
            <a:r>
              <a:rPr lang="en-US" dirty="0" err="1"/>
              <a:t>lượng</a:t>
            </a:r>
            <a:r>
              <a:rPr lang="en-US" dirty="0"/>
              <a:t>, </a:t>
            </a:r>
            <a:r>
              <a:rPr lang="en-US" dirty="0" err="1"/>
              <a:t>độ</a:t>
            </a:r>
            <a:r>
              <a:rPr lang="en-US" dirty="0"/>
              <a:t> </a:t>
            </a:r>
            <a:r>
              <a:rPr lang="en-US" dirty="0" err="1"/>
              <a:t>trễ</a:t>
            </a:r>
            <a:r>
              <a:rPr lang="en-US" dirty="0"/>
              <a:t> </a:t>
            </a:r>
            <a:r>
              <a:rPr lang="en-US" dirty="0" err="1"/>
              <a:t>thấp</a:t>
            </a:r>
            <a:r>
              <a:rPr lang="en-US" dirty="0"/>
              <a:t>, </a:t>
            </a:r>
            <a:r>
              <a:rPr lang="en-US" dirty="0" err="1"/>
              <a:t>dễ</a:t>
            </a:r>
            <a:r>
              <a:rPr lang="en-US" dirty="0"/>
              <a:t> </a:t>
            </a:r>
            <a:r>
              <a:rPr lang="en-US" dirty="0" err="1"/>
              <a:t>bảo</a:t>
            </a:r>
            <a:r>
              <a:rPr lang="en-US" dirty="0"/>
              <a:t> </a:t>
            </a:r>
            <a:r>
              <a:rPr lang="en-US" dirty="0" err="1"/>
              <a:t>trì</a:t>
            </a:r>
            <a:endParaRPr lang="en-US" dirty="0"/>
          </a:p>
        </p:txBody>
      </p:sp>
      <p:pic>
        <p:nvPicPr>
          <p:cNvPr id="9" name="Image 6">
            <a:extLst>
              <a:ext uri="{FF2B5EF4-FFF2-40B4-BE49-F238E27FC236}">
                <a16:creationId xmlns:a16="http://schemas.microsoft.com/office/drawing/2014/main" id="{1DEAB4A6-E929-7676-5D48-7562B4E1CB76}"/>
              </a:ext>
            </a:extLst>
          </p:cNvPr>
          <p:cNvPicPr>
            <a:picLocks/>
          </p:cNvPicPr>
          <p:nvPr/>
        </p:nvPicPr>
        <p:blipFill>
          <a:blip r:embed="rId2" cstate="print"/>
          <a:stretch>
            <a:fillRect/>
          </a:stretch>
        </p:blipFill>
        <p:spPr>
          <a:xfrm>
            <a:off x="1404851" y="1704086"/>
            <a:ext cx="6334297" cy="3200672"/>
          </a:xfrm>
          <a:prstGeom prst="rect">
            <a:avLst/>
          </a:prstGeom>
        </p:spPr>
      </p:pic>
    </p:spTree>
    <p:extLst>
      <p:ext uri="{BB962C8B-B14F-4D97-AF65-F5344CB8AC3E}">
        <p14:creationId xmlns:p14="http://schemas.microsoft.com/office/powerpoint/2010/main" val="3651498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6" name="TextBox 5">
            <a:extLst>
              <a:ext uri="{FF2B5EF4-FFF2-40B4-BE49-F238E27FC236}">
                <a16:creationId xmlns:a16="http://schemas.microsoft.com/office/drawing/2014/main" id="{2844C234-3DB8-8C56-A726-A68DDC17ABD9}"/>
              </a:ext>
            </a:extLst>
          </p:cNvPr>
          <p:cNvSpPr txBox="1"/>
          <p:nvPr/>
        </p:nvSpPr>
        <p:spPr>
          <a:xfrm>
            <a:off x="396115" y="905123"/>
            <a:ext cx="7002212" cy="4185761"/>
          </a:xfrm>
          <a:prstGeom prst="rect">
            <a:avLst/>
          </a:prstGeom>
          <a:noFill/>
        </p:spPr>
        <p:txBody>
          <a:bodyPr wrap="square" rtlCol="0">
            <a:spAutoFit/>
          </a:bodyPr>
          <a:lstStyle/>
          <a:p>
            <a:r>
              <a:rPr lang="en-US" sz="1400" dirty="0">
                <a:latin typeface="Aptos" panose="020B0004020202020204" pitchFamily="34" charset="0"/>
              </a:rPr>
              <a:t>5.2 </a:t>
            </a:r>
            <a:r>
              <a:rPr lang="en-US" sz="1400" dirty="0" err="1">
                <a:latin typeface="Aptos" panose="020B0004020202020204" pitchFamily="34" charset="0"/>
              </a:rPr>
              <a:t>Thiết</a:t>
            </a:r>
            <a:r>
              <a:rPr lang="en-US" sz="1400" dirty="0">
                <a:latin typeface="Aptos" panose="020B0004020202020204" pitchFamily="34" charset="0"/>
              </a:rPr>
              <a:t> </a:t>
            </a:r>
            <a:r>
              <a:rPr lang="en-US" sz="1400" dirty="0" err="1">
                <a:latin typeface="Aptos" panose="020B0004020202020204" pitchFamily="34" charset="0"/>
              </a:rPr>
              <a:t>kế</a:t>
            </a:r>
            <a:r>
              <a:rPr lang="en-US" sz="1400" dirty="0">
                <a:latin typeface="Aptos" panose="020B0004020202020204" pitchFamily="34" charset="0"/>
              </a:rPr>
              <a:t> </a:t>
            </a:r>
            <a:r>
              <a:rPr lang="en-US" sz="1400" dirty="0" err="1">
                <a:latin typeface="Aptos" panose="020B0004020202020204" pitchFamily="34" charset="0"/>
              </a:rPr>
              <a:t>các</a:t>
            </a:r>
            <a:r>
              <a:rPr lang="en-US" sz="1400" dirty="0">
                <a:latin typeface="Aptos" panose="020B0004020202020204" pitchFamily="34" charset="0"/>
              </a:rPr>
              <a:t> </a:t>
            </a:r>
            <a:r>
              <a:rPr lang="en-US" sz="1400" dirty="0" err="1">
                <a:latin typeface="Aptos" panose="020B0004020202020204" pitchFamily="34" charset="0"/>
              </a:rPr>
              <a:t>thành</a:t>
            </a:r>
            <a:r>
              <a:rPr lang="en-US" sz="1400" dirty="0">
                <a:latin typeface="Aptos" panose="020B0004020202020204" pitchFamily="34" charset="0"/>
              </a:rPr>
              <a:t> </a:t>
            </a:r>
            <a:r>
              <a:rPr lang="en-US" sz="1400" dirty="0" err="1">
                <a:latin typeface="Aptos" panose="020B0004020202020204" pitchFamily="34" charset="0"/>
              </a:rPr>
              <a:t>phần</a:t>
            </a:r>
            <a:r>
              <a:rPr lang="en-US" sz="1400" dirty="0">
                <a:latin typeface="Aptos" panose="020B0004020202020204" pitchFamily="34" charset="0"/>
              </a:rPr>
              <a:t> </a:t>
            </a:r>
            <a:r>
              <a:rPr lang="en-US" sz="1400" dirty="0" err="1">
                <a:latin typeface="Aptos" panose="020B0004020202020204" pitchFamily="34" charset="0"/>
              </a:rPr>
              <a:t>trong</a:t>
            </a:r>
            <a:r>
              <a:rPr lang="en-US" sz="1400" dirty="0">
                <a:latin typeface="Aptos" panose="020B0004020202020204" pitchFamily="34" charset="0"/>
              </a:rPr>
              <a:t> </a:t>
            </a:r>
            <a:r>
              <a:rPr lang="en-US" sz="1400" dirty="0" err="1">
                <a:latin typeface="Aptos" panose="020B0004020202020204" pitchFamily="34" charset="0"/>
              </a:rPr>
              <a:t>mạng</a:t>
            </a:r>
            <a:endParaRPr lang="en-US" sz="1400" dirty="0">
              <a:latin typeface="Aptos" panose="020B0004020202020204" pitchFamily="34" charset="0"/>
            </a:endParaRPr>
          </a:p>
          <a:p>
            <a:r>
              <a:rPr lang="en-US" sz="1400" dirty="0">
                <a:latin typeface="Aptos" panose="020B0004020202020204" pitchFamily="34" charset="0"/>
              </a:rPr>
              <a:t>	5.2.1 </a:t>
            </a:r>
            <a:r>
              <a:rPr lang="en-US" sz="1400" dirty="0" err="1">
                <a:latin typeface="Aptos" panose="020B0004020202020204" pitchFamily="34" charset="0"/>
              </a:rPr>
              <a:t>Thiết</a:t>
            </a:r>
            <a:r>
              <a:rPr lang="en-US" sz="1400" dirty="0">
                <a:latin typeface="Aptos" panose="020B0004020202020204" pitchFamily="34" charset="0"/>
              </a:rPr>
              <a:t> </a:t>
            </a:r>
            <a:r>
              <a:rPr lang="en-US" sz="1400" dirty="0" err="1">
                <a:latin typeface="Aptos" panose="020B0004020202020204" pitchFamily="34" charset="0"/>
              </a:rPr>
              <a:t>kế</a:t>
            </a:r>
            <a:r>
              <a:rPr lang="en-US" sz="1400" dirty="0">
                <a:latin typeface="Aptos" panose="020B0004020202020204" pitchFamily="34" charset="0"/>
              </a:rPr>
              <a:t> gateway</a:t>
            </a:r>
          </a:p>
          <a:p>
            <a:r>
              <a:rPr lang="en-US" sz="1400" dirty="0">
                <a:latin typeface="Aptos" panose="020B0004020202020204" pitchFamily="34" charset="0"/>
              </a:rPr>
              <a:t>Gateway </a:t>
            </a:r>
            <a:r>
              <a:rPr lang="en-US" sz="1400" dirty="0" err="1">
                <a:latin typeface="Aptos" panose="020B0004020202020204" pitchFamily="34" charset="0"/>
              </a:rPr>
              <a:t>là</a:t>
            </a:r>
            <a:r>
              <a:rPr lang="en-US" sz="1400" dirty="0">
                <a:latin typeface="Aptos" panose="020B0004020202020204" pitchFamily="34" charset="0"/>
              </a:rPr>
              <a:t> </a:t>
            </a:r>
            <a:r>
              <a:rPr lang="en-US" sz="1400" dirty="0" err="1">
                <a:latin typeface="Aptos" panose="020B0004020202020204" pitchFamily="34" charset="0"/>
              </a:rPr>
              <a:t>thiết</a:t>
            </a:r>
            <a:r>
              <a:rPr lang="en-US" sz="1400" dirty="0">
                <a:latin typeface="Aptos" panose="020B0004020202020204" pitchFamily="34" charset="0"/>
              </a:rPr>
              <a:t> </a:t>
            </a:r>
            <a:r>
              <a:rPr lang="en-US" sz="1400" dirty="0" err="1">
                <a:latin typeface="Aptos" panose="020B0004020202020204" pitchFamily="34" charset="0"/>
              </a:rPr>
              <a:t>bị</a:t>
            </a:r>
            <a:r>
              <a:rPr lang="en-US" sz="1400" dirty="0">
                <a:latin typeface="Aptos" panose="020B0004020202020204" pitchFamily="34" charset="0"/>
              </a:rPr>
              <a:t> </a:t>
            </a:r>
            <a:r>
              <a:rPr lang="en-US" sz="1400" dirty="0" err="1">
                <a:latin typeface="Aptos" panose="020B0004020202020204" pitchFamily="34" charset="0"/>
              </a:rPr>
              <a:t>trung</a:t>
            </a:r>
            <a:r>
              <a:rPr lang="en-US" sz="1400" dirty="0">
                <a:latin typeface="Aptos" panose="020B0004020202020204" pitchFamily="34" charset="0"/>
              </a:rPr>
              <a:t> </a:t>
            </a:r>
            <a:r>
              <a:rPr lang="en-US" sz="1400" dirty="0" err="1">
                <a:latin typeface="Aptos" panose="020B0004020202020204" pitchFamily="34" charset="0"/>
              </a:rPr>
              <a:t>gian</a:t>
            </a:r>
            <a:r>
              <a:rPr lang="en-US" sz="1400" dirty="0">
                <a:latin typeface="Aptos" panose="020B0004020202020204" pitchFamily="34" charset="0"/>
              </a:rPr>
              <a:t> </a:t>
            </a:r>
            <a:r>
              <a:rPr lang="en-US" sz="1400" dirty="0" err="1">
                <a:latin typeface="Aptos" panose="020B0004020202020204" pitchFamily="34" charset="0"/>
              </a:rPr>
              <a:t>kết</a:t>
            </a:r>
            <a:r>
              <a:rPr lang="en-US" sz="1400" dirty="0">
                <a:latin typeface="Aptos" panose="020B0004020202020204" pitchFamily="34" charset="0"/>
              </a:rPr>
              <a:t> </a:t>
            </a:r>
            <a:r>
              <a:rPr lang="en-US" sz="1400" dirty="0" err="1">
                <a:latin typeface="Aptos" panose="020B0004020202020204" pitchFamily="34" charset="0"/>
              </a:rPr>
              <a:t>nối</a:t>
            </a:r>
            <a:r>
              <a:rPr lang="en-US" sz="1400" dirty="0">
                <a:latin typeface="Aptos" panose="020B0004020202020204" pitchFamily="34" charset="0"/>
              </a:rPr>
              <a:t> </a:t>
            </a:r>
            <a:r>
              <a:rPr lang="en-US" sz="1400" dirty="0" err="1">
                <a:latin typeface="Aptos" panose="020B0004020202020204" pitchFamily="34" charset="0"/>
              </a:rPr>
              <a:t>mạng</a:t>
            </a:r>
            <a:r>
              <a:rPr lang="en-US" sz="1400" dirty="0">
                <a:latin typeface="Aptos" panose="020B0004020202020204" pitchFamily="34" charset="0"/>
              </a:rPr>
              <a:t> </a:t>
            </a:r>
            <a:r>
              <a:rPr lang="en-US" sz="1400" dirty="0" err="1">
                <a:latin typeface="Aptos" panose="020B0004020202020204" pitchFamily="34" charset="0"/>
              </a:rPr>
              <a:t>cảm</a:t>
            </a:r>
            <a:r>
              <a:rPr lang="en-US" sz="1400" dirty="0">
                <a:latin typeface="Aptos" panose="020B0004020202020204" pitchFamily="34" charset="0"/>
              </a:rPr>
              <a:t> </a:t>
            </a:r>
            <a:r>
              <a:rPr lang="en-US" sz="1400" dirty="0" err="1">
                <a:latin typeface="Aptos" panose="020B0004020202020204" pitchFamily="34" charset="0"/>
              </a:rPr>
              <a:t>biến</a:t>
            </a:r>
            <a:r>
              <a:rPr lang="en-US" sz="1400" dirty="0">
                <a:latin typeface="Aptos" panose="020B0004020202020204" pitchFamily="34" charset="0"/>
              </a:rPr>
              <a:t> </a:t>
            </a:r>
            <a:r>
              <a:rPr lang="en-US" sz="1400" dirty="0" err="1">
                <a:latin typeface="Aptos" panose="020B0004020202020204" pitchFamily="34" charset="0"/>
              </a:rPr>
              <a:t>với</a:t>
            </a:r>
            <a:r>
              <a:rPr lang="en-US" sz="1400" dirty="0">
                <a:latin typeface="Aptos" panose="020B0004020202020204" pitchFamily="34" charset="0"/>
              </a:rPr>
              <a:t> </a:t>
            </a:r>
            <a:r>
              <a:rPr lang="en-US" sz="1400" dirty="0" err="1">
                <a:latin typeface="Aptos" panose="020B0004020202020204" pitchFamily="34" charset="0"/>
              </a:rPr>
              <a:t>mạng</a:t>
            </a:r>
            <a:r>
              <a:rPr lang="en-US" sz="1400" dirty="0">
                <a:latin typeface="Aptos" panose="020B0004020202020204" pitchFamily="34" charset="0"/>
              </a:rPr>
              <a:t> </a:t>
            </a:r>
            <a:r>
              <a:rPr lang="en-US" sz="1400" dirty="0" err="1">
                <a:latin typeface="Aptos" panose="020B0004020202020204" pitchFamily="34" charset="0"/>
              </a:rPr>
              <a:t>bên</a:t>
            </a:r>
            <a:r>
              <a:rPr lang="en-US" sz="1400" dirty="0">
                <a:latin typeface="Aptos" panose="020B0004020202020204" pitchFamily="34" charset="0"/>
              </a:rPr>
              <a:t> </a:t>
            </a:r>
            <a:r>
              <a:rPr lang="en-US" sz="1400" dirty="0" err="1">
                <a:latin typeface="Aptos" panose="020B0004020202020204" pitchFamily="34" charset="0"/>
              </a:rPr>
              <a:t>ngoài</a:t>
            </a:r>
            <a:endParaRPr lang="en-US" sz="1400" dirty="0">
              <a:latin typeface="Aptos" panose="020B0004020202020204" pitchFamily="34" charset="0"/>
            </a:endParaRPr>
          </a:p>
          <a:p>
            <a:r>
              <a:rPr lang="en-US" sz="1400" dirty="0">
                <a:latin typeface="Aptos" panose="020B0004020202020204" pitchFamily="34" charset="0"/>
              </a:rPr>
              <a:t>	Trong star topology, gateway </a:t>
            </a:r>
            <a:r>
              <a:rPr lang="en-US" sz="1400" dirty="0" err="1">
                <a:latin typeface="Aptos" panose="020B0004020202020204" pitchFamily="34" charset="0"/>
              </a:rPr>
              <a:t>còn</a:t>
            </a:r>
            <a:r>
              <a:rPr lang="en-US" sz="1400" dirty="0">
                <a:latin typeface="Aptos" panose="020B0004020202020204" pitchFamily="34" charset="0"/>
              </a:rPr>
              <a:t> </a:t>
            </a:r>
            <a:r>
              <a:rPr lang="en-US" sz="1400" dirty="0" err="1">
                <a:latin typeface="Aptos" panose="020B0004020202020204" pitchFamily="34" charset="0"/>
              </a:rPr>
              <a:t>đóng</a:t>
            </a:r>
            <a:r>
              <a:rPr lang="en-US" sz="1400" dirty="0">
                <a:latin typeface="Aptos" panose="020B0004020202020204" pitchFamily="34" charset="0"/>
              </a:rPr>
              <a:t> </a:t>
            </a:r>
            <a:r>
              <a:rPr lang="en-US" sz="1400" dirty="0" err="1">
                <a:latin typeface="Aptos" panose="020B0004020202020204" pitchFamily="34" charset="0"/>
              </a:rPr>
              <a:t>vai</a:t>
            </a:r>
            <a:r>
              <a:rPr lang="en-US" sz="1400" dirty="0">
                <a:latin typeface="Aptos" panose="020B0004020202020204" pitchFamily="34" charset="0"/>
              </a:rPr>
              <a:t> </a:t>
            </a:r>
            <a:r>
              <a:rPr lang="en-US" sz="1400" dirty="0" err="1">
                <a:latin typeface="Aptos" panose="020B0004020202020204" pitchFamily="34" charset="0"/>
              </a:rPr>
              <a:t>trò</a:t>
            </a:r>
            <a:r>
              <a:rPr lang="en-US" sz="1400" dirty="0">
                <a:latin typeface="Aptos" panose="020B0004020202020204" pitchFamily="34" charset="0"/>
              </a:rPr>
              <a:t> </a:t>
            </a:r>
            <a:r>
              <a:rPr lang="en-US" sz="1400" dirty="0" err="1">
                <a:latin typeface="Aptos" panose="020B0004020202020204" pitchFamily="34" charset="0"/>
              </a:rPr>
              <a:t>là</a:t>
            </a:r>
            <a:r>
              <a:rPr lang="en-US" sz="1400" dirty="0">
                <a:latin typeface="Aptos" panose="020B0004020202020204" pitchFamily="34" charset="0"/>
              </a:rPr>
              <a:t> 1 sink node:</a:t>
            </a:r>
          </a:p>
          <a:p>
            <a:r>
              <a:rPr lang="en-US" sz="1400" dirty="0">
                <a:latin typeface="Aptos" panose="020B0004020202020204" pitchFamily="34" charset="0"/>
              </a:rPr>
              <a:t>	- </a:t>
            </a:r>
            <a:r>
              <a:rPr lang="en-US" sz="1400" dirty="0" err="1">
                <a:latin typeface="Aptos" panose="020B0004020202020204" pitchFamily="34" charset="0"/>
              </a:rPr>
              <a:t>thu</a:t>
            </a:r>
            <a:r>
              <a:rPr lang="en-US" sz="1400" dirty="0">
                <a:latin typeface="Aptos" panose="020B0004020202020204" pitchFamily="34" charset="0"/>
              </a:rPr>
              <a:t> </a:t>
            </a:r>
            <a:r>
              <a:rPr lang="en-US" sz="1400" dirty="0" err="1">
                <a:latin typeface="Aptos" panose="020B0004020202020204" pitchFamily="34" charset="0"/>
              </a:rPr>
              <a:t>thập</a:t>
            </a:r>
            <a:r>
              <a:rPr lang="en-US" sz="1400" dirty="0">
                <a:latin typeface="Aptos" panose="020B0004020202020204" pitchFamily="34" charset="0"/>
              </a:rPr>
              <a:t> </a:t>
            </a:r>
            <a:r>
              <a:rPr lang="en-US" sz="1400" dirty="0" err="1">
                <a:latin typeface="Aptos" panose="020B0004020202020204" pitchFamily="34" charset="0"/>
              </a:rPr>
              <a:t>dữ</a:t>
            </a:r>
            <a:r>
              <a:rPr lang="en-US" sz="1400" dirty="0">
                <a:latin typeface="Aptos" panose="020B0004020202020204" pitchFamily="34" charset="0"/>
              </a:rPr>
              <a:t> </a:t>
            </a:r>
            <a:r>
              <a:rPr lang="en-US" sz="1400" dirty="0" err="1">
                <a:latin typeface="Aptos" panose="020B0004020202020204" pitchFamily="34" charset="0"/>
              </a:rPr>
              <a:t>liệu</a:t>
            </a:r>
            <a:r>
              <a:rPr lang="en-US" sz="1400" dirty="0">
                <a:latin typeface="Aptos" panose="020B0004020202020204" pitchFamily="34" charset="0"/>
              </a:rPr>
              <a:t> </a:t>
            </a:r>
            <a:r>
              <a:rPr lang="en-US" sz="1400" dirty="0" err="1">
                <a:latin typeface="Aptos" panose="020B0004020202020204" pitchFamily="34" charset="0"/>
              </a:rPr>
              <a:t>của</a:t>
            </a:r>
            <a:r>
              <a:rPr lang="en-US" sz="1400" dirty="0">
                <a:latin typeface="Aptos" panose="020B0004020202020204" pitchFamily="34" charset="0"/>
              </a:rPr>
              <a:t> </a:t>
            </a:r>
            <a:r>
              <a:rPr lang="en-US" sz="1400" dirty="0" err="1">
                <a:latin typeface="Aptos" panose="020B0004020202020204" pitchFamily="34" charset="0"/>
              </a:rPr>
              <a:t>toàn</a:t>
            </a:r>
            <a:r>
              <a:rPr lang="en-US" sz="1400" dirty="0">
                <a:latin typeface="Aptos" panose="020B0004020202020204" pitchFamily="34" charset="0"/>
              </a:rPr>
              <a:t> </a:t>
            </a:r>
            <a:r>
              <a:rPr lang="en-US" sz="1400" dirty="0" err="1">
                <a:latin typeface="Aptos" panose="020B0004020202020204" pitchFamily="34" charset="0"/>
              </a:rPr>
              <a:t>mạng</a:t>
            </a:r>
            <a:endParaRPr lang="en-US" sz="1400" dirty="0">
              <a:latin typeface="Aptos" panose="020B0004020202020204" pitchFamily="34" charset="0"/>
            </a:endParaRPr>
          </a:p>
          <a:p>
            <a:r>
              <a:rPr lang="en-US" sz="1400" dirty="0">
                <a:latin typeface="Aptos" panose="020B0004020202020204" pitchFamily="34" charset="0"/>
              </a:rPr>
              <a:t>	- </a:t>
            </a:r>
            <a:r>
              <a:rPr lang="en-US" sz="1400" dirty="0" err="1">
                <a:latin typeface="Aptos" panose="020B0004020202020204" pitchFamily="34" charset="0"/>
              </a:rPr>
              <a:t>giao</a:t>
            </a:r>
            <a:r>
              <a:rPr lang="en-US" sz="1400" dirty="0">
                <a:latin typeface="Aptos" panose="020B0004020202020204" pitchFamily="34" charset="0"/>
              </a:rPr>
              <a:t> </a:t>
            </a:r>
            <a:r>
              <a:rPr lang="en-US" sz="1400" dirty="0" err="1">
                <a:latin typeface="Aptos" panose="020B0004020202020204" pitchFamily="34" charset="0"/>
              </a:rPr>
              <a:t>tiếp</a:t>
            </a:r>
            <a:r>
              <a:rPr lang="en-US" sz="1400" dirty="0">
                <a:latin typeface="Aptos" panose="020B0004020202020204" pitchFamily="34" charset="0"/>
              </a:rPr>
              <a:t> </a:t>
            </a:r>
            <a:r>
              <a:rPr lang="en-US" sz="1400" dirty="0" err="1">
                <a:latin typeface="Aptos" panose="020B0004020202020204" pitchFamily="34" charset="0"/>
              </a:rPr>
              <a:t>với</a:t>
            </a:r>
            <a:r>
              <a:rPr lang="en-US" sz="1400" dirty="0">
                <a:latin typeface="Aptos" panose="020B0004020202020204" pitchFamily="34" charset="0"/>
              </a:rPr>
              <a:t> </a:t>
            </a:r>
            <a:r>
              <a:rPr lang="en-US" sz="1400" dirty="0" err="1">
                <a:latin typeface="Aptos" panose="020B0004020202020204" pitchFamily="34" charset="0"/>
              </a:rPr>
              <a:t>các</a:t>
            </a:r>
            <a:r>
              <a:rPr lang="en-US" sz="1400" dirty="0">
                <a:latin typeface="Aptos" panose="020B0004020202020204" pitchFamily="34" charset="0"/>
              </a:rPr>
              <a:t> end node </a:t>
            </a:r>
            <a:r>
              <a:rPr lang="en-US" sz="1400" dirty="0" err="1">
                <a:latin typeface="Aptos" panose="020B0004020202020204" pitchFamily="34" charset="0"/>
              </a:rPr>
              <a:t>thông</a:t>
            </a:r>
            <a:r>
              <a:rPr lang="en-US" sz="1400" dirty="0">
                <a:latin typeface="Aptos" panose="020B0004020202020204" pitchFamily="34" charset="0"/>
              </a:rPr>
              <a:t> qua </a:t>
            </a:r>
            <a:r>
              <a:rPr lang="en-US" sz="1400" dirty="0" err="1">
                <a:latin typeface="Aptos" panose="020B0004020202020204" pitchFamily="34" charset="0"/>
              </a:rPr>
              <a:t>các</a:t>
            </a:r>
            <a:r>
              <a:rPr lang="en-US" sz="1400" dirty="0">
                <a:latin typeface="Aptos" panose="020B0004020202020204" pitchFamily="34" charset="0"/>
              </a:rPr>
              <a:t> </a:t>
            </a:r>
            <a:r>
              <a:rPr lang="en-US" sz="1400" dirty="0" err="1">
                <a:latin typeface="Aptos" panose="020B0004020202020204" pitchFamily="34" charset="0"/>
              </a:rPr>
              <a:t>bản</a:t>
            </a:r>
            <a:r>
              <a:rPr lang="en-US" sz="1400" dirty="0">
                <a:latin typeface="Aptos" panose="020B0004020202020204" pitchFamily="34" charset="0"/>
              </a:rPr>
              <a:t> tin</a:t>
            </a:r>
          </a:p>
          <a:p>
            <a:pPr marL="285750" indent="-285750">
              <a:buFont typeface="Symbol" panose="05050102010706020507" pitchFamily="18" charset="2"/>
              <a:buChar char="Þ"/>
            </a:pPr>
            <a:r>
              <a:rPr lang="en-US" sz="1400" dirty="0" err="1">
                <a:latin typeface="Aptos" panose="020B0004020202020204" pitchFamily="34" charset="0"/>
              </a:rPr>
              <a:t>Lựa</a:t>
            </a:r>
            <a:r>
              <a:rPr lang="en-US" sz="1400" dirty="0">
                <a:latin typeface="Aptos" panose="020B0004020202020204" pitchFamily="34" charset="0"/>
              </a:rPr>
              <a:t> </a:t>
            </a:r>
            <a:r>
              <a:rPr lang="en-US" sz="1400" dirty="0" err="1">
                <a:latin typeface="Aptos" panose="020B0004020202020204" pitchFamily="34" charset="0"/>
              </a:rPr>
              <a:t>chọn</a:t>
            </a:r>
            <a:r>
              <a:rPr lang="en-US" sz="1400" dirty="0">
                <a:latin typeface="Aptos" panose="020B0004020202020204" pitchFamily="34" charset="0"/>
              </a:rPr>
              <a:t> MCU </a:t>
            </a:r>
            <a:r>
              <a:rPr lang="en-US" sz="1400" dirty="0" err="1">
                <a:latin typeface="Aptos" panose="020B0004020202020204" pitchFamily="34" charset="0"/>
              </a:rPr>
              <a:t>cho</a:t>
            </a:r>
            <a:r>
              <a:rPr lang="en-US" sz="1400" dirty="0">
                <a:latin typeface="Aptos" panose="020B0004020202020204" pitchFamily="34" charset="0"/>
              </a:rPr>
              <a:t> gateway: chip ESP32 </a:t>
            </a:r>
            <a:r>
              <a:rPr lang="en-US" sz="1400" dirty="0" err="1">
                <a:latin typeface="Aptos" panose="020B0004020202020204" pitchFamily="34" charset="0"/>
              </a:rPr>
              <a:t>hỗ</a:t>
            </a:r>
            <a:r>
              <a:rPr lang="en-US" sz="1400" dirty="0">
                <a:latin typeface="Aptos" panose="020B0004020202020204" pitchFamily="34" charset="0"/>
              </a:rPr>
              <a:t> </a:t>
            </a:r>
            <a:r>
              <a:rPr lang="en-US" sz="1400" dirty="0" err="1">
                <a:latin typeface="Aptos" panose="020B0004020202020204" pitchFamily="34" charset="0"/>
              </a:rPr>
              <a:t>trợ</a:t>
            </a:r>
            <a:r>
              <a:rPr lang="en-US" sz="1400" dirty="0">
                <a:latin typeface="Aptos" panose="020B0004020202020204" pitchFamily="34" charset="0"/>
              </a:rPr>
              <a:t> </a:t>
            </a:r>
            <a:r>
              <a:rPr lang="en-US" sz="1400" dirty="0" err="1">
                <a:latin typeface="Aptos" panose="020B0004020202020204" pitchFamily="34" charset="0"/>
              </a:rPr>
              <a:t>các</a:t>
            </a:r>
            <a:r>
              <a:rPr lang="en-US" sz="1400" dirty="0">
                <a:latin typeface="Aptos" panose="020B0004020202020204" pitchFamily="34" charset="0"/>
              </a:rPr>
              <a:t> </a:t>
            </a:r>
            <a:r>
              <a:rPr lang="en-US" sz="1400" dirty="0" err="1">
                <a:latin typeface="Aptos" panose="020B0004020202020204" pitchFamily="34" charset="0"/>
              </a:rPr>
              <a:t>giao</a:t>
            </a:r>
            <a:r>
              <a:rPr lang="en-US" sz="1400" dirty="0">
                <a:latin typeface="Aptos" panose="020B0004020202020204" pitchFamily="34" charset="0"/>
              </a:rPr>
              <a:t> </a:t>
            </a:r>
            <a:r>
              <a:rPr lang="en-US" sz="1400" dirty="0" err="1">
                <a:latin typeface="Aptos" panose="020B0004020202020204" pitchFamily="34" charset="0"/>
              </a:rPr>
              <a:t>thức</a:t>
            </a:r>
            <a:r>
              <a:rPr lang="en-US" sz="1400" dirty="0">
                <a:latin typeface="Aptos" panose="020B0004020202020204" pitchFamily="34" charset="0"/>
              </a:rPr>
              <a:t> SPI, </a:t>
            </a:r>
            <a:r>
              <a:rPr lang="en-US" sz="1400" dirty="0" err="1">
                <a:latin typeface="Aptos" panose="020B0004020202020204" pitchFamily="34" charset="0"/>
              </a:rPr>
              <a:t>WiFi</a:t>
            </a:r>
            <a:r>
              <a:rPr lang="en-US" sz="1400" dirty="0">
                <a:latin typeface="Aptos" panose="020B0004020202020204" pitchFamily="34" charset="0"/>
              </a:rPr>
              <a:t>, BLE, </a:t>
            </a:r>
            <a:r>
              <a:rPr lang="en-US" sz="1400" dirty="0" err="1">
                <a:latin typeface="Aptos" panose="020B0004020202020204" pitchFamily="34" charset="0"/>
              </a:rPr>
              <a:t>ngoài</a:t>
            </a:r>
            <a:r>
              <a:rPr lang="en-US" sz="1400" dirty="0">
                <a:latin typeface="Aptos" panose="020B0004020202020204" pitchFamily="34" charset="0"/>
              </a:rPr>
              <a:t> </a:t>
            </a:r>
            <a:r>
              <a:rPr lang="en-US" sz="1400" dirty="0" err="1">
                <a:latin typeface="Aptos" panose="020B0004020202020204" pitchFamily="34" charset="0"/>
              </a:rPr>
              <a:t>ra</a:t>
            </a:r>
            <a:r>
              <a:rPr lang="en-US" sz="1400" dirty="0">
                <a:latin typeface="Aptos" panose="020B0004020202020204" pitchFamily="34" charset="0"/>
              </a:rPr>
              <a:t> </a:t>
            </a:r>
            <a:r>
              <a:rPr lang="en-US" sz="1400" dirty="0" err="1">
                <a:latin typeface="Aptos" panose="020B0004020202020204" pitchFamily="34" charset="0"/>
              </a:rPr>
              <a:t>còn</a:t>
            </a:r>
            <a:r>
              <a:rPr lang="en-US" sz="1400" dirty="0">
                <a:latin typeface="Aptos" panose="020B0004020202020204" pitchFamily="34" charset="0"/>
              </a:rPr>
              <a:t> </a:t>
            </a:r>
            <a:r>
              <a:rPr lang="en-US" sz="1400" dirty="0" err="1">
                <a:latin typeface="Aptos" panose="020B0004020202020204" pitchFamily="34" charset="0"/>
              </a:rPr>
              <a:t>có</a:t>
            </a:r>
            <a:r>
              <a:rPr lang="en-US" sz="1400" dirty="0">
                <a:latin typeface="Aptos" panose="020B0004020202020204" pitchFamily="34" charset="0"/>
              </a:rPr>
              <a:t> </a:t>
            </a:r>
            <a:r>
              <a:rPr lang="en-US" sz="1400" dirty="0" err="1">
                <a:latin typeface="Aptos" panose="020B0004020202020204" pitchFamily="34" charset="0"/>
              </a:rPr>
              <a:t>uart</a:t>
            </a:r>
            <a:r>
              <a:rPr lang="en-US" sz="1400" dirty="0">
                <a:latin typeface="Aptos" panose="020B0004020202020204" pitchFamily="34" charset="0"/>
              </a:rPr>
              <a:t>, </a:t>
            </a:r>
            <a:r>
              <a:rPr lang="en-US" sz="1400" dirty="0" err="1">
                <a:latin typeface="Aptos" panose="020B0004020202020204" pitchFamily="34" charset="0"/>
              </a:rPr>
              <a:t>adc</a:t>
            </a:r>
            <a:r>
              <a:rPr lang="en-US" sz="1400" dirty="0">
                <a:latin typeface="Aptos" panose="020B0004020202020204" pitchFamily="34" charset="0"/>
              </a:rPr>
              <a:t>,…</a:t>
            </a:r>
          </a:p>
          <a:p>
            <a:pPr marL="285750" indent="-285750">
              <a:buFont typeface="Symbol" panose="05050102010706020507" pitchFamily="18" charset="2"/>
              <a:buChar char="Þ"/>
            </a:pPr>
            <a:r>
              <a:rPr lang="en-US" sz="1400" dirty="0" err="1">
                <a:latin typeface="Aptos" panose="020B0004020202020204" pitchFamily="34" charset="0"/>
              </a:rPr>
              <a:t>Lựa</a:t>
            </a:r>
            <a:r>
              <a:rPr lang="en-US" sz="1400" dirty="0">
                <a:latin typeface="Aptos" panose="020B0004020202020204" pitchFamily="34" charset="0"/>
              </a:rPr>
              <a:t> </a:t>
            </a:r>
            <a:r>
              <a:rPr lang="en-US" sz="1400" dirty="0" err="1">
                <a:latin typeface="Aptos" panose="020B0004020202020204" pitchFamily="34" charset="0"/>
              </a:rPr>
              <a:t>chọn</a:t>
            </a:r>
            <a:r>
              <a:rPr lang="en-US" sz="1400" dirty="0">
                <a:latin typeface="Aptos" panose="020B0004020202020204" pitchFamily="34" charset="0"/>
              </a:rPr>
              <a:t> module LoRa: RA02</a:t>
            </a:r>
          </a:p>
          <a:p>
            <a:r>
              <a:rPr lang="en-US" sz="1400" dirty="0">
                <a:latin typeface="Aptos" panose="020B0004020202020204" pitchFamily="34" charset="0"/>
              </a:rPr>
              <a:t>	5.2.2 </a:t>
            </a:r>
            <a:r>
              <a:rPr lang="en-US" sz="1400" dirty="0" err="1">
                <a:latin typeface="Aptos" panose="020B0004020202020204" pitchFamily="34" charset="0"/>
              </a:rPr>
              <a:t>Thiết</a:t>
            </a:r>
            <a:r>
              <a:rPr lang="en-US" sz="1400" dirty="0">
                <a:latin typeface="Aptos" panose="020B0004020202020204" pitchFamily="34" charset="0"/>
              </a:rPr>
              <a:t> </a:t>
            </a:r>
            <a:r>
              <a:rPr lang="en-US" sz="1400" dirty="0" err="1">
                <a:latin typeface="Aptos" panose="020B0004020202020204" pitchFamily="34" charset="0"/>
              </a:rPr>
              <a:t>kế</a:t>
            </a:r>
            <a:r>
              <a:rPr lang="en-US" sz="1400" dirty="0">
                <a:latin typeface="Aptos" panose="020B0004020202020204" pitchFamily="34" charset="0"/>
              </a:rPr>
              <a:t> node </a:t>
            </a:r>
          </a:p>
          <a:p>
            <a:br>
              <a:rPr lang="en-US" dirty="0">
                <a:latin typeface="Aptos" panose="020B0004020202020204" pitchFamily="34" charset="0"/>
              </a:rPr>
            </a:br>
            <a:endParaRPr lang="en-US" dirty="0">
              <a:latin typeface="Aptos" panose="020B0004020202020204" pitchFamily="34" charset="0"/>
            </a:endParaRPr>
          </a:p>
          <a:p>
            <a:br>
              <a:rPr lang="en-US" dirty="0">
                <a:latin typeface="Aptos" panose="020B0004020202020204" pitchFamily="34" charset="0"/>
              </a:rPr>
            </a:br>
            <a:endParaRPr lang="en-US" dirty="0">
              <a:latin typeface="Aptos" panose="020B0004020202020204" pitchFamily="34" charset="0"/>
            </a:endParaRPr>
          </a:p>
          <a:p>
            <a:endParaRPr lang="en-US" dirty="0">
              <a:latin typeface="Aptos" panose="020B0004020202020204" pitchFamily="34" charset="0"/>
            </a:endParaRPr>
          </a:p>
          <a:p>
            <a:br>
              <a:rPr lang="en-US" dirty="0">
                <a:latin typeface="Aptos" panose="020B0004020202020204" pitchFamily="34" charset="0"/>
              </a:rPr>
            </a:br>
            <a:endParaRPr lang="en-US" dirty="0">
              <a:latin typeface="Aptos" panose="020B0004020202020204" pitchFamily="34" charset="0"/>
            </a:endParaRPr>
          </a:p>
        </p:txBody>
      </p:sp>
      <p:graphicFrame>
        <p:nvGraphicFramePr>
          <p:cNvPr id="7" name="Table 6">
            <a:extLst>
              <a:ext uri="{FF2B5EF4-FFF2-40B4-BE49-F238E27FC236}">
                <a16:creationId xmlns:a16="http://schemas.microsoft.com/office/drawing/2014/main" id="{78AF7239-0B57-1C66-FC7E-A06CF7AD5FAC}"/>
              </a:ext>
            </a:extLst>
          </p:cNvPr>
          <p:cNvGraphicFramePr>
            <a:graphicFrameLocks noGrp="1"/>
          </p:cNvGraphicFramePr>
          <p:nvPr>
            <p:extLst>
              <p:ext uri="{D42A27DB-BD31-4B8C-83A1-F6EECF244321}">
                <p14:modId xmlns:p14="http://schemas.microsoft.com/office/powerpoint/2010/main" val="3108373721"/>
              </p:ext>
            </p:extLst>
          </p:nvPr>
        </p:nvGraphicFramePr>
        <p:xfrm>
          <a:off x="1579419" y="3255147"/>
          <a:ext cx="5985161" cy="2926080"/>
        </p:xfrm>
        <a:graphic>
          <a:graphicData uri="http://schemas.openxmlformats.org/drawingml/2006/table">
            <a:tbl>
              <a:tblPr firstRow="1" bandRow="1">
                <a:tableStyleId>{5C22544A-7EE6-4342-B048-85BDC9FD1C3A}</a:tableStyleId>
              </a:tblPr>
              <a:tblGrid>
                <a:gridCol w="1123942">
                  <a:extLst>
                    <a:ext uri="{9D8B030D-6E8A-4147-A177-3AD203B41FA5}">
                      <a16:colId xmlns:a16="http://schemas.microsoft.com/office/drawing/2014/main" val="3552751466"/>
                    </a:ext>
                  </a:extLst>
                </a:gridCol>
                <a:gridCol w="1270122">
                  <a:extLst>
                    <a:ext uri="{9D8B030D-6E8A-4147-A177-3AD203B41FA5}">
                      <a16:colId xmlns:a16="http://schemas.microsoft.com/office/drawing/2014/main" val="2947921726"/>
                    </a:ext>
                  </a:extLst>
                </a:gridCol>
                <a:gridCol w="1197032">
                  <a:extLst>
                    <a:ext uri="{9D8B030D-6E8A-4147-A177-3AD203B41FA5}">
                      <a16:colId xmlns:a16="http://schemas.microsoft.com/office/drawing/2014/main" val="180927971"/>
                    </a:ext>
                  </a:extLst>
                </a:gridCol>
                <a:gridCol w="1197032">
                  <a:extLst>
                    <a:ext uri="{9D8B030D-6E8A-4147-A177-3AD203B41FA5}">
                      <a16:colId xmlns:a16="http://schemas.microsoft.com/office/drawing/2014/main" val="493099705"/>
                    </a:ext>
                  </a:extLst>
                </a:gridCol>
                <a:gridCol w="1197033">
                  <a:extLst>
                    <a:ext uri="{9D8B030D-6E8A-4147-A177-3AD203B41FA5}">
                      <a16:colId xmlns:a16="http://schemas.microsoft.com/office/drawing/2014/main" val="3002728062"/>
                    </a:ext>
                  </a:extLst>
                </a:gridCol>
              </a:tblGrid>
              <a:tr h="381642">
                <a:tc>
                  <a:txBody>
                    <a:bodyPr/>
                    <a:lstStyle/>
                    <a:p>
                      <a:r>
                        <a:rPr lang="en-US" sz="1200" dirty="0" err="1">
                          <a:solidFill>
                            <a:schemeClr val="tx1"/>
                          </a:solidFill>
                          <a:latin typeface="Aptos" panose="020B0004020202020204" pitchFamily="34" charset="0"/>
                        </a:rPr>
                        <a:t>Các</a:t>
                      </a:r>
                      <a:r>
                        <a:rPr lang="en-US" sz="1200" dirty="0">
                          <a:solidFill>
                            <a:schemeClr val="tx1"/>
                          </a:solidFill>
                          <a:latin typeface="Aptos" panose="020B0004020202020204" pitchFamily="34" charset="0"/>
                        </a:rPr>
                        <a:t> </a:t>
                      </a:r>
                      <a:r>
                        <a:rPr lang="en-US" sz="1200" dirty="0" err="1">
                          <a:solidFill>
                            <a:schemeClr val="tx1"/>
                          </a:solidFill>
                          <a:latin typeface="Aptos" panose="020B0004020202020204" pitchFamily="34" charset="0"/>
                        </a:rPr>
                        <a:t>thành</a:t>
                      </a:r>
                      <a:r>
                        <a:rPr lang="en-US" sz="1200" dirty="0">
                          <a:solidFill>
                            <a:schemeClr val="tx1"/>
                          </a:solidFill>
                          <a:latin typeface="Aptos" panose="020B0004020202020204" pitchFamily="34" charset="0"/>
                        </a:rPr>
                        <a:t> </a:t>
                      </a:r>
                      <a:r>
                        <a:rPr lang="en-US" sz="1200" dirty="0" err="1">
                          <a:solidFill>
                            <a:schemeClr val="tx1"/>
                          </a:solidFill>
                          <a:latin typeface="Aptos" panose="020B0004020202020204" pitchFamily="34" charset="0"/>
                        </a:rPr>
                        <a:t>phần</a:t>
                      </a:r>
                      <a:endParaRPr lang="en-US" sz="1200" dirty="0">
                        <a:solidFill>
                          <a:schemeClr val="tx1"/>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sz="1200" dirty="0">
                          <a:solidFill>
                            <a:schemeClr val="tx1"/>
                          </a:solidFill>
                          <a:latin typeface="Aptos" panose="020B0004020202020204" pitchFamily="34" charset="0"/>
                        </a:rPr>
                        <a:t>Linh </a:t>
                      </a:r>
                      <a:r>
                        <a:rPr lang="en-US" sz="1200" dirty="0" err="1">
                          <a:solidFill>
                            <a:schemeClr val="tx1"/>
                          </a:solidFill>
                          <a:latin typeface="Aptos" panose="020B0004020202020204" pitchFamily="34" charset="0"/>
                        </a:rPr>
                        <a:t>kiện</a:t>
                      </a:r>
                      <a:r>
                        <a:rPr lang="en-US" sz="1200" dirty="0">
                          <a:solidFill>
                            <a:schemeClr val="tx1"/>
                          </a:solidFill>
                          <a:latin typeface="Aptos" panose="020B0004020202020204" pitchFamily="34" charset="0"/>
                        </a:rPr>
                        <a:t>/ </a:t>
                      </a:r>
                      <a:r>
                        <a:rPr lang="en-US" sz="1200" dirty="0" err="1">
                          <a:solidFill>
                            <a:schemeClr val="tx1"/>
                          </a:solidFill>
                          <a:latin typeface="Aptos" panose="020B0004020202020204" pitchFamily="34" charset="0"/>
                        </a:rPr>
                        <a:t>cảm</a:t>
                      </a:r>
                      <a:r>
                        <a:rPr lang="en-US" sz="1200" dirty="0">
                          <a:solidFill>
                            <a:schemeClr val="tx1"/>
                          </a:solidFill>
                          <a:latin typeface="Aptos" panose="020B0004020202020204" pitchFamily="34" charset="0"/>
                        </a:rPr>
                        <a:t> </a:t>
                      </a:r>
                      <a:r>
                        <a:rPr lang="en-US" sz="1200" dirty="0" err="1">
                          <a:solidFill>
                            <a:schemeClr val="tx1"/>
                          </a:solidFill>
                          <a:latin typeface="Aptos" panose="020B0004020202020204" pitchFamily="34" charset="0"/>
                        </a:rPr>
                        <a:t>biến</a:t>
                      </a:r>
                      <a:r>
                        <a:rPr lang="en-US" sz="1200" dirty="0">
                          <a:solidFill>
                            <a:schemeClr val="tx1"/>
                          </a:solidFill>
                          <a:latin typeface="Aptos" panose="020B000402020202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sz="1200" dirty="0">
                          <a:solidFill>
                            <a:schemeClr val="tx1"/>
                          </a:solidFill>
                          <a:latin typeface="Aptos" panose="020B0004020202020204" pitchFamily="34" charset="0"/>
                        </a:rPr>
                        <a:t>Giao </a:t>
                      </a:r>
                      <a:r>
                        <a:rPr lang="en-US" sz="1200" dirty="0" err="1">
                          <a:solidFill>
                            <a:schemeClr val="tx1"/>
                          </a:solidFill>
                          <a:latin typeface="Aptos" panose="020B0004020202020204" pitchFamily="34" charset="0"/>
                        </a:rPr>
                        <a:t>thức</a:t>
                      </a:r>
                      <a:r>
                        <a:rPr lang="en-US" sz="1200" dirty="0">
                          <a:solidFill>
                            <a:schemeClr val="tx1"/>
                          </a:solidFill>
                          <a:latin typeface="Aptos" panose="020B000402020202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tx1"/>
                          </a:solidFill>
                          <a:latin typeface="Aptos" panose="020B0004020202020204" pitchFamily="34" charset="0"/>
                        </a:rPr>
                        <a:t>Độ</a:t>
                      </a:r>
                      <a:r>
                        <a:rPr lang="en-US" sz="1200" dirty="0">
                          <a:solidFill>
                            <a:schemeClr val="tx1"/>
                          </a:solidFill>
                          <a:latin typeface="Aptos" panose="020B0004020202020204" pitchFamily="34" charset="0"/>
                        </a:rPr>
                        <a:t> </a:t>
                      </a:r>
                      <a:r>
                        <a:rPr lang="en-US" sz="1200" dirty="0" err="1">
                          <a:solidFill>
                            <a:schemeClr val="tx1"/>
                          </a:solidFill>
                          <a:latin typeface="Aptos" panose="020B0004020202020204" pitchFamily="34" charset="0"/>
                        </a:rPr>
                        <a:t>chính</a:t>
                      </a:r>
                      <a:r>
                        <a:rPr lang="en-US" sz="1200" dirty="0">
                          <a:solidFill>
                            <a:schemeClr val="tx1"/>
                          </a:solidFill>
                          <a:latin typeface="Aptos" panose="020B0004020202020204" pitchFamily="34" charset="0"/>
                        </a:rPr>
                        <a:t> </a:t>
                      </a:r>
                      <a:r>
                        <a:rPr lang="en-US" sz="1200" dirty="0" err="1">
                          <a:solidFill>
                            <a:schemeClr val="tx1"/>
                          </a:solidFill>
                          <a:latin typeface="Aptos" panose="020B0004020202020204" pitchFamily="34" charset="0"/>
                        </a:rPr>
                        <a:t>xác</a:t>
                      </a:r>
                      <a:endParaRPr lang="en-US" sz="1200" dirty="0">
                        <a:solidFill>
                          <a:schemeClr val="tx1"/>
                        </a:solidFill>
                        <a:latin typeface="Aptos" panose="020B0004020202020204" pitchFamily="34" charset="0"/>
                      </a:endParaRPr>
                    </a:p>
                    <a:p>
                      <a:endParaRPr lang="en-US" sz="1200" dirty="0">
                        <a:solidFill>
                          <a:schemeClr val="tx1"/>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sz="1200" dirty="0" err="1">
                          <a:solidFill>
                            <a:schemeClr val="tx1"/>
                          </a:solidFill>
                          <a:latin typeface="Aptos" panose="020B0004020202020204" pitchFamily="34" charset="0"/>
                        </a:rPr>
                        <a:t>Tiêu</a:t>
                      </a:r>
                      <a:r>
                        <a:rPr lang="en-US" sz="1200" dirty="0">
                          <a:solidFill>
                            <a:schemeClr val="tx1"/>
                          </a:solidFill>
                          <a:latin typeface="Aptos" panose="020B0004020202020204" pitchFamily="34" charset="0"/>
                        </a:rPr>
                        <a:t> </a:t>
                      </a:r>
                      <a:r>
                        <a:rPr lang="en-US" sz="1200" dirty="0" err="1">
                          <a:solidFill>
                            <a:schemeClr val="tx1"/>
                          </a:solidFill>
                          <a:latin typeface="Aptos" panose="020B0004020202020204" pitchFamily="34" charset="0"/>
                        </a:rPr>
                        <a:t>thụ</a:t>
                      </a:r>
                      <a:r>
                        <a:rPr lang="en-US" sz="1200" dirty="0">
                          <a:solidFill>
                            <a:schemeClr val="tx1"/>
                          </a:solidFill>
                          <a:latin typeface="Aptos" panose="020B0004020202020204" pitchFamily="34" charset="0"/>
                        </a:rPr>
                        <a:t> </a:t>
                      </a:r>
                      <a:r>
                        <a:rPr lang="en-US" sz="1200" dirty="0" err="1">
                          <a:solidFill>
                            <a:schemeClr val="tx1"/>
                          </a:solidFill>
                          <a:latin typeface="Aptos" panose="020B0004020202020204" pitchFamily="34" charset="0"/>
                        </a:rPr>
                        <a:t>năng</a:t>
                      </a:r>
                      <a:r>
                        <a:rPr lang="en-US" sz="1200" dirty="0">
                          <a:solidFill>
                            <a:schemeClr val="tx1"/>
                          </a:solidFill>
                          <a:latin typeface="Aptos" panose="020B0004020202020204" pitchFamily="34" charset="0"/>
                        </a:rPr>
                        <a:t> </a:t>
                      </a:r>
                      <a:r>
                        <a:rPr lang="en-US" sz="1200" dirty="0" err="1">
                          <a:solidFill>
                            <a:schemeClr val="tx1"/>
                          </a:solidFill>
                          <a:latin typeface="Aptos" panose="020B0004020202020204" pitchFamily="34" charset="0"/>
                        </a:rPr>
                        <a:t>lượng</a:t>
                      </a:r>
                      <a:endParaRPr lang="en-US" sz="1200" dirty="0">
                        <a:solidFill>
                          <a:schemeClr val="tx1"/>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860611894"/>
                  </a:ext>
                </a:extLst>
              </a:tr>
              <a:tr h="381642">
                <a:tc>
                  <a:txBody>
                    <a:bodyPr/>
                    <a:lstStyle/>
                    <a:p>
                      <a:pPr algn="ctr"/>
                      <a:r>
                        <a:rPr lang="en-US" sz="1200" dirty="0">
                          <a:latin typeface="Aptos" panose="020B0004020202020204" pitchFamily="34" charset="0"/>
                        </a:rPr>
                        <a:t>MCU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200" dirty="0">
                          <a:latin typeface="Aptos" panose="020B0004020202020204" pitchFamily="34" charset="0"/>
                        </a:rPr>
                        <a:t>stm32f103c8t6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200" dirty="0" err="1">
                          <a:latin typeface="Aptos" panose="020B0004020202020204" pitchFamily="34" charset="0"/>
                        </a:rPr>
                        <a:t>Hỗ</a:t>
                      </a:r>
                      <a:r>
                        <a:rPr lang="en-US" sz="1200" dirty="0">
                          <a:latin typeface="Aptos" panose="020B0004020202020204" pitchFamily="34" charset="0"/>
                        </a:rPr>
                        <a:t> </a:t>
                      </a:r>
                      <a:r>
                        <a:rPr lang="en-US" sz="1200" dirty="0" err="1">
                          <a:latin typeface="Aptos" panose="020B0004020202020204" pitchFamily="34" charset="0"/>
                        </a:rPr>
                        <a:t>trợ</a:t>
                      </a:r>
                      <a:r>
                        <a:rPr lang="en-US" sz="1200" dirty="0">
                          <a:latin typeface="Aptos" panose="020B0004020202020204" pitchFamily="34" charset="0"/>
                        </a:rPr>
                        <a:t> SPI, I2C, ADC,…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algn="ctr"/>
                      <a:r>
                        <a:rPr lang="en-US" sz="1200" dirty="0">
                          <a:latin typeface="Aptos" panose="020B0004020202020204" pitchFamily="34" charset="0"/>
                        </a:rPr>
                        <a:t>35mA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76469052"/>
                  </a:ext>
                </a:extLst>
              </a:tr>
              <a:tr h="308948">
                <a:tc>
                  <a:txBody>
                    <a:bodyPr/>
                    <a:lstStyle/>
                    <a:p>
                      <a:pPr algn="ctr"/>
                      <a:r>
                        <a:rPr lang="en-US" sz="1200" dirty="0" err="1">
                          <a:latin typeface="Aptos" panose="020B0004020202020204" pitchFamily="34" charset="0"/>
                        </a:rPr>
                        <a:t>Cảm</a:t>
                      </a:r>
                      <a:r>
                        <a:rPr lang="en-US" sz="1200" dirty="0">
                          <a:latin typeface="Aptos" panose="020B0004020202020204" pitchFamily="34" charset="0"/>
                        </a:rPr>
                        <a:t> </a:t>
                      </a:r>
                      <a:r>
                        <a:rPr lang="en-US" sz="1200" dirty="0" err="1">
                          <a:latin typeface="Aptos" panose="020B0004020202020204" pitchFamily="34" charset="0"/>
                        </a:rPr>
                        <a:t>biến</a:t>
                      </a:r>
                      <a:r>
                        <a:rPr lang="en-US" sz="1200" dirty="0">
                          <a:latin typeface="Aptos" panose="020B0004020202020204" pitchFamily="34" charset="0"/>
                        </a:rPr>
                        <a:t> </a:t>
                      </a:r>
                      <a:r>
                        <a:rPr lang="en-US" sz="1200" dirty="0" err="1">
                          <a:latin typeface="Aptos" panose="020B0004020202020204" pitchFamily="34" charset="0"/>
                        </a:rPr>
                        <a:t>nhiệt</a:t>
                      </a:r>
                      <a:r>
                        <a:rPr lang="en-US" sz="1200" dirty="0">
                          <a:latin typeface="Aptos" panose="020B0004020202020204" pitchFamily="34" charset="0"/>
                        </a:rPr>
                        <a:t> </a:t>
                      </a:r>
                      <a:r>
                        <a:rPr lang="en-US" sz="1200" dirty="0" err="1">
                          <a:latin typeface="Aptos" panose="020B0004020202020204" pitchFamily="34" charset="0"/>
                        </a:rPr>
                        <a:t>độ</a:t>
                      </a: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rowSpan="3">
                  <a:txBody>
                    <a:bodyPr/>
                    <a:lstStyle/>
                    <a:p>
                      <a:pPr algn="ctr"/>
                      <a:r>
                        <a:rPr lang="en-US" sz="1200" dirty="0">
                          <a:latin typeface="Aptos" panose="020B0004020202020204" pitchFamily="34" charset="0"/>
                        </a:rPr>
                        <a:t>A</a:t>
                      </a:r>
                      <a:r>
                        <a:rPr lang="en-US" sz="1200">
                          <a:latin typeface="Aptos" panose="020B0004020202020204" pitchFamily="34" charset="0"/>
                        </a:rPr>
                        <a:t>HT30</a:t>
                      </a: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rowSpan="3">
                  <a:txBody>
                    <a:bodyPr/>
                    <a:lstStyle/>
                    <a:p>
                      <a:pPr algn="ctr"/>
                      <a:r>
                        <a:rPr lang="en-US" sz="1200" dirty="0">
                          <a:latin typeface="Aptos" panose="020B0004020202020204" pitchFamily="34" charset="0"/>
                        </a:rPr>
                        <a:t>I2C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rowSpan="2">
                  <a:txBody>
                    <a:bodyPr/>
                    <a:lstStyle/>
                    <a:p>
                      <a:pPr algn="ctr"/>
                      <a:r>
                        <a:rPr lang="en-US" sz="1200" dirty="0">
                          <a:latin typeface="Aptos" panose="020B0004020202020204" pitchFamily="34" charset="0"/>
                        </a:rPr>
                        <a:t>Max 0.4 </a:t>
                      </a:r>
                      <a:r>
                        <a:rPr lang="en-US" sz="1200" baseline="30000" dirty="0" err="1">
                          <a:latin typeface="Aptos" panose="020B0004020202020204" pitchFamily="34" charset="0"/>
                        </a:rPr>
                        <a:t>o</a:t>
                      </a:r>
                      <a:r>
                        <a:rPr lang="en-US" sz="1200" baseline="0" dirty="0" err="1">
                          <a:latin typeface="Aptos" panose="020B0004020202020204" pitchFamily="34" charset="0"/>
                        </a:rPr>
                        <a:t>C</a:t>
                      </a:r>
                      <a:r>
                        <a:rPr lang="en-US" sz="1200" baseline="0" dirty="0">
                          <a:latin typeface="Aptos" panose="020B0004020202020204" pitchFamily="34" charset="0"/>
                        </a:rPr>
                        <a:t> </a:t>
                      </a: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rowSpan="3">
                  <a:txBody>
                    <a:bodyPr/>
                    <a:lstStyle/>
                    <a:p>
                      <a:pPr algn="ctr"/>
                      <a:r>
                        <a:rPr lang="en-US" sz="1200" dirty="0">
                          <a:latin typeface="Aptos" panose="020B0004020202020204" pitchFamily="34" charset="0"/>
                        </a:rPr>
                        <a:t>2 </a:t>
                      </a:r>
                      <a:r>
                        <a:rPr lang="en-US" sz="1200" dirty="0" err="1">
                          <a:latin typeface="Aptos" panose="020B0004020202020204" pitchFamily="34" charset="0"/>
                        </a:rPr>
                        <a:t>uA</a:t>
                      </a: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30567484"/>
                  </a:ext>
                </a:extLst>
              </a:tr>
              <a:tr h="0">
                <a:tc rowSpan="2">
                  <a:txBody>
                    <a:bodyPr/>
                    <a:lstStyle/>
                    <a:p>
                      <a:pPr algn="ctr"/>
                      <a:r>
                        <a:rPr lang="en-US" sz="1200" dirty="0" err="1">
                          <a:latin typeface="Aptos" panose="020B0004020202020204" pitchFamily="34" charset="0"/>
                        </a:rPr>
                        <a:t>Cảm</a:t>
                      </a:r>
                      <a:r>
                        <a:rPr lang="en-US" sz="1200" dirty="0">
                          <a:latin typeface="Aptos" panose="020B0004020202020204" pitchFamily="34" charset="0"/>
                        </a:rPr>
                        <a:t> </a:t>
                      </a:r>
                      <a:r>
                        <a:rPr lang="en-US" sz="1200" dirty="0" err="1">
                          <a:latin typeface="Aptos" panose="020B0004020202020204" pitchFamily="34" charset="0"/>
                        </a:rPr>
                        <a:t>biến</a:t>
                      </a:r>
                      <a:r>
                        <a:rPr lang="en-US" sz="1200" dirty="0">
                          <a:latin typeface="Aptos" panose="020B0004020202020204" pitchFamily="34" charset="0"/>
                        </a:rPr>
                        <a:t> </a:t>
                      </a:r>
                      <a:r>
                        <a:rPr lang="en-US" sz="1200" dirty="0" err="1">
                          <a:latin typeface="Aptos" panose="020B0004020202020204" pitchFamily="34" charset="0"/>
                        </a:rPr>
                        <a:t>độ</a:t>
                      </a:r>
                      <a:r>
                        <a:rPr lang="en-US" sz="1200" dirty="0">
                          <a:latin typeface="Aptos" panose="020B0004020202020204" pitchFamily="34" charset="0"/>
                        </a:rPr>
                        <a:t> </a:t>
                      </a:r>
                      <a:r>
                        <a:rPr lang="en-US" sz="1200" dirty="0" err="1">
                          <a:latin typeface="Aptos" panose="020B0004020202020204" pitchFamily="34" charset="0"/>
                        </a:rPr>
                        <a:t>ẩm</a:t>
                      </a:r>
                      <a:r>
                        <a:rPr lang="en-US" sz="1200" dirty="0">
                          <a:latin typeface="Aptos" panose="020B0004020202020204" pitchFamily="34" charset="0"/>
                        </a:rPr>
                        <a:t> </a:t>
                      </a:r>
                      <a:r>
                        <a:rPr lang="en-US" sz="1200" dirty="0" err="1">
                          <a:latin typeface="Aptos" panose="020B0004020202020204" pitchFamily="34" charset="0"/>
                        </a:rPr>
                        <a:t>không</a:t>
                      </a:r>
                      <a:r>
                        <a:rPr lang="en-US" sz="1200" dirty="0">
                          <a:latin typeface="Aptos" panose="020B0004020202020204" pitchFamily="34" charset="0"/>
                        </a:rPr>
                        <a:t> </a:t>
                      </a:r>
                      <a:r>
                        <a:rPr lang="en-US" sz="1200" dirty="0" err="1">
                          <a:latin typeface="Aptos" panose="020B0004020202020204" pitchFamily="34" charset="0"/>
                        </a:rPr>
                        <a:t>khí</a:t>
                      </a: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vMerge="1">
                  <a:txBody>
                    <a:bodyPr/>
                    <a:lstStyle/>
                    <a:p>
                      <a:endParaRPr lang="en-US" dirty="0"/>
                    </a:p>
                  </a:txBody>
                  <a:tcPr/>
                </a:tc>
                <a:tc vMerge="1">
                  <a:txBody>
                    <a:bodyPr/>
                    <a:lstStyle/>
                    <a:p>
                      <a:endParaRPr lang="en-US" dirty="0"/>
                    </a:p>
                  </a:txBody>
                  <a:tcPr/>
                </a:tc>
                <a:tc vMerge="1">
                  <a:txBody>
                    <a:bodyPr/>
                    <a:lstStyle/>
                    <a:p>
                      <a:endParaRPr lang="en-US"/>
                    </a:p>
                  </a:txBody>
                  <a:tcPr/>
                </a:tc>
                <a:tc vMerge="1">
                  <a:txBody>
                    <a:bodyPr/>
                    <a:lstStyle/>
                    <a:p>
                      <a:endParaRPr lang="en-US" dirty="0"/>
                    </a:p>
                  </a:txBody>
                  <a:tcPr/>
                </a:tc>
                <a:extLst>
                  <a:ext uri="{0D108BD9-81ED-4DB2-BD59-A6C34878D82A}">
                    <a16:rowId xmlns:a16="http://schemas.microsoft.com/office/drawing/2014/main" val="2579645127"/>
                  </a:ext>
                </a:extLst>
              </a:tr>
              <a:tr h="32712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1200" dirty="0">
                          <a:latin typeface="Aptos" panose="020B0004020202020204" pitchFamily="34" charset="0"/>
                        </a:rPr>
                        <a:t>Max 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vMerge="1">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53936165"/>
                  </a:ext>
                </a:extLst>
              </a:tr>
              <a:tr h="308948">
                <a:tc>
                  <a:txBody>
                    <a:bodyPr/>
                    <a:lstStyle/>
                    <a:p>
                      <a:pPr algn="ctr"/>
                      <a:r>
                        <a:rPr lang="en-US" sz="1200" dirty="0" err="1">
                          <a:latin typeface="Aptos" panose="020B0004020202020204" pitchFamily="34" charset="0"/>
                        </a:rPr>
                        <a:t>Cảm</a:t>
                      </a:r>
                      <a:r>
                        <a:rPr lang="en-US" sz="1200" dirty="0">
                          <a:latin typeface="Aptos" panose="020B0004020202020204" pitchFamily="34" charset="0"/>
                        </a:rPr>
                        <a:t> </a:t>
                      </a:r>
                      <a:r>
                        <a:rPr lang="en-US" sz="1200" dirty="0" err="1">
                          <a:latin typeface="Aptos" panose="020B0004020202020204" pitchFamily="34" charset="0"/>
                        </a:rPr>
                        <a:t>biến</a:t>
                      </a:r>
                      <a:r>
                        <a:rPr lang="en-US" sz="1200" dirty="0">
                          <a:latin typeface="Aptos" panose="020B0004020202020204" pitchFamily="34" charset="0"/>
                        </a:rPr>
                        <a:t> </a:t>
                      </a:r>
                      <a:r>
                        <a:rPr lang="en-US" sz="1200" dirty="0" err="1">
                          <a:latin typeface="Aptos" panose="020B0004020202020204" pitchFamily="34" charset="0"/>
                        </a:rPr>
                        <a:t>độ</a:t>
                      </a:r>
                      <a:r>
                        <a:rPr lang="en-US" sz="1200" dirty="0">
                          <a:latin typeface="Aptos" panose="020B0004020202020204" pitchFamily="34" charset="0"/>
                        </a:rPr>
                        <a:t> </a:t>
                      </a:r>
                      <a:r>
                        <a:rPr lang="en-US" sz="1200" dirty="0" err="1">
                          <a:latin typeface="Aptos" panose="020B0004020202020204" pitchFamily="34" charset="0"/>
                        </a:rPr>
                        <a:t>ẩm</a:t>
                      </a:r>
                      <a:r>
                        <a:rPr lang="en-US" sz="1200" dirty="0">
                          <a:latin typeface="Aptos" panose="020B0004020202020204" pitchFamily="34" charset="0"/>
                        </a:rPr>
                        <a:t> </a:t>
                      </a:r>
                      <a:r>
                        <a:rPr lang="en-US" sz="1200" dirty="0" err="1">
                          <a:latin typeface="Aptos" panose="020B0004020202020204" pitchFamily="34" charset="0"/>
                        </a:rPr>
                        <a:t>đất</a:t>
                      </a: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200" dirty="0">
                          <a:latin typeface="Aptos" panose="020B0004020202020204" pitchFamily="34" charset="0"/>
                        </a:rPr>
                        <a:t>ADC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9043656"/>
                  </a:ext>
                </a:extLst>
              </a:tr>
              <a:tr h="0">
                <a:tc>
                  <a:txBody>
                    <a:bodyPr/>
                    <a:lstStyle/>
                    <a:p>
                      <a:pPr algn="ctr"/>
                      <a:r>
                        <a:rPr lang="en-US" sz="1200" dirty="0">
                          <a:latin typeface="Aptos" panose="020B0004020202020204" pitchFamily="34" charset="0"/>
                        </a:rPr>
                        <a:t>LoRa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200" dirty="0">
                          <a:latin typeface="Aptos" panose="020B0004020202020204" pitchFamily="34" charset="0"/>
                        </a:rPr>
                        <a:t>RA02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200" dirty="0">
                          <a:latin typeface="Aptos" panose="020B0004020202020204" pitchFamily="34" charset="0"/>
                        </a:rPr>
                        <a:t>SPI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1200" dirty="0">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algn="ctr"/>
                      <a:r>
                        <a:rPr lang="en-US" sz="1200" dirty="0">
                          <a:latin typeface="Aptos" panose="020B0004020202020204" pitchFamily="34" charset="0"/>
                        </a:rPr>
                        <a:t>15mA Rx</a:t>
                      </a:r>
                    </a:p>
                    <a:p>
                      <a:pPr algn="ctr"/>
                      <a:r>
                        <a:rPr lang="en-US" sz="1200" dirty="0">
                          <a:latin typeface="Aptos" panose="020B0004020202020204" pitchFamily="34" charset="0"/>
                        </a:rPr>
                        <a:t>30mA Tx(14dBm)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43944231"/>
                  </a:ext>
                </a:extLst>
              </a:tr>
            </a:tbl>
          </a:graphicData>
        </a:graphic>
      </p:graphicFrame>
    </p:spTree>
    <p:extLst>
      <p:ext uri="{BB962C8B-B14F-4D97-AF65-F5344CB8AC3E}">
        <p14:creationId xmlns:p14="http://schemas.microsoft.com/office/powerpoint/2010/main" val="944978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6" name="TextBox 5">
            <a:extLst>
              <a:ext uri="{FF2B5EF4-FFF2-40B4-BE49-F238E27FC236}">
                <a16:creationId xmlns:a16="http://schemas.microsoft.com/office/drawing/2014/main" id="{2844C234-3DB8-8C56-A726-A68DDC17ABD9}"/>
              </a:ext>
            </a:extLst>
          </p:cNvPr>
          <p:cNvSpPr txBox="1"/>
          <p:nvPr/>
        </p:nvSpPr>
        <p:spPr>
          <a:xfrm>
            <a:off x="396114" y="905123"/>
            <a:ext cx="7925849" cy="4278094"/>
          </a:xfrm>
          <a:prstGeom prst="rect">
            <a:avLst/>
          </a:prstGeom>
          <a:noFill/>
        </p:spPr>
        <p:txBody>
          <a:bodyPr wrap="square" rtlCol="0">
            <a:spAutoFit/>
          </a:bodyPr>
          <a:lstStyle/>
          <a:p>
            <a:r>
              <a:rPr lang="en-US" sz="1600" dirty="0">
                <a:latin typeface="Aptos" panose="020B0004020202020204" pitchFamily="34" charset="0"/>
              </a:rPr>
              <a:t>5.2 Medium access</a:t>
            </a:r>
          </a:p>
          <a:p>
            <a:endParaRPr lang="en-US" sz="1600" dirty="0">
              <a:latin typeface="Aptos" panose="020B0004020202020204" pitchFamily="34" charset="0"/>
            </a:endParaRPr>
          </a:p>
          <a:p>
            <a:r>
              <a:rPr lang="en-US" sz="1600" dirty="0">
                <a:latin typeface="Aptos" panose="020B0004020202020204" pitchFamily="34" charset="0"/>
              </a:rPr>
              <a:t>	</a:t>
            </a:r>
            <a:r>
              <a:rPr lang="en-US" sz="1600" dirty="0" err="1">
                <a:latin typeface="Aptos" panose="020B0004020202020204" pitchFamily="34" charset="0"/>
              </a:rPr>
              <a:t>Lớp</a:t>
            </a:r>
            <a:r>
              <a:rPr lang="en-US" sz="1600" dirty="0">
                <a:latin typeface="Aptos" panose="020B0004020202020204" pitchFamily="34" charset="0"/>
              </a:rPr>
              <a:t> MAC (Medium access control) </a:t>
            </a:r>
            <a:r>
              <a:rPr lang="en-US" sz="1600" dirty="0" err="1">
                <a:latin typeface="Aptos" panose="020B0004020202020204" pitchFamily="34" charset="0"/>
              </a:rPr>
              <a:t>là</a:t>
            </a:r>
            <a:r>
              <a:rPr lang="en-US" sz="1600" dirty="0">
                <a:latin typeface="Aptos" panose="020B0004020202020204" pitchFamily="34" charset="0"/>
              </a:rPr>
              <a:t> </a:t>
            </a:r>
            <a:r>
              <a:rPr lang="en-US" sz="1600" dirty="0" err="1">
                <a:latin typeface="Aptos" panose="020B0004020202020204" pitchFamily="34" charset="0"/>
              </a:rPr>
              <a:t>lớp</a:t>
            </a:r>
            <a:r>
              <a:rPr lang="en-US" sz="1600" dirty="0">
                <a:latin typeface="Aptos" panose="020B0004020202020204" pitchFamily="34" charset="0"/>
              </a:rPr>
              <a:t> </a:t>
            </a:r>
            <a:r>
              <a:rPr lang="en-US" sz="1600" dirty="0" err="1">
                <a:latin typeface="Aptos" panose="020B0004020202020204" pitchFamily="34" charset="0"/>
              </a:rPr>
              <a:t>quy</a:t>
            </a:r>
            <a:r>
              <a:rPr lang="en-US" sz="1600" dirty="0">
                <a:latin typeface="Aptos" panose="020B0004020202020204" pitchFamily="34" charset="0"/>
              </a:rPr>
              <a:t> </a:t>
            </a:r>
            <a:r>
              <a:rPr lang="en-US" sz="1600" dirty="0" err="1">
                <a:latin typeface="Aptos" panose="020B0004020202020204" pitchFamily="34" charset="0"/>
              </a:rPr>
              <a:t>định</a:t>
            </a:r>
            <a:r>
              <a:rPr lang="en-US" sz="1600" dirty="0">
                <a:latin typeface="Aptos" panose="020B0004020202020204" pitchFamily="34" charset="0"/>
              </a:rPr>
              <a:t> </a:t>
            </a:r>
            <a:r>
              <a:rPr lang="en-US" sz="1600" dirty="0" err="1">
                <a:latin typeface="Aptos" panose="020B0004020202020204" pitchFamily="34" charset="0"/>
              </a:rPr>
              <a:t>phương</a:t>
            </a:r>
            <a:r>
              <a:rPr lang="en-US" sz="1600" dirty="0">
                <a:latin typeface="Aptos" panose="020B0004020202020204" pitchFamily="34" charset="0"/>
              </a:rPr>
              <a:t> </a:t>
            </a:r>
            <a:r>
              <a:rPr lang="en-US" sz="1600" dirty="0" err="1">
                <a:latin typeface="Aptos" panose="020B0004020202020204" pitchFamily="34" charset="0"/>
              </a:rPr>
              <a:t>thức</a:t>
            </a:r>
            <a:r>
              <a:rPr lang="en-US" sz="1600" dirty="0">
                <a:latin typeface="Aptos" panose="020B0004020202020204" pitchFamily="34" charset="0"/>
              </a:rPr>
              <a:t> </a:t>
            </a:r>
            <a:r>
              <a:rPr lang="en-US" sz="1600" dirty="0" err="1">
                <a:latin typeface="Aptos" panose="020B0004020202020204" pitchFamily="34" charset="0"/>
              </a:rPr>
              <a:t>điều</a:t>
            </a:r>
            <a:r>
              <a:rPr lang="en-US" sz="1600" dirty="0">
                <a:latin typeface="Aptos" panose="020B0004020202020204" pitchFamily="34" charset="0"/>
              </a:rPr>
              <a:t> </a:t>
            </a:r>
            <a:r>
              <a:rPr lang="en-US" sz="1600" dirty="0" err="1">
                <a:latin typeface="Aptos" panose="020B0004020202020204" pitchFamily="34" charset="0"/>
              </a:rPr>
              <a:t>khiển</a:t>
            </a:r>
            <a:r>
              <a:rPr lang="en-US" sz="1600" dirty="0">
                <a:latin typeface="Aptos" panose="020B0004020202020204" pitchFamily="34" charset="0"/>
              </a:rPr>
              <a:t> </a:t>
            </a:r>
            <a:r>
              <a:rPr lang="en-US" sz="1600" dirty="0" err="1">
                <a:latin typeface="Aptos" panose="020B0004020202020204" pitchFamily="34" charset="0"/>
              </a:rPr>
              <a:t>truy</a:t>
            </a:r>
            <a:r>
              <a:rPr lang="en-US" sz="1600" dirty="0">
                <a:latin typeface="Aptos" panose="020B0004020202020204" pitchFamily="34" charset="0"/>
              </a:rPr>
              <a:t> </a:t>
            </a:r>
            <a:r>
              <a:rPr lang="en-US" sz="1600" dirty="0" err="1">
                <a:latin typeface="Aptos" panose="020B0004020202020204" pitchFamily="34" charset="0"/>
              </a:rPr>
              <a:t>cập</a:t>
            </a:r>
            <a:r>
              <a:rPr lang="en-US" sz="1600" dirty="0">
                <a:latin typeface="Aptos" panose="020B0004020202020204" pitchFamily="34" charset="0"/>
              </a:rPr>
              <a:t> </a:t>
            </a:r>
            <a:r>
              <a:rPr lang="en-US" sz="1600" dirty="0" err="1">
                <a:latin typeface="Aptos" panose="020B0004020202020204" pitchFamily="34" charset="0"/>
              </a:rPr>
              <a:t>môi</a:t>
            </a:r>
            <a:r>
              <a:rPr lang="en-US" sz="1600" dirty="0">
                <a:latin typeface="Aptos" panose="020B0004020202020204" pitchFamily="34" charset="0"/>
              </a:rPr>
              <a:t> </a:t>
            </a:r>
            <a:r>
              <a:rPr lang="en-US" sz="1600" dirty="0" err="1">
                <a:latin typeface="Aptos" panose="020B0004020202020204" pitchFamily="34" charset="0"/>
              </a:rPr>
              <a:t>trường</a:t>
            </a:r>
            <a:r>
              <a:rPr lang="en-US" sz="1600" dirty="0">
                <a:latin typeface="Aptos" panose="020B0004020202020204" pitchFamily="34" charset="0"/>
              </a:rPr>
              <a:t>. Do dung </a:t>
            </a:r>
            <a:r>
              <a:rPr lang="en-US" sz="1600" dirty="0" err="1">
                <a:latin typeface="Aptos" panose="020B0004020202020204" pitchFamily="34" charset="0"/>
              </a:rPr>
              <a:t>chung</a:t>
            </a:r>
            <a:r>
              <a:rPr lang="en-US" sz="1600" dirty="0">
                <a:latin typeface="Aptos" panose="020B0004020202020204" pitchFamily="34" charset="0"/>
              </a:rPr>
              <a:t> </a:t>
            </a:r>
            <a:r>
              <a:rPr lang="en-US" sz="1600" dirty="0" err="1">
                <a:latin typeface="Aptos" panose="020B0004020202020204" pitchFamily="34" charset="0"/>
              </a:rPr>
              <a:t>môi</a:t>
            </a:r>
            <a:r>
              <a:rPr lang="en-US" sz="1600" dirty="0">
                <a:latin typeface="Aptos" panose="020B0004020202020204" pitchFamily="34" charset="0"/>
              </a:rPr>
              <a:t> </a:t>
            </a:r>
            <a:r>
              <a:rPr lang="en-US" sz="1600" dirty="0" err="1">
                <a:latin typeface="Aptos" panose="020B0004020202020204" pitchFamily="34" charset="0"/>
              </a:rPr>
              <a:t>trường</a:t>
            </a:r>
            <a:r>
              <a:rPr lang="en-US" sz="1600" dirty="0">
                <a:latin typeface="Aptos" panose="020B0004020202020204" pitchFamily="34" charset="0"/>
              </a:rPr>
              <a:t> </a:t>
            </a:r>
            <a:r>
              <a:rPr lang="en-US" sz="1600" dirty="0" err="1">
                <a:latin typeface="Aptos" panose="020B0004020202020204" pitchFamily="34" charset="0"/>
              </a:rPr>
              <a:t>truyền</a:t>
            </a:r>
            <a:r>
              <a:rPr lang="en-US" sz="1600" dirty="0">
                <a:latin typeface="Aptos" panose="020B0004020202020204" pitchFamily="34" charset="0"/>
              </a:rPr>
              <a:t> </a:t>
            </a:r>
            <a:r>
              <a:rPr lang="en-US" sz="1600" dirty="0" err="1">
                <a:latin typeface="Aptos" panose="020B0004020202020204" pitchFamily="34" charset="0"/>
              </a:rPr>
              <a:t>dẫn</a:t>
            </a:r>
            <a:r>
              <a:rPr lang="en-US" sz="1600" dirty="0">
                <a:latin typeface="Aptos" panose="020B0004020202020204" pitchFamily="34" charset="0"/>
              </a:rPr>
              <a:t> (</a:t>
            </a:r>
            <a:r>
              <a:rPr lang="en-US" sz="1600" dirty="0" err="1">
                <a:latin typeface="Aptos" panose="020B0004020202020204" pitchFamily="34" charset="0"/>
              </a:rPr>
              <a:t>là</a:t>
            </a:r>
            <a:r>
              <a:rPr lang="en-US" sz="1600" dirty="0">
                <a:latin typeface="Aptos" panose="020B0004020202020204" pitchFamily="34" charset="0"/>
              </a:rPr>
              <a:t> </a:t>
            </a:r>
            <a:r>
              <a:rPr lang="en-US" sz="1600" dirty="0" err="1">
                <a:latin typeface="Aptos" panose="020B0004020202020204" pitchFamily="34" charset="0"/>
              </a:rPr>
              <a:t>không</a:t>
            </a:r>
            <a:r>
              <a:rPr lang="en-US" sz="1600" dirty="0">
                <a:latin typeface="Aptos" panose="020B0004020202020204" pitchFamily="34" charset="0"/>
              </a:rPr>
              <a:t> </a:t>
            </a:r>
            <a:r>
              <a:rPr lang="en-US" sz="1600" dirty="0" err="1">
                <a:latin typeface="Aptos" panose="020B0004020202020204" pitchFamily="34" charset="0"/>
              </a:rPr>
              <a:t>khí</a:t>
            </a:r>
            <a:r>
              <a:rPr lang="en-US" sz="1600" dirty="0">
                <a:latin typeface="Aptos" panose="020B0004020202020204" pitchFamily="34" charset="0"/>
              </a:rPr>
              <a:t>) </a:t>
            </a:r>
            <a:r>
              <a:rPr lang="en-US" sz="1600" dirty="0" err="1">
                <a:latin typeface="Aptos" panose="020B0004020202020204" pitchFamily="34" charset="0"/>
              </a:rPr>
              <a:t>nên</a:t>
            </a:r>
            <a:r>
              <a:rPr lang="en-US" sz="1600" dirty="0">
                <a:latin typeface="Aptos" panose="020B0004020202020204" pitchFamily="34" charset="0"/>
              </a:rPr>
              <a:t> </a:t>
            </a:r>
            <a:r>
              <a:rPr lang="en-US" sz="1600" dirty="0" err="1">
                <a:latin typeface="Aptos" panose="020B0004020202020204" pitchFamily="34" charset="0"/>
              </a:rPr>
              <a:t>cần</a:t>
            </a:r>
            <a:r>
              <a:rPr lang="en-US" sz="1600" dirty="0">
                <a:latin typeface="Aptos" panose="020B0004020202020204" pitchFamily="34" charset="0"/>
              </a:rPr>
              <a:t> </a:t>
            </a:r>
            <a:r>
              <a:rPr lang="en-US" sz="1600" dirty="0" err="1">
                <a:latin typeface="Aptos" panose="020B0004020202020204" pitchFamily="34" charset="0"/>
              </a:rPr>
              <a:t>có</a:t>
            </a:r>
            <a:r>
              <a:rPr lang="en-US" sz="1600" dirty="0">
                <a:latin typeface="Aptos" panose="020B0004020202020204" pitchFamily="34" charset="0"/>
              </a:rPr>
              <a:t> </a:t>
            </a:r>
            <a:r>
              <a:rPr lang="en-US" sz="1600" dirty="0" err="1">
                <a:latin typeface="Aptos" panose="020B0004020202020204" pitchFamily="34" charset="0"/>
              </a:rPr>
              <a:t>giao</a:t>
            </a:r>
            <a:r>
              <a:rPr lang="en-US" sz="1600" dirty="0">
                <a:latin typeface="Aptos" panose="020B0004020202020204" pitchFamily="34" charset="0"/>
              </a:rPr>
              <a:t> </a:t>
            </a:r>
            <a:r>
              <a:rPr lang="en-US" sz="1600" dirty="0" err="1">
                <a:latin typeface="Aptos" panose="020B0004020202020204" pitchFamily="34" charset="0"/>
              </a:rPr>
              <a:t>thức</a:t>
            </a:r>
            <a:r>
              <a:rPr lang="en-US" sz="1600" dirty="0">
                <a:latin typeface="Aptos" panose="020B0004020202020204" pitchFamily="34" charset="0"/>
              </a:rPr>
              <a:t> </a:t>
            </a:r>
            <a:r>
              <a:rPr lang="en-US" sz="1600" dirty="0" err="1">
                <a:latin typeface="Aptos" panose="020B0004020202020204" pitchFamily="34" charset="0"/>
              </a:rPr>
              <a:t>để</a:t>
            </a:r>
            <a:r>
              <a:rPr lang="en-US" sz="1600" dirty="0">
                <a:latin typeface="Aptos" panose="020B0004020202020204" pitchFamily="34" charset="0"/>
              </a:rPr>
              <a:t> </a:t>
            </a:r>
            <a:r>
              <a:rPr lang="en-US" sz="1600" dirty="0" err="1">
                <a:latin typeface="Aptos" panose="020B0004020202020204" pitchFamily="34" charset="0"/>
              </a:rPr>
              <a:t>giải</a:t>
            </a:r>
            <a:r>
              <a:rPr lang="en-US" sz="1600" dirty="0">
                <a:latin typeface="Aptos" panose="020B0004020202020204" pitchFamily="34" charset="0"/>
              </a:rPr>
              <a:t> </a:t>
            </a:r>
            <a:r>
              <a:rPr lang="en-US" sz="1600" dirty="0" err="1">
                <a:latin typeface="Aptos" panose="020B0004020202020204" pitchFamily="34" charset="0"/>
              </a:rPr>
              <a:t>quyết</a:t>
            </a:r>
            <a:r>
              <a:rPr lang="en-US" sz="1600" dirty="0">
                <a:latin typeface="Aptos" panose="020B0004020202020204" pitchFamily="34" charset="0"/>
              </a:rPr>
              <a:t> </a:t>
            </a:r>
            <a:r>
              <a:rPr lang="en-US" sz="1600" dirty="0" err="1">
                <a:latin typeface="Aptos" panose="020B0004020202020204" pitchFamily="34" charset="0"/>
              </a:rPr>
              <a:t>các</a:t>
            </a:r>
            <a:r>
              <a:rPr lang="en-US" sz="1600" dirty="0">
                <a:latin typeface="Aptos" panose="020B0004020202020204" pitchFamily="34" charset="0"/>
              </a:rPr>
              <a:t> </a:t>
            </a:r>
            <a:r>
              <a:rPr lang="en-US" sz="1600" dirty="0" err="1">
                <a:latin typeface="Aptos" panose="020B0004020202020204" pitchFamily="34" charset="0"/>
              </a:rPr>
              <a:t>vấn</a:t>
            </a:r>
            <a:r>
              <a:rPr lang="en-US" sz="1600" dirty="0">
                <a:latin typeface="Aptos" panose="020B0004020202020204" pitchFamily="34" charset="0"/>
              </a:rPr>
              <a:t> </a:t>
            </a:r>
            <a:r>
              <a:rPr lang="en-US" sz="1600" dirty="0" err="1">
                <a:latin typeface="Aptos" panose="020B0004020202020204" pitchFamily="34" charset="0"/>
              </a:rPr>
              <a:t>đề</a:t>
            </a:r>
            <a:r>
              <a:rPr lang="en-US" sz="1600" dirty="0">
                <a:latin typeface="Aptos" panose="020B0004020202020204" pitchFamily="34" charset="0"/>
              </a:rPr>
              <a:t> </a:t>
            </a:r>
            <a:r>
              <a:rPr lang="en-US" sz="1600" dirty="0" err="1">
                <a:latin typeface="Aptos" panose="020B0004020202020204" pitchFamily="34" charset="0"/>
              </a:rPr>
              <a:t>truy</a:t>
            </a:r>
            <a:r>
              <a:rPr lang="en-US" sz="1600" dirty="0">
                <a:latin typeface="Aptos" panose="020B0004020202020204" pitchFamily="34" charset="0"/>
              </a:rPr>
              <a:t> </a:t>
            </a:r>
            <a:r>
              <a:rPr lang="en-US" sz="1600" dirty="0" err="1">
                <a:latin typeface="Aptos" panose="020B0004020202020204" pitchFamily="34" charset="0"/>
              </a:rPr>
              <a:t>cập</a:t>
            </a:r>
            <a:r>
              <a:rPr lang="en-US" sz="1600" dirty="0">
                <a:latin typeface="Aptos" panose="020B0004020202020204" pitchFamily="34" charset="0"/>
              </a:rPr>
              <a:t> </a:t>
            </a:r>
            <a:r>
              <a:rPr lang="en-US" sz="1600" dirty="0" err="1">
                <a:latin typeface="Aptos" panose="020B0004020202020204" pitchFamily="34" charset="0"/>
              </a:rPr>
              <a:t>mạng</a:t>
            </a:r>
            <a:r>
              <a:rPr lang="en-US" sz="1600" dirty="0">
                <a:latin typeface="Aptos" panose="020B0004020202020204" pitchFamily="34" charset="0"/>
              </a:rPr>
              <a:t> </a:t>
            </a:r>
            <a:r>
              <a:rPr lang="en-US" sz="1600" dirty="0" err="1">
                <a:latin typeface="Aptos" panose="020B0004020202020204" pitchFamily="34" charset="0"/>
              </a:rPr>
              <a:t>như</a:t>
            </a:r>
            <a:r>
              <a:rPr lang="en-US" sz="1600" dirty="0">
                <a:latin typeface="Aptos" panose="020B0004020202020204" pitchFamily="34" charset="0"/>
              </a:rPr>
              <a:t> </a:t>
            </a:r>
            <a:r>
              <a:rPr lang="en-US" sz="1600" dirty="0" err="1">
                <a:latin typeface="Aptos" panose="020B0004020202020204" pitchFamily="34" charset="0"/>
              </a:rPr>
              <a:t>xung</a:t>
            </a:r>
            <a:r>
              <a:rPr lang="en-US" sz="1600" dirty="0">
                <a:latin typeface="Aptos" panose="020B0004020202020204" pitchFamily="34" charset="0"/>
              </a:rPr>
              <a:t> </a:t>
            </a:r>
            <a:r>
              <a:rPr lang="en-US" sz="1600" dirty="0" err="1">
                <a:latin typeface="Aptos" panose="020B0004020202020204" pitchFamily="34" charset="0"/>
              </a:rPr>
              <a:t>đột</a:t>
            </a:r>
            <a:r>
              <a:rPr lang="en-US" sz="1600" dirty="0">
                <a:latin typeface="Aptos" panose="020B0004020202020204" pitchFamily="34" charset="0"/>
              </a:rPr>
              <a:t> (collision). </a:t>
            </a:r>
            <a:br>
              <a:rPr lang="en-US" sz="1600" dirty="0">
                <a:latin typeface="Aptos" panose="020B0004020202020204" pitchFamily="34" charset="0"/>
              </a:rPr>
            </a:br>
            <a:r>
              <a:rPr lang="en-US" sz="1600" dirty="0">
                <a:latin typeface="Aptos" panose="020B0004020202020204" pitchFamily="34" charset="0"/>
              </a:rPr>
              <a:t>	</a:t>
            </a:r>
            <a:r>
              <a:rPr lang="en-US" sz="1600" dirty="0" err="1">
                <a:latin typeface="Aptos" panose="020B0004020202020204" pitchFamily="34" charset="0"/>
              </a:rPr>
              <a:t>Các</a:t>
            </a:r>
            <a:r>
              <a:rPr lang="en-US" sz="1600" dirty="0">
                <a:latin typeface="Aptos" panose="020B0004020202020204" pitchFamily="34" charset="0"/>
              </a:rPr>
              <a:t> </a:t>
            </a:r>
            <a:r>
              <a:rPr lang="en-US" sz="1600" dirty="0" err="1">
                <a:latin typeface="Aptos" panose="020B0004020202020204" pitchFamily="34" charset="0"/>
              </a:rPr>
              <a:t>phương</a:t>
            </a:r>
            <a:r>
              <a:rPr lang="en-US" sz="1600" dirty="0">
                <a:latin typeface="Aptos" panose="020B0004020202020204" pitchFamily="34" charset="0"/>
              </a:rPr>
              <a:t> </a:t>
            </a:r>
            <a:r>
              <a:rPr lang="en-US" sz="1600" dirty="0" err="1">
                <a:latin typeface="Aptos" panose="020B0004020202020204" pitchFamily="34" charset="0"/>
              </a:rPr>
              <a:t>pháp</a:t>
            </a:r>
            <a:r>
              <a:rPr lang="en-US" sz="1600" dirty="0">
                <a:latin typeface="Aptos" panose="020B0004020202020204" pitchFamily="34" charset="0"/>
              </a:rPr>
              <a:t> </a:t>
            </a:r>
            <a:r>
              <a:rPr lang="en-US" sz="1600" dirty="0" err="1">
                <a:latin typeface="Aptos" panose="020B0004020202020204" pitchFamily="34" charset="0"/>
              </a:rPr>
              <a:t>truy</a:t>
            </a:r>
            <a:r>
              <a:rPr lang="en-US" sz="1600" dirty="0">
                <a:latin typeface="Aptos" panose="020B0004020202020204" pitchFamily="34" charset="0"/>
              </a:rPr>
              <a:t> </a:t>
            </a:r>
            <a:r>
              <a:rPr lang="en-US" sz="1600" dirty="0" err="1">
                <a:latin typeface="Aptos" panose="020B0004020202020204" pitchFamily="34" charset="0"/>
              </a:rPr>
              <a:t>cập</a:t>
            </a:r>
            <a:r>
              <a:rPr lang="en-US" sz="1600" dirty="0">
                <a:latin typeface="Aptos" panose="020B0004020202020204" pitchFamily="34" charset="0"/>
              </a:rPr>
              <a:t> dc </a:t>
            </a:r>
            <a:r>
              <a:rPr lang="en-US" sz="1600" dirty="0" err="1">
                <a:latin typeface="Aptos" panose="020B0004020202020204" pitchFamily="34" charset="0"/>
              </a:rPr>
              <a:t>quy</a:t>
            </a:r>
            <a:r>
              <a:rPr lang="en-US" sz="1600" dirty="0">
                <a:latin typeface="Aptos" panose="020B0004020202020204" pitchFamily="34" charset="0"/>
              </a:rPr>
              <a:t> </a:t>
            </a:r>
            <a:r>
              <a:rPr lang="en-US" sz="1600" dirty="0" err="1">
                <a:latin typeface="Aptos" panose="020B0004020202020204" pitchFamily="34" charset="0"/>
              </a:rPr>
              <a:t>định</a:t>
            </a:r>
            <a:r>
              <a:rPr lang="en-US" sz="1600" dirty="0">
                <a:latin typeface="Aptos" panose="020B0004020202020204" pitchFamily="34" charset="0"/>
              </a:rPr>
              <a:t> </a:t>
            </a:r>
            <a:r>
              <a:rPr lang="en-US" sz="1600" dirty="0" err="1">
                <a:latin typeface="Aptos" panose="020B0004020202020204" pitchFamily="34" charset="0"/>
              </a:rPr>
              <a:t>trong</a:t>
            </a:r>
            <a:r>
              <a:rPr lang="en-US" sz="1600" dirty="0">
                <a:latin typeface="Aptos" panose="020B0004020202020204" pitchFamily="34" charset="0"/>
              </a:rPr>
              <a:t> IEEE 802.3(CSMA/CD), IEEE 802.11, IEEE 802.15.4 ko </a:t>
            </a:r>
            <a:r>
              <a:rPr lang="en-US" sz="1600" dirty="0" err="1">
                <a:latin typeface="Aptos" panose="020B0004020202020204" pitchFamily="34" charset="0"/>
              </a:rPr>
              <a:t>sử</a:t>
            </a:r>
            <a:r>
              <a:rPr lang="en-US" sz="1600" dirty="0">
                <a:latin typeface="Aptos" panose="020B0004020202020204" pitchFamily="34" charset="0"/>
              </a:rPr>
              <a:t> </a:t>
            </a:r>
            <a:r>
              <a:rPr lang="en-US" sz="1600" dirty="0" err="1">
                <a:latin typeface="Aptos" panose="020B0004020202020204" pitchFamily="34" charset="0"/>
              </a:rPr>
              <a:t>dụng</a:t>
            </a:r>
            <a:r>
              <a:rPr lang="en-US" sz="1600" dirty="0">
                <a:latin typeface="Aptos" panose="020B0004020202020204" pitchFamily="34" charset="0"/>
              </a:rPr>
              <a:t> </a:t>
            </a:r>
            <a:r>
              <a:rPr lang="en-US" sz="1600" dirty="0" err="1">
                <a:latin typeface="Aptos" panose="020B0004020202020204" pitchFamily="34" charset="0"/>
              </a:rPr>
              <a:t>trực</a:t>
            </a:r>
            <a:r>
              <a:rPr lang="en-US" sz="1600" dirty="0">
                <a:latin typeface="Aptos" panose="020B0004020202020204" pitchFamily="34" charset="0"/>
              </a:rPr>
              <a:t> </a:t>
            </a:r>
            <a:r>
              <a:rPr lang="en-US" sz="1600" dirty="0" err="1">
                <a:latin typeface="Aptos" panose="020B0004020202020204" pitchFamily="34" charset="0"/>
              </a:rPr>
              <a:t>tiếp</a:t>
            </a:r>
            <a:r>
              <a:rPr lang="en-US" sz="1600" dirty="0">
                <a:latin typeface="Aptos" panose="020B0004020202020204" pitchFamily="34" charset="0"/>
              </a:rPr>
              <a:t> </a:t>
            </a:r>
            <a:r>
              <a:rPr lang="en-US" sz="1600" dirty="0" err="1">
                <a:latin typeface="Aptos" panose="020B0004020202020204" pitchFamily="34" charset="0"/>
              </a:rPr>
              <a:t>trên</a:t>
            </a:r>
            <a:r>
              <a:rPr lang="en-US" sz="1600" dirty="0">
                <a:latin typeface="Aptos" panose="020B0004020202020204" pitchFamily="34" charset="0"/>
              </a:rPr>
              <a:t> </a:t>
            </a:r>
            <a:r>
              <a:rPr lang="en-US" sz="1600" dirty="0" err="1">
                <a:latin typeface="Aptos" panose="020B0004020202020204" pitchFamily="34" charset="0"/>
              </a:rPr>
              <a:t>mạng</a:t>
            </a:r>
            <a:r>
              <a:rPr lang="en-US" sz="1600" dirty="0">
                <a:latin typeface="Aptos" panose="020B0004020202020204" pitchFamily="34" charset="0"/>
              </a:rPr>
              <a:t> </a:t>
            </a:r>
            <a:r>
              <a:rPr lang="en-US" sz="1600" dirty="0" err="1">
                <a:latin typeface="Aptos" panose="020B0004020202020204" pitchFamily="34" charset="0"/>
              </a:rPr>
              <a:t>cảm</a:t>
            </a:r>
            <a:r>
              <a:rPr lang="en-US" sz="1600" dirty="0">
                <a:latin typeface="Aptos" panose="020B0004020202020204" pitchFamily="34" charset="0"/>
              </a:rPr>
              <a:t> </a:t>
            </a:r>
            <a:r>
              <a:rPr lang="en-US" sz="1600" dirty="0" err="1">
                <a:latin typeface="Aptos" panose="020B0004020202020204" pitchFamily="34" charset="0"/>
              </a:rPr>
              <a:t>biến</a:t>
            </a:r>
            <a:r>
              <a:rPr lang="en-US" sz="1600" dirty="0">
                <a:latin typeface="Aptos" panose="020B0004020202020204" pitchFamily="34" charset="0"/>
              </a:rPr>
              <a:t> do </a:t>
            </a:r>
            <a:r>
              <a:rPr lang="en-US" sz="1600" dirty="0" err="1">
                <a:latin typeface="Aptos" panose="020B0004020202020204" pitchFamily="34" charset="0"/>
              </a:rPr>
              <a:t>các</a:t>
            </a:r>
            <a:r>
              <a:rPr lang="en-US" sz="1600" dirty="0">
                <a:latin typeface="Aptos" panose="020B0004020202020204" pitchFamily="34" charset="0"/>
              </a:rPr>
              <a:t> </a:t>
            </a:r>
            <a:r>
              <a:rPr lang="en-US" sz="1600" dirty="0" err="1">
                <a:latin typeface="Aptos" panose="020B0004020202020204" pitchFamily="34" charset="0"/>
              </a:rPr>
              <a:t>nút</a:t>
            </a:r>
            <a:r>
              <a:rPr lang="en-US" sz="1600" dirty="0">
                <a:latin typeface="Aptos" panose="020B0004020202020204" pitchFamily="34" charset="0"/>
              </a:rPr>
              <a:t> </a:t>
            </a:r>
            <a:r>
              <a:rPr lang="en-US" sz="1600" dirty="0" err="1">
                <a:latin typeface="Aptos" panose="020B0004020202020204" pitchFamily="34" charset="0"/>
              </a:rPr>
              <a:t>cảm</a:t>
            </a:r>
            <a:r>
              <a:rPr lang="en-US" sz="1600" dirty="0">
                <a:latin typeface="Aptos" panose="020B0004020202020204" pitchFamily="34" charset="0"/>
              </a:rPr>
              <a:t> </a:t>
            </a:r>
            <a:r>
              <a:rPr lang="en-US" sz="1600" dirty="0" err="1">
                <a:latin typeface="Aptos" panose="020B0004020202020204" pitchFamily="34" charset="0"/>
              </a:rPr>
              <a:t>biến</a:t>
            </a:r>
            <a:r>
              <a:rPr lang="en-US" sz="1600" dirty="0">
                <a:latin typeface="Aptos" panose="020B0004020202020204" pitchFamily="34" charset="0"/>
              </a:rPr>
              <a:t> </a:t>
            </a:r>
            <a:r>
              <a:rPr lang="en-US" sz="1600" dirty="0" err="1">
                <a:latin typeface="Aptos" panose="020B0004020202020204" pitchFamily="34" charset="0"/>
              </a:rPr>
              <a:t>có</a:t>
            </a:r>
            <a:r>
              <a:rPr lang="en-US" sz="1600" dirty="0">
                <a:latin typeface="Aptos" panose="020B0004020202020204" pitchFamily="34" charset="0"/>
              </a:rPr>
              <a:t> </a:t>
            </a:r>
            <a:r>
              <a:rPr lang="en-US" sz="1600" dirty="0" err="1">
                <a:latin typeface="Aptos" panose="020B0004020202020204" pitchFamily="34" charset="0"/>
              </a:rPr>
              <a:t>tài</a:t>
            </a:r>
            <a:r>
              <a:rPr lang="en-US" sz="1600" dirty="0">
                <a:latin typeface="Aptos" panose="020B0004020202020204" pitchFamily="34" charset="0"/>
              </a:rPr>
              <a:t> </a:t>
            </a:r>
            <a:r>
              <a:rPr lang="en-US" sz="1600" dirty="0" err="1">
                <a:latin typeface="Aptos" panose="020B0004020202020204" pitchFamily="34" charset="0"/>
              </a:rPr>
              <a:t>nguyên</a:t>
            </a:r>
            <a:r>
              <a:rPr lang="en-US" sz="1600" dirty="0">
                <a:latin typeface="Aptos" panose="020B0004020202020204" pitchFamily="34" charset="0"/>
              </a:rPr>
              <a:t> </a:t>
            </a:r>
            <a:r>
              <a:rPr lang="en-US" sz="1600" dirty="0" err="1">
                <a:latin typeface="Aptos" panose="020B0004020202020204" pitchFamily="34" charset="0"/>
              </a:rPr>
              <a:t>và</a:t>
            </a:r>
            <a:r>
              <a:rPr lang="en-US" sz="1600" dirty="0">
                <a:latin typeface="Aptos" panose="020B0004020202020204" pitchFamily="34" charset="0"/>
              </a:rPr>
              <a:t> </a:t>
            </a:r>
            <a:r>
              <a:rPr lang="en-US" sz="1600" dirty="0" err="1">
                <a:latin typeface="Aptos" panose="020B0004020202020204" pitchFamily="34" charset="0"/>
              </a:rPr>
              <a:t>năng</a:t>
            </a:r>
            <a:r>
              <a:rPr lang="en-US" sz="1600" dirty="0">
                <a:latin typeface="Aptos" panose="020B0004020202020204" pitchFamily="34" charset="0"/>
              </a:rPr>
              <a:t> </a:t>
            </a:r>
            <a:r>
              <a:rPr lang="en-US" sz="1600" dirty="0" err="1">
                <a:latin typeface="Aptos" panose="020B0004020202020204" pitchFamily="34" charset="0"/>
              </a:rPr>
              <a:t>lượng</a:t>
            </a:r>
            <a:r>
              <a:rPr lang="en-US" sz="1600" dirty="0">
                <a:latin typeface="Aptos" panose="020B0004020202020204" pitchFamily="34" charset="0"/>
              </a:rPr>
              <a:t> </a:t>
            </a:r>
            <a:r>
              <a:rPr lang="en-US" sz="1600" dirty="0" err="1">
                <a:latin typeface="Aptos" panose="020B0004020202020204" pitchFamily="34" charset="0"/>
              </a:rPr>
              <a:t>hạn</a:t>
            </a:r>
            <a:r>
              <a:rPr lang="en-US" sz="1600" dirty="0">
                <a:latin typeface="Aptos" panose="020B0004020202020204" pitchFamily="34" charset="0"/>
              </a:rPr>
              <a:t> </a:t>
            </a:r>
            <a:r>
              <a:rPr lang="en-US" sz="1600" dirty="0" err="1">
                <a:latin typeface="Aptos" panose="020B0004020202020204" pitchFamily="34" charset="0"/>
              </a:rPr>
              <a:t>chế</a:t>
            </a:r>
            <a:endParaRPr lang="en-US" sz="1600" dirty="0">
              <a:latin typeface="Aptos" panose="020B0004020202020204" pitchFamily="34" charset="0"/>
            </a:endParaRPr>
          </a:p>
          <a:p>
            <a:br>
              <a:rPr lang="en-US" sz="1600" dirty="0">
                <a:latin typeface="Aptos" panose="020B0004020202020204" pitchFamily="34" charset="0"/>
              </a:rPr>
            </a:br>
            <a:r>
              <a:rPr lang="en-US" sz="1600" dirty="0">
                <a:latin typeface="Aptos" panose="020B0004020202020204" pitchFamily="34" charset="0"/>
              </a:rPr>
              <a:t>5.2.2 </a:t>
            </a:r>
            <a:r>
              <a:rPr lang="en-US" sz="1600" dirty="0" err="1">
                <a:latin typeface="Aptos" panose="020B0004020202020204" pitchFamily="34" charset="0"/>
              </a:rPr>
              <a:t>Lựa</a:t>
            </a:r>
            <a:r>
              <a:rPr lang="en-US" sz="1600" dirty="0">
                <a:latin typeface="Aptos" panose="020B0004020202020204" pitchFamily="34" charset="0"/>
              </a:rPr>
              <a:t> </a:t>
            </a:r>
            <a:r>
              <a:rPr lang="en-US" sz="1600" dirty="0" err="1">
                <a:latin typeface="Aptos" panose="020B0004020202020204" pitchFamily="34" charset="0"/>
              </a:rPr>
              <a:t>chọn</a:t>
            </a:r>
            <a:r>
              <a:rPr lang="en-US" sz="1600" dirty="0">
                <a:latin typeface="Aptos" panose="020B0004020202020204" pitchFamily="34" charset="0"/>
              </a:rPr>
              <a:t> MAC protocol:</a:t>
            </a:r>
          </a:p>
          <a:p>
            <a:r>
              <a:rPr lang="en-US" sz="1600" dirty="0">
                <a:latin typeface="Aptos" panose="020B0004020202020204" pitchFamily="34" charset="0"/>
              </a:rPr>
              <a:t>	TDMA</a:t>
            </a:r>
            <a:r>
              <a:rPr lang="en-US" sz="1600" dirty="0">
                <a:latin typeface="Aptos" panose="020B0004020202020204" pitchFamily="34" charset="0"/>
                <a:sym typeface="Wingdings" panose="05000000000000000000" pitchFamily="2" charset="2"/>
              </a:rPr>
              <a:t>(time divide medium access): </a:t>
            </a:r>
            <a:r>
              <a:rPr lang="en-US" sz="1600" dirty="0" err="1">
                <a:latin typeface="Aptos" panose="020B0004020202020204" pitchFamily="34" charset="0"/>
                <a:sym typeface="Wingdings" panose="05000000000000000000" pitchFamily="2" charset="2"/>
              </a:rPr>
              <a:t>truy</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cập</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theo</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khung</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thời</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gian</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vì</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gần</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như</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không</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xảy</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ra</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va</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chạm</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và</a:t>
            </a:r>
            <a:r>
              <a:rPr lang="en-US" sz="1600" dirty="0">
                <a:latin typeface="Aptos" panose="020B0004020202020204" pitchFamily="34" charset="0"/>
                <a:sym typeface="Wingdings" panose="05000000000000000000" pitchFamily="2" charset="2"/>
              </a:rPr>
              <a:t> node </a:t>
            </a:r>
            <a:r>
              <a:rPr lang="en-US" sz="1600" dirty="0" err="1">
                <a:latin typeface="Aptos" panose="020B0004020202020204" pitchFamily="34" charset="0"/>
                <a:sym typeface="Wingdings" panose="05000000000000000000" pitchFamily="2" charset="2"/>
              </a:rPr>
              <a:t>có</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khoảng</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thời</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gian</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hoạt</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động</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ngắn</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phần</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lớn</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thời</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gian</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hoạt</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động</a:t>
            </a:r>
            <a:r>
              <a:rPr lang="en-US" sz="1600" dirty="0">
                <a:latin typeface="Aptos" panose="020B0004020202020204" pitchFamily="34" charset="0"/>
                <a:sym typeface="Wingdings" panose="05000000000000000000" pitchFamily="2" charset="2"/>
              </a:rPr>
              <a:t> ở </a:t>
            </a:r>
            <a:r>
              <a:rPr lang="en-US" sz="1600" dirty="0" err="1">
                <a:latin typeface="Aptos" panose="020B0004020202020204" pitchFamily="34" charset="0"/>
                <a:sym typeface="Wingdings" panose="05000000000000000000" pitchFamily="2" charset="2"/>
              </a:rPr>
              <a:t>chế</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độ</a:t>
            </a:r>
            <a:r>
              <a:rPr lang="en-US" sz="1600" dirty="0">
                <a:latin typeface="Aptos" panose="020B0004020202020204" pitchFamily="34" charset="0"/>
                <a:sym typeface="Wingdings" panose="05000000000000000000" pitchFamily="2" charset="2"/>
              </a:rPr>
              <a:t> low power, </a:t>
            </a:r>
            <a:r>
              <a:rPr lang="en-US" sz="1600" dirty="0" err="1">
                <a:latin typeface="Aptos" panose="020B0004020202020204" pitchFamily="34" charset="0"/>
                <a:sym typeface="Wingdings" panose="05000000000000000000" pitchFamily="2" charset="2"/>
              </a:rPr>
              <a:t>phù</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hợp</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với</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ứng</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dụng</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có</a:t>
            </a:r>
            <a:r>
              <a:rPr lang="en-US" sz="1600" dirty="0">
                <a:latin typeface="Aptos" panose="020B0004020202020204" pitchFamily="34" charset="0"/>
                <a:sym typeface="Wingdings" panose="05000000000000000000" pitchFamily="2" charset="2"/>
              </a:rPr>
              <a:t> chu </a:t>
            </a:r>
            <a:r>
              <a:rPr lang="en-US" sz="1600" dirty="0" err="1">
                <a:latin typeface="Aptos" panose="020B0004020202020204" pitchFamily="34" charset="0"/>
                <a:sym typeface="Wingdings" panose="05000000000000000000" pitchFamily="2" charset="2"/>
              </a:rPr>
              <a:t>kì</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đo</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dài</a:t>
            </a:r>
            <a:r>
              <a:rPr lang="en-US" sz="1600" dirty="0">
                <a:latin typeface="Aptos" panose="020B0004020202020204" pitchFamily="34" charset="0"/>
                <a:sym typeface="Wingdings" panose="05000000000000000000" pitchFamily="2" charset="2"/>
              </a:rPr>
              <a:t> (do </a:t>
            </a:r>
            <a:r>
              <a:rPr lang="en-US" sz="1600" dirty="0" err="1">
                <a:latin typeface="Aptos" panose="020B0004020202020204" pitchFamily="34" charset="0"/>
                <a:sym typeface="Wingdings" panose="05000000000000000000" pitchFamily="2" charset="2"/>
              </a:rPr>
              <a:t>nhiệt</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độ</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và</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độ</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ẩm</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là</a:t>
            </a:r>
            <a:r>
              <a:rPr lang="en-US" sz="1600" dirty="0">
                <a:latin typeface="Aptos" panose="020B0004020202020204" pitchFamily="34" charset="0"/>
                <a:sym typeface="Wingdings" panose="05000000000000000000" pitchFamily="2" charset="2"/>
              </a:rPr>
              <a:t> 2 </a:t>
            </a:r>
            <a:r>
              <a:rPr lang="en-US" sz="1600" dirty="0" err="1">
                <a:latin typeface="Aptos" panose="020B0004020202020204" pitchFamily="34" charset="0"/>
                <a:sym typeface="Wingdings" panose="05000000000000000000" pitchFamily="2" charset="2"/>
              </a:rPr>
              <a:t>đại</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lượng</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có</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mức</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độ</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thay</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đổi</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theo</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thời</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gian</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là</a:t>
            </a:r>
            <a:r>
              <a:rPr lang="en-US" sz="1600" dirty="0">
                <a:latin typeface="Aptos" panose="020B0004020202020204" pitchFamily="34" charset="0"/>
                <a:sym typeface="Wingdings" panose="05000000000000000000" pitchFamily="2" charset="2"/>
              </a:rPr>
              <a:t> </a:t>
            </a:r>
            <a:r>
              <a:rPr lang="en-US" sz="1600" dirty="0" err="1">
                <a:latin typeface="Aptos" panose="020B0004020202020204" pitchFamily="34" charset="0"/>
                <a:sym typeface="Wingdings" panose="05000000000000000000" pitchFamily="2" charset="2"/>
              </a:rPr>
              <a:t>nhỏ</a:t>
            </a:r>
            <a:r>
              <a:rPr lang="en-US" sz="1600" dirty="0">
                <a:latin typeface="Aptos" panose="020B0004020202020204" pitchFamily="34" charset="0"/>
                <a:sym typeface="Wingdings" panose="05000000000000000000" pitchFamily="2" charset="2"/>
              </a:rPr>
              <a:t>)</a:t>
            </a:r>
          </a:p>
          <a:p>
            <a:endParaRPr lang="en-US" sz="1600" dirty="0">
              <a:latin typeface="Aptos" panose="020B0004020202020204" pitchFamily="34" charset="0"/>
            </a:endParaRPr>
          </a:p>
          <a:p>
            <a:br>
              <a:rPr lang="en-US" sz="1600" dirty="0">
                <a:latin typeface="Aptos" panose="020B0004020202020204" pitchFamily="34" charset="0"/>
              </a:rPr>
            </a:br>
            <a:endParaRPr lang="en-US" sz="1600" dirty="0">
              <a:latin typeface="Aptos" panose="020B0004020202020204" pitchFamily="34" charset="0"/>
            </a:endParaRPr>
          </a:p>
        </p:txBody>
      </p:sp>
    </p:spTree>
    <p:extLst>
      <p:ext uri="{BB962C8B-B14F-4D97-AF65-F5344CB8AC3E}">
        <p14:creationId xmlns:p14="http://schemas.microsoft.com/office/powerpoint/2010/main" val="2797769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6" name="TextBox 5">
            <a:extLst>
              <a:ext uri="{FF2B5EF4-FFF2-40B4-BE49-F238E27FC236}">
                <a16:creationId xmlns:a16="http://schemas.microsoft.com/office/drawing/2014/main" id="{2844C234-3DB8-8C56-A726-A68DDC17ABD9}"/>
              </a:ext>
            </a:extLst>
          </p:cNvPr>
          <p:cNvSpPr txBox="1"/>
          <p:nvPr/>
        </p:nvSpPr>
        <p:spPr>
          <a:xfrm>
            <a:off x="396115" y="905123"/>
            <a:ext cx="8512808" cy="1169551"/>
          </a:xfrm>
          <a:prstGeom prst="rect">
            <a:avLst/>
          </a:prstGeom>
          <a:noFill/>
        </p:spPr>
        <p:txBody>
          <a:bodyPr wrap="square" rtlCol="0">
            <a:spAutoFit/>
          </a:bodyPr>
          <a:lstStyle/>
          <a:p>
            <a:r>
              <a:rPr lang="en-US" sz="1600" dirty="0">
                <a:sym typeface="Wingdings" panose="05000000000000000000" pitchFamily="2" charset="2"/>
              </a:rPr>
              <a:t>5.2.3 Timing Diagram </a:t>
            </a:r>
            <a:r>
              <a:rPr lang="en-US" sz="1600" dirty="0" err="1">
                <a:sym typeface="Wingdings" panose="05000000000000000000" pitchFamily="2" charset="2"/>
              </a:rPr>
              <a:t>và</a:t>
            </a:r>
            <a:r>
              <a:rPr lang="en-US" sz="1600" dirty="0">
                <a:sym typeface="Wingdings" panose="05000000000000000000" pitchFamily="2" charset="2"/>
              </a:rPr>
              <a:t> time slot</a:t>
            </a:r>
          </a:p>
          <a:p>
            <a:pPr marL="342900" indent="-342900">
              <a:buFont typeface="Wingdings" panose="05000000000000000000" pitchFamily="2" charset="2"/>
              <a:buChar char="q"/>
            </a:pPr>
            <a:r>
              <a:rPr lang="en-US" dirty="0"/>
              <a:t>Timing diagram: </a:t>
            </a:r>
            <a:r>
              <a:rPr lang="en-US" dirty="0" err="1"/>
              <a:t>dự</a:t>
            </a:r>
            <a:r>
              <a:rPr lang="en-US" dirty="0"/>
              <a:t> </a:t>
            </a:r>
            <a:r>
              <a:rPr lang="en-US" dirty="0" err="1"/>
              <a:t>án</a:t>
            </a:r>
            <a:r>
              <a:rPr lang="en-US" dirty="0"/>
              <a:t> </a:t>
            </a:r>
            <a:r>
              <a:rPr lang="en-US" dirty="0" err="1"/>
              <a:t>này</a:t>
            </a:r>
            <a:r>
              <a:rPr lang="en-US" dirty="0"/>
              <a:t> </a:t>
            </a:r>
            <a:r>
              <a:rPr lang="en-US" dirty="0" err="1"/>
              <a:t>thiết</a:t>
            </a:r>
            <a:r>
              <a:rPr lang="en-US" dirty="0"/>
              <a:t> </a:t>
            </a:r>
            <a:r>
              <a:rPr lang="en-US" dirty="0" err="1"/>
              <a:t>kế</a:t>
            </a:r>
            <a:r>
              <a:rPr lang="en-US" dirty="0"/>
              <a:t> </a:t>
            </a:r>
            <a:r>
              <a:rPr lang="en-US" dirty="0" err="1"/>
              <a:t>cho</a:t>
            </a:r>
            <a:r>
              <a:rPr lang="en-US" dirty="0"/>
              <a:t> 1 gateway </a:t>
            </a:r>
            <a:r>
              <a:rPr lang="en-US" dirty="0" err="1"/>
              <a:t>và</a:t>
            </a:r>
            <a:r>
              <a:rPr lang="en-US" dirty="0"/>
              <a:t> 4 </a:t>
            </a:r>
            <a:r>
              <a:rPr lang="en-US" dirty="0" err="1"/>
              <a:t>nút</a:t>
            </a:r>
            <a:r>
              <a:rPr lang="en-US" dirty="0"/>
              <a:t> </a:t>
            </a:r>
            <a:r>
              <a:rPr lang="en-US" dirty="0" err="1"/>
              <a:t>cảm</a:t>
            </a:r>
            <a:r>
              <a:rPr lang="en-US" dirty="0"/>
              <a:t> </a:t>
            </a:r>
            <a:r>
              <a:rPr lang="en-US" dirty="0" err="1"/>
              <a:t>biến</a:t>
            </a:r>
            <a:endParaRPr lang="en-US" dirty="0"/>
          </a:p>
          <a:p>
            <a:br>
              <a:rPr lang="en-US" dirty="0"/>
            </a:br>
            <a:endParaRPr lang="en-US" dirty="0"/>
          </a:p>
        </p:txBody>
      </p:sp>
      <p:sp>
        <p:nvSpPr>
          <p:cNvPr id="155" name="TextBox 154">
            <a:extLst>
              <a:ext uri="{FF2B5EF4-FFF2-40B4-BE49-F238E27FC236}">
                <a16:creationId xmlns:a16="http://schemas.microsoft.com/office/drawing/2014/main" id="{1B592BFA-1F92-1FFF-C080-259F2A5A845B}"/>
              </a:ext>
            </a:extLst>
          </p:cNvPr>
          <p:cNvSpPr txBox="1"/>
          <p:nvPr/>
        </p:nvSpPr>
        <p:spPr>
          <a:xfrm>
            <a:off x="6724426" y="1540384"/>
            <a:ext cx="1481520" cy="276999"/>
          </a:xfrm>
          <a:prstGeom prst="rect">
            <a:avLst/>
          </a:prstGeom>
          <a:noFill/>
        </p:spPr>
        <p:txBody>
          <a:bodyPr wrap="square" rtlCol="0">
            <a:spAutoFit/>
          </a:bodyPr>
          <a:lstStyle/>
          <a:p>
            <a:r>
              <a:rPr lang="en-US" sz="1200" dirty="0" err="1"/>
              <a:t>Unjoined</a:t>
            </a:r>
            <a:r>
              <a:rPr lang="en-US" sz="1200" dirty="0"/>
              <a:t> node 2</a:t>
            </a:r>
          </a:p>
        </p:txBody>
      </p:sp>
      <p:grpSp>
        <p:nvGrpSpPr>
          <p:cNvPr id="28" name="Group 27">
            <a:extLst>
              <a:ext uri="{FF2B5EF4-FFF2-40B4-BE49-F238E27FC236}">
                <a16:creationId xmlns:a16="http://schemas.microsoft.com/office/drawing/2014/main" id="{6DA72DCD-6076-8654-AD85-53A97C693234}"/>
              </a:ext>
            </a:extLst>
          </p:cNvPr>
          <p:cNvGrpSpPr/>
          <p:nvPr/>
        </p:nvGrpSpPr>
        <p:grpSpPr>
          <a:xfrm>
            <a:off x="656000" y="1609865"/>
            <a:ext cx="6167815" cy="4493123"/>
            <a:chOff x="326088" y="1553636"/>
            <a:chExt cx="6167815" cy="4493123"/>
          </a:xfrm>
        </p:grpSpPr>
        <p:cxnSp>
          <p:nvCxnSpPr>
            <p:cNvPr id="4" name="Straight Connector 3">
              <a:extLst>
                <a:ext uri="{FF2B5EF4-FFF2-40B4-BE49-F238E27FC236}">
                  <a16:creationId xmlns:a16="http://schemas.microsoft.com/office/drawing/2014/main" id="{B9A7396D-BE5B-6A09-9B5A-9001B4E1460B}"/>
                </a:ext>
              </a:extLst>
            </p:cNvPr>
            <p:cNvCxnSpPr>
              <a:cxnSpLocks/>
            </p:cNvCxnSpPr>
            <p:nvPr/>
          </p:nvCxnSpPr>
          <p:spPr>
            <a:xfrm rot="5400000">
              <a:off x="2104783" y="3931646"/>
              <a:ext cx="4206240" cy="0"/>
            </a:xfrm>
            <a:prstGeom prst="line">
              <a:avLst/>
            </a:prstGeom>
            <a:ln w="57150">
              <a:solidFill>
                <a:schemeClr val="tx1">
                  <a:lumMod val="95000"/>
                  <a:lumOff val="5000"/>
                </a:schemeClr>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DFC6A6E9-E3EF-475C-AEDC-5EB3267550CB}"/>
                </a:ext>
              </a:extLst>
            </p:cNvPr>
            <p:cNvCxnSpPr>
              <a:cxnSpLocks/>
            </p:cNvCxnSpPr>
            <p:nvPr/>
          </p:nvCxnSpPr>
          <p:spPr>
            <a:xfrm rot="5400000">
              <a:off x="-1494443" y="3931646"/>
              <a:ext cx="4206240" cy="0"/>
            </a:xfrm>
            <a:prstGeom prst="line">
              <a:avLst/>
            </a:prstGeom>
            <a:ln w="57150">
              <a:solidFill>
                <a:srgbClr val="FF0000"/>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2D5D0281-DC91-574C-1995-1B11E3BBE379}"/>
                </a:ext>
              </a:extLst>
            </p:cNvPr>
            <p:cNvCxnSpPr>
              <a:cxnSpLocks/>
            </p:cNvCxnSpPr>
            <p:nvPr/>
          </p:nvCxnSpPr>
          <p:spPr>
            <a:xfrm rot="5400000">
              <a:off x="3311791" y="3931646"/>
              <a:ext cx="4206240" cy="0"/>
            </a:xfrm>
            <a:prstGeom prst="line">
              <a:avLst/>
            </a:prstGeom>
            <a:ln w="57150">
              <a:solidFill>
                <a:schemeClr val="tx1">
                  <a:lumMod val="95000"/>
                  <a:lumOff val="5000"/>
                </a:schemeClr>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2C6BAA71-368B-1909-69C0-331964182461}"/>
                </a:ext>
              </a:extLst>
            </p:cNvPr>
            <p:cNvCxnSpPr>
              <a:cxnSpLocks/>
            </p:cNvCxnSpPr>
            <p:nvPr/>
          </p:nvCxnSpPr>
          <p:spPr>
            <a:xfrm rot="5400000">
              <a:off x="4390783" y="3931646"/>
              <a:ext cx="4206240" cy="0"/>
            </a:xfrm>
            <a:prstGeom prst="line">
              <a:avLst/>
            </a:prstGeom>
            <a:ln w="57150">
              <a:solidFill>
                <a:schemeClr val="tx1">
                  <a:lumMod val="95000"/>
                  <a:lumOff val="5000"/>
                </a:schemeClr>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3ED9F7EE-9EB4-2F11-3465-64EC4F852051}"/>
                </a:ext>
              </a:extLst>
            </p:cNvPr>
            <p:cNvCxnSpPr>
              <a:cxnSpLocks/>
            </p:cNvCxnSpPr>
            <p:nvPr/>
          </p:nvCxnSpPr>
          <p:spPr>
            <a:xfrm rot="5400000">
              <a:off x="977023" y="3931646"/>
              <a:ext cx="4206240" cy="0"/>
            </a:xfrm>
            <a:prstGeom prst="line">
              <a:avLst/>
            </a:prstGeom>
            <a:ln w="57150">
              <a:solidFill>
                <a:schemeClr val="tx1">
                  <a:lumMod val="95000"/>
                  <a:lumOff val="5000"/>
                </a:schemeClr>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1" name="Rectangle 10">
              <a:extLst>
                <a:ext uri="{FF2B5EF4-FFF2-40B4-BE49-F238E27FC236}">
                  <a16:creationId xmlns:a16="http://schemas.microsoft.com/office/drawing/2014/main" id="{F3F60ABB-2615-66C3-1C16-CEC8F88812C1}"/>
                </a:ext>
              </a:extLst>
            </p:cNvPr>
            <p:cNvSpPr/>
            <p:nvPr/>
          </p:nvSpPr>
          <p:spPr>
            <a:xfrm>
              <a:off x="1211028" y="1974288"/>
              <a:ext cx="1124478" cy="1662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beacon</a:t>
              </a:r>
            </a:p>
          </p:txBody>
        </p:sp>
        <p:sp>
          <p:nvSpPr>
            <p:cNvPr id="13" name="Rectangle 12">
              <a:extLst>
                <a:ext uri="{FF2B5EF4-FFF2-40B4-BE49-F238E27FC236}">
                  <a16:creationId xmlns:a16="http://schemas.microsoft.com/office/drawing/2014/main" id="{9CACB0ED-7689-CCDB-E0B8-B9AAA9E5AEFA}"/>
                </a:ext>
              </a:extLst>
            </p:cNvPr>
            <p:cNvSpPr/>
            <p:nvPr/>
          </p:nvSpPr>
          <p:spPr>
            <a:xfrm>
              <a:off x="1213822" y="2435526"/>
              <a:ext cx="1124478" cy="1662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Join request</a:t>
              </a:r>
            </a:p>
          </p:txBody>
        </p:sp>
        <p:sp>
          <p:nvSpPr>
            <p:cNvPr id="14" name="Rectangle 13">
              <a:extLst>
                <a:ext uri="{FF2B5EF4-FFF2-40B4-BE49-F238E27FC236}">
                  <a16:creationId xmlns:a16="http://schemas.microsoft.com/office/drawing/2014/main" id="{80B89F67-D4BB-A2F0-B5E3-1C0493D1BE60}"/>
                </a:ext>
              </a:extLst>
            </p:cNvPr>
            <p:cNvSpPr/>
            <p:nvPr/>
          </p:nvSpPr>
          <p:spPr>
            <a:xfrm>
              <a:off x="1211028" y="3112344"/>
              <a:ext cx="1124478" cy="1662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Join accept</a:t>
              </a:r>
            </a:p>
          </p:txBody>
        </p:sp>
        <p:sp>
          <p:nvSpPr>
            <p:cNvPr id="16" name="Rectangle 15">
              <a:extLst>
                <a:ext uri="{FF2B5EF4-FFF2-40B4-BE49-F238E27FC236}">
                  <a16:creationId xmlns:a16="http://schemas.microsoft.com/office/drawing/2014/main" id="{1C2C92E6-9001-94BC-FE5F-AEB8E00D4C65}"/>
                </a:ext>
              </a:extLst>
            </p:cNvPr>
            <p:cNvSpPr/>
            <p:nvPr/>
          </p:nvSpPr>
          <p:spPr>
            <a:xfrm>
              <a:off x="1211028" y="3588503"/>
              <a:ext cx="1124478" cy="1662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data</a:t>
              </a:r>
            </a:p>
          </p:txBody>
        </p:sp>
        <p:cxnSp>
          <p:nvCxnSpPr>
            <p:cNvPr id="20" name="Straight Connector 19">
              <a:extLst>
                <a:ext uri="{FF2B5EF4-FFF2-40B4-BE49-F238E27FC236}">
                  <a16:creationId xmlns:a16="http://schemas.microsoft.com/office/drawing/2014/main" id="{61B7B26B-FF16-D726-688F-F8DF23427F26}"/>
                </a:ext>
              </a:extLst>
            </p:cNvPr>
            <p:cNvCxnSpPr>
              <a:cxnSpLocks/>
            </p:cNvCxnSpPr>
            <p:nvPr/>
          </p:nvCxnSpPr>
          <p:spPr>
            <a:xfrm>
              <a:off x="608676" y="2165150"/>
              <a:ext cx="5785566"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375F275D-9716-168D-1DB6-887FE408D3A7}"/>
                </a:ext>
              </a:extLst>
            </p:cNvPr>
            <p:cNvCxnSpPr>
              <a:cxnSpLocks/>
            </p:cNvCxnSpPr>
            <p:nvPr/>
          </p:nvCxnSpPr>
          <p:spPr>
            <a:xfrm>
              <a:off x="6344435" y="2165150"/>
              <a:ext cx="149460"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99720664-553F-387D-5615-7F6920246F1B}"/>
                </a:ext>
              </a:extLst>
            </p:cNvPr>
            <p:cNvCxnSpPr>
              <a:cxnSpLocks/>
            </p:cNvCxnSpPr>
            <p:nvPr/>
          </p:nvCxnSpPr>
          <p:spPr>
            <a:xfrm flipH="1">
              <a:off x="708179" y="2609118"/>
              <a:ext cx="5777467" cy="0"/>
            </a:xfrm>
            <a:prstGeom prst="line">
              <a:avLst/>
            </a:prstGeom>
            <a:ln w="19050" cap="flat" cmpd="sng" algn="ctr">
              <a:solidFill>
                <a:schemeClr val="tx1">
                  <a:lumMod val="95000"/>
                  <a:lumOff val="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Straight Arrow Connector 30">
              <a:extLst>
                <a:ext uri="{FF2B5EF4-FFF2-40B4-BE49-F238E27FC236}">
                  <a16:creationId xmlns:a16="http://schemas.microsoft.com/office/drawing/2014/main" id="{345E8345-01A6-03BB-EA7B-C1D47F23A410}"/>
                </a:ext>
              </a:extLst>
            </p:cNvPr>
            <p:cNvCxnSpPr>
              <a:cxnSpLocks/>
            </p:cNvCxnSpPr>
            <p:nvPr/>
          </p:nvCxnSpPr>
          <p:spPr>
            <a:xfrm flipH="1">
              <a:off x="608666" y="2609118"/>
              <a:ext cx="149251" cy="0"/>
            </a:xfrm>
            <a:prstGeom prst="straightConnector1">
              <a:avLst/>
            </a:prstGeom>
            <a:ln w="1905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Connector 11">
              <a:extLst>
                <a:ext uri="{FF2B5EF4-FFF2-40B4-BE49-F238E27FC236}">
                  <a16:creationId xmlns:a16="http://schemas.microsoft.com/office/drawing/2014/main" id="{5DF9F4D7-97C0-470B-E5BD-095CBD58CC7A}"/>
                </a:ext>
              </a:extLst>
            </p:cNvPr>
            <p:cNvCxnSpPr>
              <a:cxnSpLocks/>
            </p:cNvCxnSpPr>
            <p:nvPr/>
          </p:nvCxnSpPr>
          <p:spPr>
            <a:xfrm>
              <a:off x="608673" y="2165151"/>
              <a:ext cx="3551598"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E524926C-80BB-5A6C-4EE8-FFB91394C98D}"/>
                </a:ext>
              </a:extLst>
            </p:cNvPr>
            <p:cNvCxnSpPr>
              <a:cxnSpLocks/>
            </p:cNvCxnSpPr>
            <p:nvPr/>
          </p:nvCxnSpPr>
          <p:spPr>
            <a:xfrm>
              <a:off x="4129695" y="2165151"/>
              <a:ext cx="91750"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473A9A80-83A5-A7E4-39DF-5CA5320918C1}"/>
                </a:ext>
              </a:extLst>
            </p:cNvPr>
            <p:cNvCxnSpPr>
              <a:cxnSpLocks/>
            </p:cNvCxnSpPr>
            <p:nvPr/>
          </p:nvCxnSpPr>
          <p:spPr>
            <a:xfrm>
              <a:off x="608666" y="2165149"/>
              <a:ext cx="4732129"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72CEFA0E-E691-5B27-0B50-50BD7FA36E7D}"/>
                </a:ext>
              </a:extLst>
            </p:cNvPr>
            <p:cNvCxnSpPr>
              <a:cxnSpLocks/>
            </p:cNvCxnSpPr>
            <p:nvPr/>
          </p:nvCxnSpPr>
          <p:spPr>
            <a:xfrm>
              <a:off x="5300056" y="2165149"/>
              <a:ext cx="122247"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03706339-BE01-21EA-309D-FE76ACF58FF4}"/>
                </a:ext>
              </a:extLst>
            </p:cNvPr>
            <p:cNvCxnSpPr>
              <a:cxnSpLocks/>
            </p:cNvCxnSpPr>
            <p:nvPr/>
          </p:nvCxnSpPr>
          <p:spPr>
            <a:xfrm>
              <a:off x="608667" y="2161128"/>
              <a:ext cx="2424582"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24C0A58E-6224-BCB5-206C-B8C8B776EB14}"/>
                </a:ext>
              </a:extLst>
            </p:cNvPr>
            <p:cNvCxnSpPr>
              <a:cxnSpLocks/>
            </p:cNvCxnSpPr>
            <p:nvPr/>
          </p:nvCxnSpPr>
          <p:spPr>
            <a:xfrm>
              <a:off x="3012376" y="2161128"/>
              <a:ext cx="62635"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DC571F17-9052-7ECD-64D6-F018DCF00D1F}"/>
                </a:ext>
              </a:extLst>
            </p:cNvPr>
            <p:cNvCxnSpPr>
              <a:cxnSpLocks/>
            </p:cNvCxnSpPr>
            <p:nvPr/>
          </p:nvCxnSpPr>
          <p:spPr>
            <a:xfrm flipH="1">
              <a:off x="689821" y="2834850"/>
              <a:ext cx="4711603" cy="0"/>
            </a:xfrm>
            <a:prstGeom prst="line">
              <a:avLst/>
            </a:prstGeom>
            <a:ln w="19050" cap="flat" cmpd="sng" algn="ctr">
              <a:solidFill>
                <a:schemeClr val="tx1">
                  <a:lumMod val="95000"/>
                  <a:lumOff val="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02C194AF-8BFD-3C3B-C060-1F61BED7B2D5}"/>
                </a:ext>
              </a:extLst>
            </p:cNvPr>
            <p:cNvCxnSpPr>
              <a:cxnSpLocks/>
            </p:cNvCxnSpPr>
            <p:nvPr/>
          </p:nvCxnSpPr>
          <p:spPr>
            <a:xfrm flipH="1">
              <a:off x="608666" y="2834850"/>
              <a:ext cx="121716" cy="0"/>
            </a:xfrm>
            <a:prstGeom prst="straightConnector1">
              <a:avLst/>
            </a:prstGeom>
            <a:ln w="1905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Rectangle 37">
              <a:extLst>
                <a:ext uri="{FF2B5EF4-FFF2-40B4-BE49-F238E27FC236}">
                  <a16:creationId xmlns:a16="http://schemas.microsoft.com/office/drawing/2014/main" id="{EE769439-D5A1-259A-85F9-E5A18CFB6200}"/>
                </a:ext>
              </a:extLst>
            </p:cNvPr>
            <p:cNvSpPr/>
            <p:nvPr/>
          </p:nvSpPr>
          <p:spPr>
            <a:xfrm>
              <a:off x="1211028" y="2653761"/>
              <a:ext cx="1124478" cy="1662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Join request</a:t>
              </a:r>
            </a:p>
          </p:txBody>
        </p:sp>
        <p:cxnSp>
          <p:nvCxnSpPr>
            <p:cNvPr id="40" name="Straight Connector 39">
              <a:extLst>
                <a:ext uri="{FF2B5EF4-FFF2-40B4-BE49-F238E27FC236}">
                  <a16:creationId xmlns:a16="http://schemas.microsoft.com/office/drawing/2014/main" id="{8702BE53-0A1E-2F5B-1A3D-737202676957}"/>
                </a:ext>
              </a:extLst>
            </p:cNvPr>
            <p:cNvCxnSpPr>
              <a:cxnSpLocks/>
            </p:cNvCxnSpPr>
            <p:nvPr/>
          </p:nvCxnSpPr>
          <p:spPr>
            <a:xfrm>
              <a:off x="600427" y="3294742"/>
              <a:ext cx="5785566"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Arrow Connector 40">
              <a:extLst>
                <a:ext uri="{FF2B5EF4-FFF2-40B4-BE49-F238E27FC236}">
                  <a16:creationId xmlns:a16="http://schemas.microsoft.com/office/drawing/2014/main" id="{46CE7A36-27F3-EDD8-AB9D-30D06310040B}"/>
                </a:ext>
              </a:extLst>
            </p:cNvPr>
            <p:cNvCxnSpPr>
              <a:cxnSpLocks/>
            </p:cNvCxnSpPr>
            <p:nvPr/>
          </p:nvCxnSpPr>
          <p:spPr>
            <a:xfrm>
              <a:off x="6336186" y="3294742"/>
              <a:ext cx="149460"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5233F275-1C53-F3E9-9D4A-25D571424991}"/>
                </a:ext>
              </a:extLst>
            </p:cNvPr>
            <p:cNvCxnSpPr>
              <a:cxnSpLocks/>
            </p:cNvCxnSpPr>
            <p:nvPr/>
          </p:nvCxnSpPr>
          <p:spPr>
            <a:xfrm>
              <a:off x="601549" y="3294742"/>
              <a:ext cx="4732129" cy="0"/>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Arrow Connector 43">
              <a:extLst>
                <a:ext uri="{FF2B5EF4-FFF2-40B4-BE49-F238E27FC236}">
                  <a16:creationId xmlns:a16="http://schemas.microsoft.com/office/drawing/2014/main" id="{E6DDF125-DF09-2530-7A78-291655490D2E}"/>
                </a:ext>
              </a:extLst>
            </p:cNvPr>
            <p:cNvCxnSpPr>
              <a:cxnSpLocks/>
            </p:cNvCxnSpPr>
            <p:nvPr/>
          </p:nvCxnSpPr>
          <p:spPr>
            <a:xfrm>
              <a:off x="5292939" y="3294742"/>
              <a:ext cx="122247"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Connector 51">
              <a:extLst>
                <a:ext uri="{FF2B5EF4-FFF2-40B4-BE49-F238E27FC236}">
                  <a16:creationId xmlns:a16="http://schemas.microsoft.com/office/drawing/2014/main" id="{EDCC8BB1-936E-1B5A-8C2E-4CC65B94AC95}"/>
                </a:ext>
              </a:extLst>
            </p:cNvPr>
            <p:cNvCxnSpPr>
              <a:cxnSpLocks/>
            </p:cNvCxnSpPr>
            <p:nvPr/>
          </p:nvCxnSpPr>
          <p:spPr>
            <a:xfrm flipH="1" flipV="1">
              <a:off x="608403" y="3588503"/>
              <a:ext cx="3763" cy="835830"/>
            </a:xfrm>
            <a:prstGeom prst="line">
              <a:avLst/>
            </a:prstGeom>
            <a:ln w="57150">
              <a:solidFill>
                <a:srgbClr val="0070C0"/>
              </a:solidFill>
            </a:ln>
          </p:spPr>
          <p:style>
            <a:lnRef idx="3">
              <a:schemeClr val="accent5"/>
            </a:lnRef>
            <a:fillRef idx="0">
              <a:schemeClr val="accent5"/>
            </a:fillRef>
            <a:effectRef idx="2">
              <a:schemeClr val="accent5"/>
            </a:effectRef>
            <a:fontRef idx="minor">
              <a:schemeClr val="tx1"/>
            </a:fontRef>
          </p:style>
        </p:cxnSp>
        <p:sp>
          <p:nvSpPr>
            <p:cNvPr id="56" name="TextBox 55">
              <a:extLst>
                <a:ext uri="{FF2B5EF4-FFF2-40B4-BE49-F238E27FC236}">
                  <a16:creationId xmlns:a16="http://schemas.microsoft.com/office/drawing/2014/main" id="{E5D8D619-8C65-E403-A481-24E020790CF3}"/>
                </a:ext>
              </a:extLst>
            </p:cNvPr>
            <p:cNvSpPr txBox="1"/>
            <p:nvPr/>
          </p:nvSpPr>
          <p:spPr>
            <a:xfrm rot="16200000">
              <a:off x="4099" y="3920692"/>
              <a:ext cx="941379" cy="276999"/>
            </a:xfrm>
            <a:prstGeom prst="rect">
              <a:avLst/>
            </a:prstGeom>
            <a:noFill/>
          </p:spPr>
          <p:txBody>
            <a:bodyPr wrap="square" rtlCol="0">
              <a:spAutoFit/>
            </a:bodyPr>
            <a:lstStyle/>
            <a:p>
              <a:r>
                <a:rPr lang="en-US" sz="1200" dirty="0"/>
                <a:t>Time slot 1</a:t>
              </a:r>
            </a:p>
          </p:txBody>
        </p:sp>
        <p:cxnSp>
          <p:nvCxnSpPr>
            <p:cNvPr id="58" name="Straight Connector 57">
              <a:extLst>
                <a:ext uri="{FF2B5EF4-FFF2-40B4-BE49-F238E27FC236}">
                  <a16:creationId xmlns:a16="http://schemas.microsoft.com/office/drawing/2014/main" id="{20332B09-BA1C-B21F-1848-44BD9F1566EF}"/>
                </a:ext>
              </a:extLst>
            </p:cNvPr>
            <p:cNvCxnSpPr>
              <a:cxnSpLocks/>
            </p:cNvCxnSpPr>
            <p:nvPr/>
          </p:nvCxnSpPr>
          <p:spPr>
            <a:xfrm flipH="1">
              <a:off x="668827" y="3774859"/>
              <a:ext cx="2411312" cy="0"/>
            </a:xfrm>
            <a:prstGeom prst="line">
              <a:avLst/>
            </a:prstGeom>
            <a:ln w="19050" cap="flat" cmpd="sng" algn="ctr">
              <a:solidFill>
                <a:schemeClr val="accent6">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 name="Straight Arrow Connector 58">
              <a:extLst>
                <a:ext uri="{FF2B5EF4-FFF2-40B4-BE49-F238E27FC236}">
                  <a16:creationId xmlns:a16="http://schemas.microsoft.com/office/drawing/2014/main" id="{7E0ECA99-24B3-1758-1335-D1E71A67BF1D}"/>
                </a:ext>
              </a:extLst>
            </p:cNvPr>
            <p:cNvCxnSpPr>
              <a:cxnSpLocks/>
            </p:cNvCxnSpPr>
            <p:nvPr/>
          </p:nvCxnSpPr>
          <p:spPr>
            <a:xfrm flipH="1">
              <a:off x="627294" y="3774859"/>
              <a:ext cx="62292" cy="0"/>
            </a:xfrm>
            <a:prstGeom prst="straightConnector1">
              <a:avLst/>
            </a:prstGeom>
            <a:ln w="19050" cap="flat" cmpd="sng" algn="ctr">
              <a:solidFill>
                <a:schemeClr val="accent6">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Connector 62">
              <a:extLst>
                <a:ext uri="{FF2B5EF4-FFF2-40B4-BE49-F238E27FC236}">
                  <a16:creationId xmlns:a16="http://schemas.microsoft.com/office/drawing/2014/main" id="{77F87750-AF6B-997B-06C5-72592E39AD70}"/>
                </a:ext>
              </a:extLst>
            </p:cNvPr>
            <p:cNvCxnSpPr>
              <a:cxnSpLocks/>
            </p:cNvCxnSpPr>
            <p:nvPr/>
          </p:nvCxnSpPr>
          <p:spPr>
            <a:xfrm flipH="1" flipV="1">
              <a:off x="608350" y="4620707"/>
              <a:ext cx="3763" cy="835830"/>
            </a:xfrm>
            <a:prstGeom prst="line">
              <a:avLst/>
            </a:prstGeom>
            <a:ln w="57150">
              <a:solidFill>
                <a:srgbClr val="0070C0"/>
              </a:solidFill>
            </a:ln>
          </p:spPr>
          <p:style>
            <a:lnRef idx="3">
              <a:schemeClr val="accent5"/>
            </a:lnRef>
            <a:fillRef idx="0">
              <a:schemeClr val="accent5"/>
            </a:fillRef>
            <a:effectRef idx="2">
              <a:schemeClr val="accent5"/>
            </a:effectRef>
            <a:fontRef idx="minor">
              <a:schemeClr val="tx1"/>
            </a:fontRef>
          </p:style>
        </p:cxnSp>
        <p:cxnSp>
          <p:nvCxnSpPr>
            <p:cNvPr id="72" name="Straight Connector 71">
              <a:extLst>
                <a:ext uri="{FF2B5EF4-FFF2-40B4-BE49-F238E27FC236}">
                  <a16:creationId xmlns:a16="http://schemas.microsoft.com/office/drawing/2014/main" id="{ED466D4F-73D7-BF66-04FE-9A4417A2093A}"/>
                </a:ext>
              </a:extLst>
            </p:cNvPr>
            <p:cNvCxnSpPr>
              <a:cxnSpLocks/>
            </p:cNvCxnSpPr>
            <p:nvPr/>
          </p:nvCxnSpPr>
          <p:spPr>
            <a:xfrm flipH="1">
              <a:off x="690668" y="5249076"/>
              <a:ext cx="3525022" cy="0"/>
            </a:xfrm>
            <a:prstGeom prst="line">
              <a:avLst/>
            </a:prstGeom>
            <a:ln w="19050" cap="flat" cmpd="sng" algn="ctr">
              <a:solidFill>
                <a:schemeClr val="accent6">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1E09A81C-A139-387C-50E6-9EAE0A141697}"/>
                </a:ext>
              </a:extLst>
            </p:cNvPr>
            <p:cNvCxnSpPr>
              <a:cxnSpLocks/>
            </p:cNvCxnSpPr>
            <p:nvPr/>
          </p:nvCxnSpPr>
          <p:spPr>
            <a:xfrm flipH="1">
              <a:off x="629952" y="5249076"/>
              <a:ext cx="91063" cy="0"/>
            </a:xfrm>
            <a:prstGeom prst="straightConnector1">
              <a:avLst/>
            </a:prstGeom>
            <a:ln w="19050" cap="flat" cmpd="sng" algn="ctr">
              <a:solidFill>
                <a:schemeClr val="accent6">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5" name="Rectangle 74">
              <a:extLst>
                <a:ext uri="{FF2B5EF4-FFF2-40B4-BE49-F238E27FC236}">
                  <a16:creationId xmlns:a16="http://schemas.microsoft.com/office/drawing/2014/main" id="{9ED8E8E7-CC43-CD8E-9749-ECBEE55594B4}"/>
                </a:ext>
              </a:extLst>
            </p:cNvPr>
            <p:cNvSpPr/>
            <p:nvPr/>
          </p:nvSpPr>
          <p:spPr>
            <a:xfrm>
              <a:off x="1211028" y="5073301"/>
              <a:ext cx="1124478" cy="1662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data</a:t>
              </a:r>
            </a:p>
          </p:txBody>
        </p:sp>
        <p:sp>
          <p:nvSpPr>
            <p:cNvPr id="76" name="TextBox 75">
              <a:extLst>
                <a:ext uri="{FF2B5EF4-FFF2-40B4-BE49-F238E27FC236}">
                  <a16:creationId xmlns:a16="http://schemas.microsoft.com/office/drawing/2014/main" id="{9C34A323-BD62-C301-6AB1-47B50EF69E53}"/>
                </a:ext>
              </a:extLst>
            </p:cNvPr>
            <p:cNvSpPr txBox="1"/>
            <p:nvPr/>
          </p:nvSpPr>
          <p:spPr>
            <a:xfrm rot="16200000">
              <a:off x="4099" y="4839625"/>
              <a:ext cx="941379" cy="276999"/>
            </a:xfrm>
            <a:prstGeom prst="rect">
              <a:avLst/>
            </a:prstGeom>
            <a:noFill/>
          </p:spPr>
          <p:txBody>
            <a:bodyPr wrap="square" rtlCol="0">
              <a:spAutoFit/>
            </a:bodyPr>
            <a:lstStyle/>
            <a:p>
              <a:r>
                <a:rPr lang="en-US" sz="1200" dirty="0"/>
                <a:t>Time slot 2</a:t>
              </a:r>
            </a:p>
          </p:txBody>
        </p:sp>
        <p:cxnSp>
          <p:nvCxnSpPr>
            <p:cNvPr id="83" name="Straight Connector 82">
              <a:extLst>
                <a:ext uri="{FF2B5EF4-FFF2-40B4-BE49-F238E27FC236}">
                  <a16:creationId xmlns:a16="http://schemas.microsoft.com/office/drawing/2014/main" id="{FCC811B1-DD3C-D82A-CC19-AD0360876A29}"/>
                </a:ext>
              </a:extLst>
            </p:cNvPr>
            <p:cNvCxnSpPr>
              <a:cxnSpLocks/>
            </p:cNvCxnSpPr>
            <p:nvPr/>
          </p:nvCxnSpPr>
          <p:spPr>
            <a:xfrm flipV="1">
              <a:off x="3075011" y="2019300"/>
              <a:ext cx="0" cy="262890"/>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88" name="Straight Connector 87">
              <a:extLst>
                <a:ext uri="{FF2B5EF4-FFF2-40B4-BE49-F238E27FC236}">
                  <a16:creationId xmlns:a16="http://schemas.microsoft.com/office/drawing/2014/main" id="{B589E47E-B54C-40F1-A8C4-614BC42D92C3}"/>
                </a:ext>
              </a:extLst>
            </p:cNvPr>
            <p:cNvCxnSpPr>
              <a:cxnSpLocks/>
            </p:cNvCxnSpPr>
            <p:nvPr/>
          </p:nvCxnSpPr>
          <p:spPr>
            <a:xfrm flipV="1">
              <a:off x="4207903" y="2000022"/>
              <a:ext cx="0" cy="262890"/>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89" name="Straight Connector 88">
              <a:extLst>
                <a:ext uri="{FF2B5EF4-FFF2-40B4-BE49-F238E27FC236}">
                  <a16:creationId xmlns:a16="http://schemas.microsoft.com/office/drawing/2014/main" id="{AA6E8341-15E6-8103-0EB3-17B55C382EF1}"/>
                </a:ext>
              </a:extLst>
            </p:cNvPr>
            <p:cNvCxnSpPr>
              <a:cxnSpLocks/>
            </p:cNvCxnSpPr>
            <p:nvPr/>
          </p:nvCxnSpPr>
          <p:spPr>
            <a:xfrm flipV="1">
              <a:off x="5414911" y="2009070"/>
              <a:ext cx="0" cy="1353890"/>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90" name="Straight Connector 89">
              <a:extLst>
                <a:ext uri="{FF2B5EF4-FFF2-40B4-BE49-F238E27FC236}">
                  <a16:creationId xmlns:a16="http://schemas.microsoft.com/office/drawing/2014/main" id="{1C4A2030-B07D-2117-275F-0975CF84EA16}"/>
                </a:ext>
              </a:extLst>
            </p:cNvPr>
            <p:cNvCxnSpPr>
              <a:cxnSpLocks/>
            </p:cNvCxnSpPr>
            <p:nvPr/>
          </p:nvCxnSpPr>
          <p:spPr>
            <a:xfrm flipV="1">
              <a:off x="6493895" y="2009070"/>
              <a:ext cx="0" cy="1353890"/>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94" name="Straight Connector 93">
              <a:extLst>
                <a:ext uri="{FF2B5EF4-FFF2-40B4-BE49-F238E27FC236}">
                  <a16:creationId xmlns:a16="http://schemas.microsoft.com/office/drawing/2014/main" id="{FEA1CD4B-90C1-B939-1548-A5611C3F44A3}"/>
                </a:ext>
              </a:extLst>
            </p:cNvPr>
            <p:cNvCxnSpPr>
              <a:cxnSpLocks/>
            </p:cNvCxnSpPr>
            <p:nvPr/>
          </p:nvCxnSpPr>
          <p:spPr>
            <a:xfrm flipV="1">
              <a:off x="3075011" y="3522787"/>
              <a:ext cx="0" cy="504144"/>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97" name="Straight Connector 96">
              <a:extLst>
                <a:ext uri="{FF2B5EF4-FFF2-40B4-BE49-F238E27FC236}">
                  <a16:creationId xmlns:a16="http://schemas.microsoft.com/office/drawing/2014/main" id="{BCA8D79E-CE79-FE44-DBB3-22269DB04292}"/>
                </a:ext>
              </a:extLst>
            </p:cNvPr>
            <p:cNvCxnSpPr>
              <a:cxnSpLocks/>
            </p:cNvCxnSpPr>
            <p:nvPr/>
          </p:nvCxnSpPr>
          <p:spPr>
            <a:xfrm flipV="1">
              <a:off x="4207903" y="4529881"/>
              <a:ext cx="0" cy="808277"/>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146" name="Straight Connector 145">
              <a:extLst>
                <a:ext uri="{FF2B5EF4-FFF2-40B4-BE49-F238E27FC236}">
                  <a16:creationId xmlns:a16="http://schemas.microsoft.com/office/drawing/2014/main" id="{2EB1C797-687D-2ECF-468A-1B378E6A7D7E}"/>
                </a:ext>
              </a:extLst>
            </p:cNvPr>
            <p:cNvCxnSpPr>
              <a:cxnSpLocks/>
            </p:cNvCxnSpPr>
            <p:nvPr/>
          </p:nvCxnSpPr>
          <p:spPr>
            <a:xfrm>
              <a:off x="627294" y="6034766"/>
              <a:ext cx="5858352"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8" name="Straight Connector 147">
              <a:extLst>
                <a:ext uri="{FF2B5EF4-FFF2-40B4-BE49-F238E27FC236}">
                  <a16:creationId xmlns:a16="http://schemas.microsoft.com/office/drawing/2014/main" id="{F9269F60-1DDB-A1EA-EF62-0A2653815EE0}"/>
                </a:ext>
              </a:extLst>
            </p:cNvPr>
            <p:cNvCxnSpPr>
              <a:cxnSpLocks/>
            </p:cNvCxnSpPr>
            <p:nvPr/>
          </p:nvCxnSpPr>
          <p:spPr>
            <a:xfrm>
              <a:off x="627294" y="1828525"/>
              <a:ext cx="5858352"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0" name="TextBox 149">
              <a:extLst>
                <a:ext uri="{FF2B5EF4-FFF2-40B4-BE49-F238E27FC236}">
                  <a16:creationId xmlns:a16="http://schemas.microsoft.com/office/drawing/2014/main" id="{78B49446-BB85-9756-AC6C-601EE6189D1B}"/>
                </a:ext>
              </a:extLst>
            </p:cNvPr>
            <p:cNvSpPr txBox="1"/>
            <p:nvPr/>
          </p:nvSpPr>
          <p:spPr>
            <a:xfrm>
              <a:off x="1131029" y="1568958"/>
              <a:ext cx="1875394" cy="276999"/>
            </a:xfrm>
            <a:prstGeom prst="rect">
              <a:avLst/>
            </a:prstGeom>
            <a:noFill/>
          </p:spPr>
          <p:txBody>
            <a:bodyPr wrap="square" rtlCol="0">
              <a:spAutoFit/>
            </a:bodyPr>
            <a:lstStyle/>
            <a:p>
              <a:r>
                <a:rPr lang="en-US" sz="1200" dirty="0"/>
                <a:t>START OF PERIOD</a:t>
              </a:r>
            </a:p>
          </p:txBody>
        </p:sp>
        <p:sp>
          <p:nvSpPr>
            <p:cNvPr id="151" name="TextBox 150">
              <a:extLst>
                <a:ext uri="{FF2B5EF4-FFF2-40B4-BE49-F238E27FC236}">
                  <a16:creationId xmlns:a16="http://schemas.microsoft.com/office/drawing/2014/main" id="{06DCE4DF-DAD9-951B-54D4-D230205D18AE}"/>
                </a:ext>
              </a:extLst>
            </p:cNvPr>
            <p:cNvSpPr txBox="1"/>
            <p:nvPr/>
          </p:nvSpPr>
          <p:spPr>
            <a:xfrm>
              <a:off x="1138989" y="5769760"/>
              <a:ext cx="1875394" cy="276999"/>
            </a:xfrm>
            <a:prstGeom prst="rect">
              <a:avLst/>
            </a:prstGeom>
            <a:noFill/>
          </p:spPr>
          <p:txBody>
            <a:bodyPr wrap="square" rtlCol="0">
              <a:spAutoFit/>
            </a:bodyPr>
            <a:lstStyle/>
            <a:p>
              <a:r>
                <a:rPr lang="en-US" sz="1200" dirty="0"/>
                <a:t>END OF PERIOD</a:t>
              </a:r>
            </a:p>
          </p:txBody>
        </p:sp>
        <p:sp>
          <p:nvSpPr>
            <p:cNvPr id="152" name="TextBox 151">
              <a:extLst>
                <a:ext uri="{FF2B5EF4-FFF2-40B4-BE49-F238E27FC236}">
                  <a16:creationId xmlns:a16="http://schemas.microsoft.com/office/drawing/2014/main" id="{92B9FDD1-6D7A-C141-9CD3-CB7B9972DFF5}"/>
                </a:ext>
              </a:extLst>
            </p:cNvPr>
            <p:cNvSpPr txBox="1"/>
            <p:nvPr/>
          </p:nvSpPr>
          <p:spPr>
            <a:xfrm>
              <a:off x="2749654" y="1568959"/>
              <a:ext cx="650714" cy="276999"/>
            </a:xfrm>
            <a:prstGeom prst="rect">
              <a:avLst/>
            </a:prstGeom>
            <a:noFill/>
          </p:spPr>
          <p:txBody>
            <a:bodyPr wrap="square" rtlCol="0">
              <a:spAutoFit/>
            </a:bodyPr>
            <a:lstStyle/>
            <a:p>
              <a:r>
                <a:rPr lang="en-US" sz="1200" dirty="0"/>
                <a:t>Node 1</a:t>
              </a:r>
            </a:p>
          </p:txBody>
        </p:sp>
        <p:sp>
          <p:nvSpPr>
            <p:cNvPr id="153" name="TextBox 152">
              <a:extLst>
                <a:ext uri="{FF2B5EF4-FFF2-40B4-BE49-F238E27FC236}">
                  <a16:creationId xmlns:a16="http://schemas.microsoft.com/office/drawing/2014/main" id="{D07C06BB-E764-CE33-03F1-8F7BA60F5425}"/>
                </a:ext>
              </a:extLst>
            </p:cNvPr>
            <p:cNvSpPr txBox="1"/>
            <p:nvPr/>
          </p:nvSpPr>
          <p:spPr>
            <a:xfrm>
              <a:off x="3902476" y="1583586"/>
              <a:ext cx="650714" cy="276999"/>
            </a:xfrm>
            <a:prstGeom prst="rect">
              <a:avLst/>
            </a:prstGeom>
            <a:noFill/>
          </p:spPr>
          <p:txBody>
            <a:bodyPr wrap="square" rtlCol="0">
              <a:spAutoFit/>
            </a:bodyPr>
            <a:lstStyle/>
            <a:p>
              <a:r>
                <a:rPr lang="en-US" sz="1200" dirty="0"/>
                <a:t>Node 2</a:t>
              </a:r>
            </a:p>
          </p:txBody>
        </p:sp>
        <p:sp>
          <p:nvSpPr>
            <p:cNvPr id="154" name="TextBox 153">
              <a:extLst>
                <a:ext uri="{FF2B5EF4-FFF2-40B4-BE49-F238E27FC236}">
                  <a16:creationId xmlns:a16="http://schemas.microsoft.com/office/drawing/2014/main" id="{46F8223F-22BC-4D06-5E31-0F6A11C5FA71}"/>
                </a:ext>
              </a:extLst>
            </p:cNvPr>
            <p:cNvSpPr txBox="1"/>
            <p:nvPr/>
          </p:nvSpPr>
          <p:spPr>
            <a:xfrm>
              <a:off x="4827246" y="1553636"/>
              <a:ext cx="1481520" cy="276999"/>
            </a:xfrm>
            <a:prstGeom prst="rect">
              <a:avLst/>
            </a:prstGeom>
            <a:noFill/>
          </p:spPr>
          <p:txBody>
            <a:bodyPr wrap="square" rtlCol="0">
              <a:spAutoFit/>
            </a:bodyPr>
            <a:lstStyle/>
            <a:p>
              <a:r>
                <a:rPr lang="en-US" sz="1200" dirty="0" err="1"/>
                <a:t>Unjoined</a:t>
              </a:r>
              <a:r>
                <a:rPr lang="en-US" sz="1200" dirty="0"/>
                <a:t> node 1</a:t>
              </a:r>
            </a:p>
          </p:txBody>
        </p:sp>
        <p:sp>
          <p:nvSpPr>
            <p:cNvPr id="156" name="TextBox 155">
              <a:extLst>
                <a:ext uri="{FF2B5EF4-FFF2-40B4-BE49-F238E27FC236}">
                  <a16:creationId xmlns:a16="http://schemas.microsoft.com/office/drawing/2014/main" id="{03BBE4F4-AC3A-71BA-70DB-A03DDA6F1902}"/>
                </a:ext>
              </a:extLst>
            </p:cNvPr>
            <p:cNvSpPr txBox="1"/>
            <p:nvPr/>
          </p:nvSpPr>
          <p:spPr>
            <a:xfrm>
              <a:off x="326088" y="1574193"/>
              <a:ext cx="887734" cy="276999"/>
            </a:xfrm>
            <a:prstGeom prst="rect">
              <a:avLst/>
            </a:prstGeom>
            <a:noFill/>
          </p:spPr>
          <p:txBody>
            <a:bodyPr wrap="square" rtlCol="0">
              <a:spAutoFit/>
            </a:bodyPr>
            <a:lstStyle/>
            <a:p>
              <a:r>
                <a:rPr lang="en-US" sz="1200" dirty="0"/>
                <a:t>Gateway</a:t>
              </a:r>
            </a:p>
          </p:txBody>
        </p:sp>
      </p:grpSp>
      <p:cxnSp>
        <p:nvCxnSpPr>
          <p:cNvPr id="172" name="Straight Connector 171">
            <a:extLst>
              <a:ext uri="{FF2B5EF4-FFF2-40B4-BE49-F238E27FC236}">
                <a16:creationId xmlns:a16="http://schemas.microsoft.com/office/drawing/2014/main" id="{4545CCEB-FFDC-FC59-8A09-D2AA91D172B7}"/>
              </a:ext>
            </a:extLst>
          </p:cNvPr>
          <p:cNvCxnSpPr>
            <a:cxnSpLocks/>
          </p:cNvCxnSpPr>
          <p:nvPr/>
        </p:nvCxnSpPr>
        <p:spPr>
          <a:xfrm flipH="1">
            <a:off x="7659723" y="3567499"/>
            <a:ext cx="934720" cy="0"/>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177" name="Straight Connector 176">
            <a:extLst>
              <a:ext uri="{FF2B5EF4-FFF2-40B4-BE49-F238E27FC236}">
                <a16:creationId xmlns:a16="http://schemas.microsoft.com/office/drawing/2014/main" id="{FB9D890A-48E6-04D8-E62C-799B628A8C61}"/>
              </a:ext>
            </a:extLst>
          </p:cNvPr>
          <p:cNvCxnSpPr>
            <a:cxnSpLocks/>
          </p:cNvCxnSpPr>
          <p:nvPr/>
        </p:nvCxnSpPr>
        <p:spPr>
          <a:xfrm flipH="1">
            <a:off x="7659723" y="3985375"/>
            <a:ext cx="934720" cy="0"/>
          </a:xfrm>
          <a:prstGeom prst="line">
            <a:avLst/>
          </a:prstGeom>
          <a:ln w="57150">
            <a:solidFill>
              <a:schemeClr val="tx1"/>
            </a:solidFill>
          </a:ln>
        </p:spPr>
        <p:style>
          <a:lnRef idx="3">
            <a:schemeClr val="accent5"/>
          </a:lnRef>
          <a:fillRef idx="0">
            <a:schemeClr val="accent5"/>
          </a:fillRef>
          <a:effectRef idx="2">
            <a:schemeClr val="accent5"/>
          </a:effectRef>
          <a:fontRef idx="minor">
            <a:schemeClr val="tx1"/>
          </a:fontRef>
        </p:style>
      </p:cxnSp>
      <p:sp>
        <p:nvSpPr>
          <p:cNvPr id="178" name="TextBox 177">
            <a:extLst>
              <a:ext uri="{FF2B5EF4-FFF2-40B4-BE49-F238E27FC236}">
                <a16:creationId xmlns:a16="http://schemas.microsoft.com/office/drawing/2014/main" id="{1FAA1CC9-6CE6-B42E-76F5-0FEE23A67887}"/>
              </a:ext>
            </a:extLst>
          </p:cNvPr>
          <p:cNvSpPr txBox="1"/>
          <p:nvPr/>
        </p:nvSpPr>
        <p:spPr>
          <a:xfrm>
            <a:off x="7801726" y="3290500"/>
            <a:ext cx="650714" cy="276999"/>
          </a:xfrm>
          <a:prstGeom prst="rect">
            <a:avLst/>
          </a:prstGeom>
          <a:noFill/>
        </p:spPr>
        <p:txBody>
          <a:bodyPr wrap="square" rtlCol="0">
            <a:spAutoFit/>
          </a:bodyPr>
          <a:lstStyle/>
          <a:p>
            <a:r>
              <a:rPr lang="en-US" sz="1200" dirty="0"/>
              <a:t>Active</a:t>
            </a:r>
          </a:p>
        </p:txBody>
      </p:sp>
      <p:sp>
        <p:nvSpPr>
          <p:cNvPr id="179" name="TextBox 178">
            <a:extLst>
              <a:ext uri="{FF2B5EF4-FFF2-40B4-BE49-F238E27FC236}">
                <a16:creationId xmlns:a16="http://schemas.microsoft.com/office/drawing/2014/main" id="{6E0F3192-9C11-1C87-7803-F34BBC1F0899}"/>
              </a:ext>
            </a:extLst>
          </p:cNvPr>
          <p:cNvSpPr txBox="1"/>
          <p:nvPr/>
        </p:nvSpPr>
        <p:spPr>
          <a:xfrm>
            <a:off x="7801726" y="3717928"/>
            <a:ext cx="650714" cy="276999"/>
          </a:xfrm>
          <a:prstGeom prst="rect">
            <a:avLst/>
          </a:prstGeom>
          <a:noFill/>
        </p:spPr>
        <p:txBody>
          <a:bodyPr wrap="square" rtlCol="0">
            <a:spAutoFit/>
          </a:bodyPr>
          <a:lstStyle/>
          <a:p>
            <a:r>
              <a:rPr lang="en-US" sz="1200" dirty="0"/>
              <a:t>Sleep</a:t>
            </a:r>
          </a:p>
        </p:txBody>
      </p:sp>
    </p:spTree>
    <p:extLst>
      <p:ext uri="{BB962C8B-B14F-4D97-AF65-F5344CB8AC3E}">
        <p14:creationId xmlns:p14="http://schemas.microsoft.com/office/powerpoint/2010/main" val="2842027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extBox 2">
            <a:extLst>
              <a:ext uri="{FF2B5EF4-FFF2-40B4-BE49-F238E27FC236}">
                <a16:creationId xmlns:a16="http://schemas.microsoft.com/office/drawing/2014/main" id="{D7A8068C-AA70-C43D-D7B5-1ED962F57C8E}"/>
              </a:ext>
            </a:extLst>
          </p:cNvPr>
          <p:cNvSpPr txBox="1"/>
          <p:nvPr/>
        </p:nvSpPr>
        <p:spPr>
          <a:xfrm>
            <a:off x="396115" y="905123"/>
            <a:ext cx="8512808" cy="3385542"/>
          </a:xfrm>
          <a:prstGeom prst="rect">
            <a:avLst/>
          </a:prstGeom>
          <a:noFill/>
        </p:spPr>
        <p:txBody>
          <a:bodyPr wrap="square" rtlCol="0">
            <a:spAutoFit/>
          </a:bodyPr>
          <a:lstStyle/>
          <a:p>
            <a:r>
              <a:rPr lang="en-US" sz="1600" dirty="0">
                <a:sym typeface="Wingdings" panose="05000000000000000000" pitchFamily="2" charset="2"/>
              </a:rPr>
              <a:t>5.2.3 Timing Diagram </a:t>
            </a:r>
            <a:r>
              <a:rPr lang="en-US" sz="1600" dirty="0" err="1">
                <a:sym typeface="Wingdings" panose="05000000000000000000" pitchFamily="2" charset="2"/>
              </a:rPr>
              <a:t>và</a:t>
            </a:r>
            <a:r>
              <a:rPr lang="en-US" sz="1600" dirty="0">
                <a:sym typeface="Wingdings" panose="05000000000000000000" pitchFamily="2" charset="2"/>
              </a:rPr>
              <a:t> time slot</a:t>
            </a:r>
          </a:p>
          <a:p>
            <a:pPr marL="342900" indent="-342900">
              <a:buFont typeface="Wingdings" panose="05000000000000000000" pitchFamily="2" charset="2"/>
              <a:buChar char="q"/>
            </a:pPr>
            <a:r>
              <a:rPr lang="en-US" dirty="0"/>
              <a:t>Time slot</a:t>
            </a:r>
          </a:p>
          <a:p>
            <a:r>
              <a:rPr lang="en-US" dirty="0"/>
              <a:t>Time slot </a:t>
            </a:r>
            <a:r>
              <a:rPr lang="en-US" dirty="0" err="1"/>
              <a:t>là</a:t>
            </a:r>
            <a:r>
              <a:rPr lang="en-US" dirty="0"/>
              <a:t> </a:t>
            </a:r>
            <a:r>
              <a:rPr lang="en-US" dirty="0" err="1"/>
              <a:t>khoảng</a:t>
            </a:r>
            <a:r>
              <a:rPr lang="en-US" dirty="0"/>
              <a:t> </a:t>
            </a:r>
            <a:r>
              <a:rPr lang="en-US" dirty="0" err="1"/>
              <a:t>thời</a:t>
            </a:r>
            <a:r>
              <a:rPr lang="en-US" dirty="0"/>
              <a:t> </a:t>
            </a:r>
            <a:r>
              <a:rPr lang="en-US" dirty="0" err="1"/>
              <a:t>gian</a:t>
            </a:r>
            <a:r>
              <a:rPr lang="en-US" dirty="0"/>
              <a:t> </a:t>
            </a:r>
            <a:r>
              <a:rPr lang="en-US" dirty="0" err="1"/>
              <a:t>mỗi</a:t>
            </a:r>
            <a:r>
              <a:rPr lang="en-US" dirty="0"/>
              <a:t> node </a:t>
            </a:r>
            <a:r>
              <a:rPr lang="en-US" dirty="0" err="1"/>
              <a:t>được</a:t>
            </a:r>
            <a:r>
              <a:rPr lang="en-US" dirty="0"/>
              <a:t> </a:t>
            </a:r>
            <a:r>
              <a:rPr lang="en-US" dirty="0" err="1"/>
              <a:t>cấp</a:t>
            </a:r>
            <a:r>
              <a:rPr lang="en-US" dirty="0"/>
              <a:t> </a:t>
            </a:r>
            <a:r>
              <a:rPr lang="en-US" dirty="0" err="1"/>
              <a:t>phát</a:t>
            </a:r>
            <a:r>
              <a:rPr lang="en-US" dirty="0"/>
              <a:t> </a:t>
            </a:r>
            <a:r>
              <a:rPr lang="en-US" dirty="0" err="1"/>
              <a:t>để</a:t>
            </a:r>
            <a:r>
              <a:rPr lang="en-US" dirty="0"/>
              <a:t> </a:t>
            </a:r>
            <a:r>
              <a:rPr lang="en-US" dirty="0" err="1"/>
              <a:t>truyền</a:t>
            </a:r>
            <a:r>
              <a:rPr lang="en-US" dirty="0"/>
              <a:t> </a:t>
            </a:r>
            <a:r>
              <a:rPr lang="en-US" dirty="0" err="1"/>
              <a:t>dữ</a:t>
            </a:r>
            <a:r>
              <a:rPr lang="en-US" dirty="0"/>
              <a:t> </a:t>
            </a:r>
            <a:r>
              <a:rPr lang="en-US" dirty="0" err="1"/>
              <a:t>liệu</a:t>
            </a:r>
            <a:r>
              <a:rPr lang="en-US" dirty="0"/>
              <a:t> </a:t>
            </a:r>
            <a:r>
              <a:rPr lang="en-US" dirty="0" err="1"/>
              <a:t>tới</a:t>
            </a:r>
            <a:r>
              <a:rPr lang="en-US" dirty="0"/>
              <a:t> gateway. </a:t>
            </a:r>
            <a:r>
              <a:rPr lang="en-US" dirty="0" err="1"/>
              <a:t>Việc</a:t>
            </a:r>
            <a:r>
              <a:rPr lang="en-US" dirty="0"/>
              <a:t> </a:t>
            </a:r>
            <a:r>
              <a:rPr lang="en-US" dirty="0" err="1"/>
              <a:t>mỗi</a:t>
            </a:r>
            <a:r>
              <a:rPr lang="en-US" dirty="0"/>
              <a:t> node </a:t>
            </a:r>
            <a:r>
              <a:rPr lang="en-US" dirty="0" err="1"/>
              <a:t>chỉ</a:t>
            </a:r>
            <a:r>
              <a:rPr lang="en-US" dirty="0"/>
              <a:t> </a:t>
            </a:r>
            <a:r>
              <a:rPr lang="en-US" dirty="0" err="1"/>
              <a:t>có</a:t>
            </a:r>
            <a:r>
              <a:rPr lang="en-US" dirty="0"/>
              <a:t> 1 </a:t>
            </a:r>
            <a:r>
              <a:rPr lang="en-US" dirty="0" err="1"/>
              <a:t>khe</a:t>
            </a:r>
            <a:r>
              <a:rPr lang="en-US" dirty="0"/>
              <a:t> </a:t>
            </a:r>
            <a:r>
              <a:rPr lang="en-US" dirty="0" err="1"/>
              <a:t>thời</a:t>
            </a:r>
            <a:r>
              <a:rPr lang="en-US" dirty="0"/>
              <a:t> </a:t>
            </a:r>
            <a:r>
              <a:rPr lang="en-US" dirty="0" err="1"/>
              <a:t>gian</a:t>
            </a:r>
            <a:r>
              <a:rPr lang="en-US" dirty="0"/>
              <a:t> </a:t>
            </a:r>
            <a:r>
              <a:rPr lang="en-US" dirty="0" err="1"/>
              <a:t>nhất</a:t>
            </a:r>
            <a:r>
              <a:rPr lang="en-US" dirty="0"/>
              <a:t> </a:t>
            </a:r>
            <a:r>
              <a:rPr lang="en-US" dirty="0" err="1"/>
              <a:t>định</a:t>
            </a:r>
            <a:r>
              <a:rPr lang="en-US" dirty="0"/>
              <a:t> </a:t>
            </a:r>
            <a:r>
              <a:rPr lang="en-US" dirty="0" err="1"/>
              <a:t>giúp</a:t>
            </a:r>
            <a:r>
              <a:rPr lang="en-US" dirty="0"/>
              <a:t> </a:t>
            </a:r>
            <a:r>
              <a:rPr lang="en-US" dirty="0" err="1"/>
              <a:t>phương</a:t>
            </a:r>
            <a:r>
              <a:rPr lang="en-US" dirty="0"/>
              <a:t> </a:t>
            </a:r>
            <a:r>
              <a:rPr lang="en-US" dirty="0" err="1"/>
              <a:t>pháp</a:t>
            </a:r>
            <a:r>
              <a:rPr lang="en-US" dirty="0"/>
              <a:t> TDMA </a:t>
            </a:r>
            <a:r>
              <a:rPr lang="en-US" dirty="0" err="1"/>
              <a:t>gần</a:t>
            </a:r>
            <a:r>
              <a:rPr lang="en-US" dirty="0"/>
              <a:t> </a:t>
            </a:r>
            <a:r>
              <a:rPr lang="en-US" dirty="0" err="1"/>
              <a:t>như</a:t>
            </a:r>
            <a:r>
              <a:rPr lang="en-US" dirty="0"/>
              <a:t> ko </a:t>
            </a:r>
            <a:r>
              <a:rPr lang="en-US" dirty="0" err="1"/>
              <a:t>có</a:t>
            </a:r>
            <a:r>
              <a:rPr lang="en-US" dirty="0"/>
              <a:t> </a:t>
            </a:r>
            <a:r>
              <a:rPr lang="en-US" dirty="0" err="1"/>
              <a:t>xung</a:t>
            </a:r>
            <a:r>
              <a:rPr lang="en-US" dirty="0"/>
              <a:t> </a:t>
            </a:r>
            <a:r>
              <a:rPr lang="en-US" dirty="0" err="1"/>
              <a:t>đột</a:t>
            </a:r>
            <a:r>
              <a:rPr lang="en-US" dirty="0"/>
              <a:t> </a:t>
            </a:r>
            <a:r>
              <a:rPr lang="en-US" dirty="0" err="1"/>
              <a:t>bản</a:t>
            </a:r>
            <a:r>
              <a:rPr lang="en-US" dirty="0"/>
              <a:t> tin </a:t>
            </a:r>
            <a:r>
              <a:rPr lang="en-US" dirty="0" err="1"/>
              <a:t>trong</a:t>
            </a:r>
            <a:r>
              <a:rPr lang="en-US" dirty="0"/>
              <a:t> </a:t>
            </a:r>
            <a:r>
              <a:rPr lang="en-US" dirty="0" err="1"/>
              <a:t>mạng</a:t>
            </a:r>
            <a:endParaRPr lang="en-US" dirty="0"/>
          </a:p>
          <a:p>
            <a:pPr marL="285750" indent="-285750">
              <a:buFont typeface="Wingdings" panose="05000000000000000000" pitchFamily="2" charset="2"/>
              <a:buChar char="q"/>
            </a:pPr>
            <a:r>
              <a:rPr lang="en-US" dirty="0" err="1"/>
              <a:t>Tính</a:t>
            </a:r>
            <a:r>
              <a:rPr lang="en-US" dirty="0"/>
              <a:t> </a:t>
            </a:r>
            <a:r>
              <a:rPr lang="en-US" dirty="0" err="1"/>
              <a:t>toán</a:t>
            </a:r>
            <a:r>
              <a:rPr lang="en-US" dirty="0"/>
              <a:t> timeslot</a:t>
            </a:r>
          </a:p>
          <a:p>
            <a:r>
              <a:rPr lang="en-US" dirty="0"/>
              <a:t>	</a:t>
            </a:r>
            <a:r>
              <a:rPr lang="en-US" dirty="0" err="1"/>
              <a:t>Với</a:t>
            </a:r>
            <a:r>
              <a:rPr lang="en-US" dirty="0"/>
              <a:t> timing diagram </a:t>
            </a:r>
            <a:r>
              <a:rPr lang="en-US" dirty="0" err="1"/>
              <a:t>được</a:t>
            </a:r>
            <a:r>
              <a:rPr lang="en-US" dirty="0"/>
              <a:t> </a:t>
            </a:r>
            <a:r>
              <a:rPr lang="en-US" dirty="0" err="1"/>
              <a:t>thiết</a:t>
            </a:r>
            <a:r>
              <a:rPr lang="en-US" dirty="0"/>
              <a:t> </a:t>
            </a:r>
            <a:r>
              <a:rPr lang="en-US" dirty="0" err="1"/>
              <a:t>kế</a:t>
            </a:r>
            <a:r>
              <a:rPr lang="en-US" dirty="0"/>
              <a:t> </a:t>
            </a:r>
            <a:r>
              <a:rPr lang="en-US" dirty="0" err="1"/>
              <a:t>như</a:t>
            </a:r>
            <a:r>
              <a:rPr lang="en-US" dirty="0"/>
              <a:t> </a:t>
            </a:r>
            <a:r>
              <a:rPr lang="en-US" dirty="0" err="1"/>
              <a:t>phần</a:t>
            </a:r>
            <a:r>
              <a:rPr lang="en-US" dirty="0"/>
              <a:t> 4.2.3, ta </a:t>
            </a:r>
            <a:r>
              <a:rPr lang="en-US" dirty="0" err="1"/>
              <a:t>có</a:t>
            </a:r>
            <a:r>
              <a:rPr lang="en-US" dirty="0"/>
              <a:t>:</a:t>
            </a:r>
          </a:p>
          <a:p>
            <a:r>
              <a:rPr lang="en-US" dirty="0"/>
              <a:t>		</a:t>
            </a:r>
            <a:r>
              <a:rPr lang="en-US" dirty="0" err="1"/>
              <a:t>T</a:t>
            </a:r>
            <a:r>
              <a:rPr lang="en-US" baseline="-25000" dirty="0" err="1"/>
              <a:t>slot</a:t>
            </a:r>
            <a:r>
              <a:rPr lang="en-US" baseline="-25000" dirty="0"/>
              <a:t> </a:t>
            </a:r>
            <a:r>
              <a:rPr lang="en-US" dirty="0"/>
              <a:t>&gt;= </a:t>
            </a:r>
            <a:r>
              <a:rPr lang="en-US" dirty="0" err="1"/>
              <a:t>T</a:t>
            </a:r>
            <a:r>
              <a:rPr lang="en-US" baseline="-25000" dirty="0" err="1"/>
              <a:t>LoraTx_init</a:t>
            </a:r>
            <a:r>
              <a:rPr lang="en-US" baseline="-25000" dirty="0"/>
              <a:t> </a:t>
            </a:r>
            <a:r>
              <a:rPr lang="en-US" dirty="0"/>
              <a:t>+ 2T</a:t>
            </a:r>
            <a:r>
              <a:rPr lang="en-US" baseline="-25000" dirty="0"/>
              <a:t>LoraTx </a:t>
            </a:r>
            <a:r>
              <a:rPr lang="en-US" dirty="0"/>
              <a:t>+ </a:t>
            </a:r>
            <a:r>
              <a:rPr lang="en-US" dirty="0" err="1"/>
              <a:t>T</a:t>
            </a:r>
            <a:r>
              <a:rPr lang="en-US" baseline="-25000" dirty="0" err="1"/>
              <a:t>LoraRx_init</a:t>
            </a:r>
            <a:r>
              <a:rPr lang="en-US" baseline="-25000" dirty="0"/>
              <a:t> </a:t>
            </a:r>
            <a:r>
              <a:rPr lang="en-US" dirty="0"/>
              <a:t>+ </a:t>
            </a:r>
            <a:r>
              <a:rPr lang="en-US" dirty="0" err="1"/>
              <a:t>T</a:t>
            </a:r>
            <a:r>
              <a:rPr lang="en-US" baseline="-25000" dirty="0" err="1"/>
              <a:t>wait_ack_timeout</a:t>
            </a:r>
            <a:r>
              <a:rPr lang="en-US" baseline="-25000" dirty="0"/>
              <a:t> </a:t>
            </a:r>
            <a:r>
              <a:rPr lang="en-US" dirty="0"/>
              <a:t>+ </a:t>
            </a:r>
            <a:r>
              <a:rPr lang="en-US" dirty="0" err="1"/>
              <a:t>T</a:t>
            </a:r>
            <a:r>
              <a:rPr lang="en-US" baseline="-25000" dirty="0" err="1"/>
              <a:t>reserved</a:t>
            </a:r>
            <a:endParaRPr lang="en-US" baseline="-25000" dirty="0"/>
          </a:p>
          <a:p>
            <a:br>
              <a:rPr lang="en-US" dirty="0"/>
            </a:br>
            <a:r>
              <a:rPr lang="en-US" dirty="0"/>
              <a:t>	</a:t>
            </a:r>
            <a:r>
              <a:rPr lang="en-US" dirty="0" err="1"/>
              <a:t>chọn</a:t>
            </a:r>
            <a:r>
              <a:rPr lang="en-US" dirty="0"/>
              <a:t> </a:t>
            </a:r>
            <a:r>
              <a:rPr lang="en-US" dirty="0" err="1"/>
              <a:t>thời</a:t>
            </a:r>
            <a:r>
              <a:rPr lang="en-US" dirty="0"/>
              <a:t> </a:t>
            </a:r>
            <a:r>
              <a:rPr lang="en-US" dirty="0" err="1"/>
              <a:t>gian</a:t>
            </a:r>
            <a:r>
              <a:rPr lang="en-US" dirty="0"/>
              <a:t> </a:t>
            </a:r>
            <a:r>
              <a:rPr lang="en-US" dirty="0" err="1"/>
              <a:t>dự</a:t>
            </a:r>
            <a:r>
              <a:rPr lang="en-US" dirty="0"/>
              <a:t> </a:t>
            </a:r>
            <a:r>
              <a:rPr lang="en-US" dirty="0" err="1"/>
              <a:t>trữ</a:t>
            </a:r>
            <a:r>
              <a:rPr lang="en-US" dirty="0"/>
              <a:t> </a:t>
            </a:r>
            <a:r>
              <a:rPr lang="en-US" dirty="0" err="1"/>
              <a:t>T</a:t>
            </a:r>
            <a:r>
              <a:rPr lang="en-US" baseline="-25000" dirty="0" err="1"/>
              <a:t>reserved</a:t>
            </a:r>
            <a:r>
              <a:rPr lang="en-US" baseline="-25000" dirty="0"/>
              <a:t> </a:t>
            </a:r>
            <a:r>
              <a:rPr lang="en-US" dirty="0"/>
              <a:t>= 6T</a:t>
            </a:r>
            <a:r>
              <a:rPr lang="en-US" baseline="-25000" dirty="0"/>
              <a:t>unpack</a:t>
            </a:r>
          </a:p>
          <a:p>
            <a:pPr marL="285750" indent="-285750">
              <a:buFont typeface="Wingdings" panose="05000000000000000000" pitchFamily="2" charset="2"/>
              <a:buChar char="q"/>
            </a:pPr>
            <a:r>
              <a:rPr lang="en-US" dirty="0" err="1"/>
              <a:t>Việc</a:t>
            </a:r>
            <a:r>
              <a:rPr lang="en-US" dirty="0"/>
              <a:t> </a:t>
            </a:r>
            <a:r>
              <a:rPr lang="en-US" dirty="0" err="1"/>
              <a:t>xác</a:t>
            </a:r>
            <a:r>
              <a:rPr lang="en-US" dirty="0"/>
              <a:t> </a:t>
            </a:r>
            <a:r>
              <a:rPr lang="en-US" dirty="0" err="1"/>
              <a:t>định</a:t>
            </a:r>
            <a:r>
              <a:rPr lang="en-US" dirty="0"/>
              <a:t> </a:t>
            </a:r>
            <a:r>
              <a:rPr lang="en-US" dirty="0" err="1"/>
              <a:t>các</a:t>
            </a:r>
            <a:r>
              <a:rPr lang="en-US" dirty="0"/>
              <a:t> </a:t>
            </a:r>
            <a:r>
              <a:rPr lang="en-US" dirty="0" err="1"/>
              <a:t>thông</a:t>
            </a:r>
            <a:r>
              <a:rPr lang="en-US" dirty="0"/>
              <a:t> </a:t>
            </a:r>
            <a:r>
              <a:rPr lang="en-US" dirty="0" err="1"/>
              <a:t>số</a:t>
            </a:r>
            <a:r>
              <a:rPr lang="en-US" dirty="0"/>
              <a:t> </a:t>
            </a:r>
            <a:r>
              <a:rPr lang="en-US" dirty="0" err="1"/>
              <a:t>trên</a:t>
            </a:r>
            <a:r>
              <a:rPr lang="en-US" dirty="0"/>
              <a:t> </a:t>
            </a:r>
            <a:r>
              <a:rPr lang="en-US" dirty="0" err="1"/>
              <a:t>dựa</a:t>
            </a:r>
            <a:r>
              <a:rPr lang="en-US" dirty="0"/>
              <a:t> </a:t>
            </a:r>
            <a:r>
              <a:rPr lang="en-US" dirty="0" err="1"/>
              <a:t>vào</a:t>
            </a:r>
            <a:r>
              <a:rPr lang="en-US" dirty="0"/>
              <a:t> </a:t>
            </a:r>
            <a:r>
              <a:rPr lang="en-US" dirty="0" err="1"/>
              <a:t>thực</a:t>
            </a:r>
            <a:r>
              <a:rPr lang="en-US" dirty="0"/>
              <a:t> </a:t>
            </a:r>
            <a:r>
              <a:rPr lang="en-US" dirty="0" err="1"/>
              <a:t>nghiệm</a:t>
            </a:r>
            <a:r>
              <a:rPr lang="en-US" dirty="0"/>
              <a:t> </a:t>
            </a:r>
            <a:r>
              <a:rPr lang="en-US" dirty="0" err="1"/>
              <a:t>trên</a:t>
            </a:r>
            <a:r>
              <a:rPr lang="en-US" dirty="0"/>
              <a:t> </a:t>
            </a:r>
            <a:r>
              <a:rPr lang="en-US" dirty="0" err="1"/>
              <a:t>phần</a:t>
            </a:r>
            <a:r>
              <a:rPr lang="en-US" dirty="0"/>
              <a:t> </a:t>
            </a:r>
            <a:r>
              <a:rPr lang="en-US" dirty="0" err="1"/>
              <a:t>cứng</a:t>
            </a:r>
            <a:endParaRPr lang="en-US" dirty="0"/>
          </a:p>
          <a:p>
            <a:pPr marL="285750" indent="-285750">
              <a:buFont typeface="Wingdings" panose="05000000000000000000" pitchFamily="2" charset="2"/>
              <a:buChar char="q"/>
            </a:pPr>
            <a:endParaRPr lang="en-US" dirty="0"/>
          </a:p>
        </p:txBody>
      </p:sp>
      <p:sp>
        <p:nvSpPr>
          <p:cNvPr id="4" name="Title 1">
            <a:extLst>
              <a:ext uri="{FF2B5EF4-FFF2-40B4-BE49-F238E27FC236}">
                <a16:creationId xmlns:a16="http://schemas.microsoft.com/office/drawing/2014/main" id="{42A67677-91C0-FDF2-1208-F04CE43EC0B8}"/>
              </a:ext>
            </a:extLst>
          </p:cNvPr>
          <p:cNvSpPr>
            <a:spLocks noGrp="1"/>
          </p:cNvSpPr>
          <p:nvPr>
            <p:ph type="title"/>
          </p:nvPr>
        </p:nvSpPr>
        <p:spPr>
          <a:xfrm>
            <a:off x="234950" y="79375"/>
            <a:ext cx="8674100" cy="450850"/>
          </a:xfrm>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Tree>
    <p:extLst>
      <p:ext uri="{BB962C8B-B14F-4D97-AF65-F5344CB8AC3E}">
        <p14:creationId xmlns:p14="http://schemas.microsoft.com/office/powerpoint/2010/main" val="2581069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4" name="Title 1">
            <a:extLst>
              <a:ext uri="{FF2B5EF4-FFF2-40B4-BE49-F238E27FC236}">
                <a16:creationId xmlns:a16="http://schemas.microsoft.com/office/drawing/2014/main" id="{42A67677-91C0-FDF2-1208-F04CE43EC0B8}"/>
              </a:ext>
            </a:extLst>
          </p:cNvPr>
          <p:cNvSpPr>
            <a:spLocks noGrp="1"/>
          </p:cNvSpPr>
          <p:nvPr>
            <p:ph type="title"/>
          </p:nvPr>
        </p:nvSpPr>
        <p:spPr>
          <a:xfrm>
            <a:off x="234950" y="79375"/>
            <a:ext cx="8674100" cy="450850"/>
          </a:xfrm>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2" name="TextBox 1">
            <a:extLst>
              <a:ext uri="{FF2B5EF4-FFF2-40B4-BE49-F238E27FC236}">
                <a16:creationId xmlns:a16="http://schemas.microsoft.com/office/drawing/2014/main" id="{4EDBC082-1AD9-4877-D474-95ADCE90C5FA}"/>
              </a:ext>
            </a:extLst>
          </p:cNvPr>
          <p:cNvSpPr txBox="1"/>
          <p:nvPr/>
        </p:nvSpPr>
        <p:spPr>
          <a:xfrm>
            <a:off x="396115" y="905123"/>
            <a:ext cx="2804285" cy="338554"/>
          </a:xfrm>
          <a:prstGeom prst="rect">
            <a:avLst/>
          </a:prstGeom>
          <a:noFill/>
        </p:spPr>
        <p:txBody>
          <a:bodyPr wrap="square" rtlCol="0">
            <a:spAutoFit/>
          </a:bodyPr>
          <a:lstStyle/>
          <a:p>
            <a:r>
              <a:rPr lang="en-US" sz="1600" dirty="0">
                <a:sym typeface="Wingdings" panose="05000000000000000000" pitchFamily="2" charset="2"/>
              </a:rPr>
              <a:t>5.2.4 </a:t>
            </a:r>
            <a:r>
              <a:rPr lang="en-US" sz="1600" dirty="0" err="1">
                <a:sym typeface="Wingdings" panose="05000000000000000000" pitchFamily="2" charset="2"/>
              </a:rPr>
              <a:t>Thiết</a:t>
            </a:r>
            <a:r>
              <a:rPr lang="en-US" sz="1600" dirty="0">
                <a:sym typeface="Wingdings" panose="05000000000000000000" pitchFamily="2" charset="2"/>
              </a:rPr>
              <a:t> </a:t>
            </a:r>
            <a:r>
              <a:rPr lang="en-US" sz="1600" dirty="0" err="1">
                <a:sym typeface="Wingdings" panose="05000000000000000000" pitchFamily="2" charset="2"/>
              </a:rPr>
              <a:t>kế</a:t>
            </a:r>
            <a:r>
              <a:rPr lang="en-US" sz="1600" dirty="0">
                <a:sym typeface="Wingdings" panose="05000000000000000000" pitchFamily="2" charset="2"/>
              </a:rPr>
              <a:t> </a:t>
            </a:r>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a:t>
            </a:r>
            <a:endParaRPr lang="en-US" dirty="0"/>
          </a:p>
        </p:txBody>
      </p:sp>
      <p:sp>
        <p:nvSpPr>
          <p:cNvPr id="6" name="TextBox 5">
            <a:extLst>
              <a:ext uri="{FF2B5EF4-FFF2-40B4-BE49-F238E27FC236}">
                <a16:creationId xmlns:a16="http://schemas.microsoft.com/office/drawing/2014/main" id="{A1166395-3F4D-4A2C-4B23-72281A9AEEF5}"/>
              </a:ext>
            </a:extLst>
          </p:cNvPr>
          <p:cNvSpPr txBox="1"/>
          <p:nvPr/>
        </p:nvSpPr>
        <p:spPr>
          <a:xfrm>
            <a:off x="396115" y="1255504"/>
            <a:ext cx="8093905" cy="830997"/>
          </a:xfrm>
          <a:prstGeom prst="rect">
            <a:avLst/>
          </a:prstGeom>
          <a:noFill/>
        </p:spPr>
        <p:txBody>
          <a:bodyPr wrap="square" rtlCol="0">
            <a:spAutoFit/>
          </a:bodyPr>
          <a:lstStyle/>
          <a:p>
            <a:r>
              <a:rPr lang="en-US" sz="1600" dirty="0" err="1">
                <a:sym typeface="Wingdings" panose="05000000000000000000" pitchFamily="2" charset="2"/>
              </a:rPr>
              <a:t>Thiết</a:t>
            </a:r>
            <a:r>
              <a:rPr lang="en-US" sz="1600" dirty="0">
                <a:sym typeface="Wingdings" panose="05000000000000000000" pitchFamily="2" charset="2"/>
              </a:rPr>
              <a:t> </a:t>
            </a:r>
            <a:r>
              <a:rPr lang="en-US" sz="1600" dirty="0" err="1">
                <a:sym typeface="Wingdings" panose="05000000000000000000" pitchFamily="2" charset="2"/>
              </a:rPr>
              <a:t>kế</a:t>
            </a:r>
            <a:r>
              <a:rPr lang="en-US" sz="1600" dirty="0">
                <a:sym typeface="Wingdings" panose="05000000000000000000" pitchFamily="2" charset="2"/>
              </a:rPr>
              <a:t> </a:t>
            </a:r>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 </a:t>
            </a:r>
            <a:r>
              <a:rPr lang="en-US" sz="1600" dirty="0" err="1">
                <a:sym typeface="Wingdings" panose="05000000000000000000" pitchFamily="2" charset="2"/>
              </a:rPr>
              <a:t>giúp</a:t>
            </a:r>
            <a:r>
              <a:rPr lang="en-US" sz="1600" dirty="0">
                <a:sym typeface="Wingdings" panose="05000000000000000000" pitchFamily="2" charset="2"/>
              </a:rPr>
              <a:t> </a:t>
            </a:r>
            <a:r>
              <a:rPr lang="en-US" sz="1600" dirty="0" err="1">
                <a:sym typeface="Wingdings" panose="05000000000000000000" pitchFamily="2" charset="2"/>
              </a:rPr>
              <a:t>các</a:t>
            </a:r>
            <a:r>
              <a:rPr lang="en-US" sz="1600" dirty="0">
                <a:sym typeface="Wingdings" panose="05000000000000000000" pitchFamily="2" charset="2"/>
              </a:rPr>
              <a:t> </a:t>
            </a:r>
            <a:r>
              <a:rPr lang="en-US" sz="1600" dirty="0" err="1">
                <a:sym typeface="Wingdings" panose="05000000000000000000" pitchFamily="2" charset="2"/>
              </a:rPr>
              <a:t>phần</a:t>
            </a:r>
            <a:r>
              <a:rPr lang="en-US" sz="1600" dirty="0">
                <a:sym typeface="Wingdings" panose="05000000000000000000" pitchFamily="2" charset="2"/>
              </a:rPr>
              <a:t> </a:t>
            </a:r>
            <a:r>
              <a:rPr lang="en-US" sz="1600" dirty="0" err="1">
                <a:sym typeface="Wingdings" panose="05000000000000000000" pitchFamily="2" charset="2"/>
              </a:rPr>
              <a:t>tử</a:t>
            </a:r>
            <a:r>
              <a:rPr lang="en-US" sz="1600" dirty="0">
                <a:sym typeface="Wingdings" panose="05000000000000000000" pitchFamily="2" charset="2"/>
              </a:rPr>
              <a:t> </a:t>
            </a:r>
            <a:r>
              <a:rPr lang="en-US" sz="1600" dirty="0" err="1">
                <a:sym typeface="Wingdings" panose="05000000000000000000" pitchFamily="2" charset="2"/>
              </a:rPr>
              <a:t>trong</a:t>
            </a:r>
            <a:r>
              <a:rPr lang="en-US" sz="1600" dirty="0">
                <a:sym typeface="Wingdings" panose="05000000000000000000" pitchFamily="2" charset="2"/>
              </a:rPr>
              <a:t> </a:t>
            </a:r>
            <a:r>
              <a:rPr lang="en-US" sz="1600" dirty="0" err="1">
                <a:sym typeface="Wingdings" panose="05000000000000000000" pitchFamily="2" charset="2"/>
              </a:rPr>
              <a:t>mạng</a:t>
            </a:r>
            <a:r>
              <a:rPr lang="en-US" sz="1600" dirty="0">
                <a:sym typeface="Wingdings" panose="05000000000000000000" pitchFamily="2" charset="2"/>
              </a:rPr>
              <a:t> </a:t>
            </a:r>
            <a:r>
              <a:rPr lang="en-US" sz="1600" dirty="0" err="1">
                <a:sym typeface="Wingdings" panose="05000000000000000000" pitchFamily="2" charset="2"/>
              </a:rPr>
              <a:t>nhận</a:t>
            </a:r>
            <a:r>
              <a:rPr lang="en-US" sz="1600" dirty="0">
                <a:sym typeface="Wingdings" panose="05000000000000000000" pitchFamily="2" charset="2"/>
              </a:rPr>
              <a:t> </a:t>
            </a:r>
            <a:r>
              <a:rPr lang="en-US" sz="1600" dirty="0" err="1">
                <a:sym typeface="Wingdings" panose="05000000000000000000" pitchFamily="2" charset="2"/>
              </a:rPr>
              <a:t>biết</a:t>
            </a:r>
            <a:r>
              <a:rPr lang="en-US" sz="1600" dirty="0">
                <a:sym typeface="Wingdings" panose="05000000000000000000" pitchFamily="2" charset="2"/>
              </a:rPr>
              <a:t> </a:t>
            </a:r>
            <a:r>
              <a:rPr lang="en-US" sz="1600" dirty="0" err="1">
                <a:sym typeface="Wingdings" panose="05000000000000000000" pitchFamily="2" charset="2"/>
              </a:rPr>
              <a:t>được</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 </a:t>
            </a:r>
            <a:r>
              <a:rPr lang="en-US" sz="1600" dirty="0" err="1">
                <a:sym typeface="Wingdings" panose="05000000000000000000" pitchFamily="2" charset="2"/>
              </a:rPr>
              <a:t>có</a:t>
            </a:r>
            <a:r>
              <a:rPr lang="en-US" sz="1600" dirty="0">
                <a:sym typeface="Wingdings" panose="05000000000000000000" pitchFamily="2" charset="2"/>
              </a:rPr>
              <a:t> </a:t>
            </a:r>
            <a:r>
              <a:rPr lang="en-US" sz="1600" dirty="0" err="1">
                <a:sym typeface="Wingdings" panose="05000000000000000000" pitchFamily="2" charset="2"/>
              </a:rPr>
              <a:t>thuộc</a:t>
            </a:r>
            <a:r>
              <a:rPr lang="en-US" sz="1600" dirty="0">
                <a:sym typeface="Wingdings" panose="05000000000000000000" pitchFamily="2" charset="2"/>
              </a:rPr>
              <a:t> </a:t>
            </a:r>
            <a:r>
              <a:rPr lang="en-US" sz="1600" dirty="0" err="1">
                <a:sym typeface="Wingdings" panose="05000000000000000000" pitchFamily="2" charset="2"/>
              </a:rPr>
              <a:t>mạng</a:t>
            </a:r>
            <a:r>
              <a:rPr lang="en-US" sz="1600" dirty="0">
                <a:sym typeface="Wingdings" panose="05000000000000000000" pitchFamily="2" charset="2"/>
              </a:rPr>
              <a:t> </a:t>
            </a:r>
            <a:r>
              <a:rPr lang="en-US" sz="1600" dirty="0" err="1">
                <a:sym typeface="Wingdings" panose="05000000000000000000" pitchFamily="2" charset="2"/>
              </a:rPr>
              <a:t>của</a:t>
            </a:r>
            <a:r>
              <a:rPr lang="en-US" sz="1600" dirty="0">
                <a:sym typeface="Wingdings" panose="05000000000000000000" pitchFamily="2" charset="2"/>
              </a:rPr>
              <a:t> </a:t>
            </a:r>
            <a:r>
              <a:rPr lang="en-US" sz="1600" dirty="0" err="1">
                <a:sym typeface="Wingdings" panose="05000000000000000000" pitchFamily="2" charset="2"/>
              </a:rPr>
              <a:t>mình</a:t>
            </a:r>
            <a:r>
              <a:rPr lang="en-US" sz="1600" dirty="0">
                <a:sym typeface="Wingdings" panose="05000000000000000000" pitchFamily="2" charset="2"/>
              </a:rPr>
              <a:t> hay ko </a:t>
            </a:r>
            <a:r>
              <a:rPr lang="en-US" sz="1600" dirty="0" err="1">
                <a:sym typeface="Wingdings" panose="05000000000000000000" pitchFamily="2" charset="2"/>
              </a:rPr>
              <a:t>và</a:t>
            </a:r>
            <a:r>
              <a:rPr lang="en-US" sz="1600" dirty="0">
                <a:sym typeface="Wingdings" panose="05000000000000000000" pitchFamily="2" charset="2"/>
              </a:rPr>
              <a:t> </a:t>
            </a:r>
            <a:r>
              <a:rPr lang="en-US" sz="1600" dirty="0" err="1">
                <a:sym typeface="Wingdings" panose="05000000000000000000" pitchFamily="2" charset="2"/>
              </a:rPr>
              <a:t>phát</a:t>
            </a:r>
            <a:r>
              <a:rPr lang="en-US" sz="1600" dirty="0">
                <a:sym typeface="Wingdings" panose="05000000000000000000" pitchFamily="2" charset="2"/>
              </a:rPr>
              <a:t> </a:t>
            </a:r>
            <a:r>
              <a:rPr lang="en-US" sz="1600" dirty="0" err="1">
                <a:sym typeface="Wingdings" panose="05000000000000000000" pitchFamily="2" charset="2"/>
              </a:rPr>
              <a:t>hiện</a:t>
            </a:r>
            <a:r>
              <a:rPr lang="en-US" sz="1600" dirty="0">
                <a:sym typeface="Wingdings" panose="05000000000000000000" pitchFamily="2" charset="2"/>
              </a:rPr>
              <a:t> </a:t>
            </a:r>
            <a:r>
              <a:rPr lang="en-US" sz="1600" dirty="0" err="1">
                <a:sym typeface="Wingdings" panose="05000000000000000000" pitchFamily="2" charset="2"/>
              </a:rPr>
              <a:t>lỗi</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a:t>
            </a:r>
          </a:p>
          <a:p>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 </a:t>
            </a:r>
            <a:r>
              <a:rPr lang="en-US" sz="1600" dirty="0" err="1">
                <a:sym typeface="Wingdings" panose="05000000000000000000" pitchFamily="2" charset="2"/>
              </a:rPr>
              <a:t>tối</a:t>
            </a:r>
            <a:r>
              <a:rPr lang="en-US" sz="1600" dirty="0">
                <a:sym typeface="Wingdings" panose="05000000000000000000" pitchFamily="2" charset="2"/>
              </a:rPr>
              <a:t> </a:t>
            </a:r>
            <a:r>
              <a:rPr lang="en-US" sz="1600" dirty="0" err="1">
                <a:sym typeface="Wingdings" panose="05000000000000000000" pitchFamily="2" charset="2"/>
              </a:rPr>
              <a:t>đa</a:t>
            </a:r>
            <a:r>
              <a:rPr lang="en-US" sz="1600" dirty="0">
                <a:sym typeface="Wingdings" panose="05000000000000000000" pitchFamily="2" charset="2"/>
              </a:rPr>
              <a:t> </a:t>
            </a:r>
            <a:r>
              <a:rPr lang="en-US" sz="1600" dirty="0" err="1">
                <a:sym typeface="Wingdings" panose="05000000000000000000" pitchFamily="2" charset="2"/>
              </a:rPr>
              <a:t>chứa</a:t>
            </a:r>
            <a:r>
              <a:rPr lang="en-US" sz="1600" dirty="0">
                <a:sym typeface="Wingdings" panose="05000000000000000000" pitchFamily="2" charset="2"/>
              </a:rPr>
              <a:t> 255 byte </a:t>
            </a:r>
            <a:r>
              <a:rPr lang="en-US" sz="1600" dirty="0" err="1">
                <a:sym typeface="Wingdings" panose="05000000000000000000" pitchFamily="2" charset="2"/>
              </a:rPr>
              <a:t>dữ</a:t>
            </a:r>
            <a:r>
              <a:rPr lang="en-US" sz="1600" dirty="0">
                <a:sym typeface="Wingdings" panose="05000000000000000000" pitchFamily="2" charset="2"/>
              </a:rPr>
              <a:t> </a:t>
            </a:r>
            <a:r>
              <a:rPr lang="en-US" sz="1600" dirty="0" err="1">
                <a:sym typeface="Wingdings" panose="05000000000000000000" pitchFamily="2" charset="2"/>
              </a:rPr>
              <a:t>liệu</a:t>
            </a:r>
            <a:r>
              <a:rPr lang="en-US" sz="1600" dirty="0">
                <a:sym typeface="Wingdings" panose="05000000000000000000" pitchFamily="2" charset="2"/>
              </a:rPr>
              <a:t> </a:t>
            </a:r>
            <a:r>
              <a:rPr lang="en-US" sz="1600" dirty="0" err="1">
                <a:sym typeface="Wingdings" panose="05000000000000000000" pitchFamily="2" charset="2"/>
              </a:rPr>
              <a:t>tương</a:t>
            </a:r>
            <a:r>
              <a:rPr lang="en-US" sz="1600" dirty="0">
                <a:sym typeface="Wingdings" panose="05000000000000000000" pitchFamily="2" charset="2"/>
              </a:rPr>
              <a:t> </a:t>
            </a:r>
            <a:r>
              <a:rPr lang="en-US" sz="1600" dirty="0" err="1">
                <a:sym typeface="Wingdings" panose="05000000000000000000" pitchFamily="2" charset="2"/>
              </a:rPr>
              <a:t>ứng</a:t>
            </a:r>
            <a:r>
              <a:rPr lang="en-US" sz="1600" dirty="0">
                <a:sym typeface="Wingdings" panose="05000000000000000000" pitchFamily="2" charset="2"/>
              </a:rPr>
              <a:t> </a:t>
            </a:r>
            <a:r>
              <a:rPr lang="en-US" sz="1600" dirty="0" err="1">
                <a:sym typeface="Wingdings" panose="05000000000000000000" pitchFamily="2" charset="2"/>
              </a:rPr>
              <a:t>với</a:t>
            </a:r>
            <a:r>
              <a:rPr lang="en-US" sz="1600" dirty="0">
                <a:sym typeface="Wingdings" panose="05000000000000000000" pitchFamily="2" charset="2"/>
              </a:rPr>
              <a:t> </a:t>
            </a:r>
            <a:r>
              <a:rPr lang="en-US" sz="1600" dirty="0" err="1">
                <a:sym typeface="Wingdings" panose="05000000000000000000" pitchFamily="2" charset="2"/>
              </a:rPr>
              <a:t>phần</a:t>
            </a:r>
            <a:r>
              <a:rPr lang="en-US" sz="1600" dirty="0">
                <a:sym typeface="Wingdings" panose="05000000000000000000" pitchFamily="2" charset="2"/>
              </a:rPr>
              <a:t> payload </a:t>
            </a:r>
            <a:r>
              <a:rPr lang="en-US" sz="1600" dirty="0" err="1">
                <a:sym typeface="Wingdings" panose="05000000000000000000" pitchFamily="2" charset="2"/>
              </a:rPr>
              <a:t>của</a:t>
            </a:r>
            <a:r>
              <a:rPr lang="en-US" sz="1600" dirty="0">
                <a:sym typeface="Wingdings" panose="05000000000000000000" pitchFamily="2" charset="2"/>
              </a:rPr>
              <a:t> module Ra02</a:t>
            </a:r>
          </a:p>
        </p:txBody>
      </p:sp>
      <p:grpSp>
        <p:nvGrpSpPr>
          <p:cNvPr id="12" name="Group 11">
            <a:extLst>
              <a:ext uri="{FF2B5EF4-FFF2-40B4-BE49-F238E27FC236}">
                <a16:creationId xmlns:a16="http://schemas.microsoft.com/office/drawing/2014/main" id="{D43FDB27-4628-1B5A-A843-B47DC252BF0F}"/>
              </a:ext>
            </a:extLst>
          </p:cNvPr>
          <p:cNvGrpSpPr/>
          <p:nvPr/>
        </p:nvGrpSpPr>
        <p:grpSpPr>
          <a:xfrm>
            <a:off x="1242976" y="2272658"/>
            <a:ext cx="6905900" cy="2185042"/>
            <a:chOff x="635464" y="1731638"/>
            <a:chExt cx="8158230" cy="2581282"/>
          </a:xfrm>
        </p:grpSpPr>
        <p:pic>
          <p:nvPicPr>
            <p:cNvPr id="7" name="Picture 6">
              <a:extLst>
                <a:ext uri="{FF2B5EF4-FFF2-40B4-BE49-F238E27FC236}">
                  <a16:creationId xmlns:a16="http://schemas.microsoft.com/office/drawing/2014/main" id="{8A31655D-BB0E-70C6-78CB-FAB904E53CE2}"/>
                </a:ext>
              </a:extLst>
            </p:cNvPr>
            <p:cNvPicPr>
              <a:picLocks noChangeAspect="1"/>
            </p:cNvPicPr>
            <p:nvPr/>
          </p:nvPicPr>
          <p:blipFill>
            <a:blip r:embed="rId2"/>
            <a:stretch>
              <a:fillRect/>
            </a:stretch>
          </p:blipFill>
          <p:spPr>
            <a:xfrm>
              <a:off x="635464" y="1731638"/>
              <a:ext cx="8158230" cy="2581282"/>
            </a:xfrm>
            <a:prstGeom prst="rect">
              <a:avLst/>
            </a:prstGeom>
          </p:spPr>
        </p:pic>
        <p:sp>
          <p:nvSpPr>
            <p:cNvPr id="11" name="Rectangle 10">
              <a:extLst>
                <a:ext uri="{FF2B5EF4-FFF2-40B4-BE49-F238E27FC236}">
                  <a16:creationId xmlns:a16="http://schemas.microsoft.com/office/drawing/2014/main" id="{17E92CB9-9112-B325-1B1E-CAECD07A9EF8}"/>
                </a:ext>
              </a:extLst>
            </p:cNvPr>
            <p:cNvSpPr/>
            <p:nvPr/>
          </p:nvSpPr>
          <p:spPr>
            <a:xfrm>
              <a:off x="4945380" y="2240396"/>
              <a:ext cx="2735580" cy="87385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45914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4" name="Title 1">
            <a:extLst>
              <a:ext uri="{FF2B5EF4-FFF2-40B4-BE49-F238E27FC236}">
                <a16:creationId xmlns:a16="http://schemas.microsoft.com/office/drawing/2014/main" id="{42A67677-91C0-FDF2-1208-F04CE43EC0B8}"/>
              </a:ext>
            </a:extLst>
          </p:cNvPr>
          <p:cNvSpPr>
            <a:spLocks noGrp="1"/>
          </p:cNvSpPr>
          <p:nvPr>
            <p:ph type="title"/>
          </p:nvPr>
        </p:nvSpPr>
        <p:spPr>
          <a:xfrm>
            <a:off x="234950" y="79375"/>
            <a:ext cx="8674100" cy="450850"/>
          </a:xfrm>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2" name="TextBox 1">
            <a:extLst>
              <a:ext uri="{FF2B5EF4-FFF2-40B4-BE49-F238E27FC236}">
                <a16:creationId xmlns:a16="http://schemas.microsoft.com/office/drawing/2014/main" id="{4EDBC082-1AD9-4877-D474-95ADCE90C5FA}"/>
              </a:ext>
            </a:extLst>
          </p:cNvPr>
          <p:cNvSpPr txBox="1"/>
          <p:nvPr/>
        </p:nvSpPr>
        <p:spPr>
          <a:xfrm>
            <a:off x="396115" y="905123"/>
            <a:ext cx="2804285" cy="338554"/>
          </a:xfrm>
          <a:prstGeom prst="rect">
            <a:avLst/>
          </a:prstGeom>
          <a:noFill/>
        </p:spPr>
        <p:txBody>
          <a:bodyPr wrap="square" rtlCol="0">
            <a:spAutoFit/>
          </a:bodyPr>
          <a:lstStyle/>
          <a:p>
            <a:r>
              <a:rPr lang="en-US" sz="1600" dirty="0">
                <a:sym typeface="Wingdings" panose="05000000000000000000" pitchFamily="2" charset="2"/>
              </a:rPr>
              <a:t>5.2.4 </a:t>
            </a:r>
            <a:r>
              <a:rPr lang="en-US" sz="1600" dirty="0" err="1">
                <a:sym typeface="Wingdings" panose="05000000000000000000" pitchFamily="2" charset="2"/>
              </a:rPr>
              <a:t>Thiết</a:t>
            </a:r>
            <a:r>
              <a:rPr lang="en-US" sz="1600" dirty="0">
                <a:sym typeface="Wingdings" panose="05000000000000000000" pitchFamily="2" charset="2"/>
              </a:rPr>
              <a:t> </a:t>
            </a:r>
            <a:r>
              <a:rPr lang="en-US" sz="1600" dirty="0" err="1">
                <a:sym typeface="Wingdings" panose="05000000000000000000" pitchFamily="2" charset="2"/>
              </a:rPr>
              <a:t>kế</a:t>
            </a:r>
            <a:r>
              <a:rPr lang="en-US" sz="1600" dirty="0">
                <a:sym typeface="Wingdings" panose="05000000000000000000" pitchFamily="2" charset="2"/>
              </a:rPr>
              <a:t> </a:t>
            </a:r>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a:t>
            </a:r>
            <a:endParaRPr lang="en-US" dirty="0"/>
          </a:p>
        </p:txBody>
      </p:sp>
      <p:sp>
        <p:nvSpPr>
          <p:cNvPr id="6" name="TextBox 5">
            <a:extLst>
              <a:ext uri="{FF2B5EF4-FFF2-40B4-BE49-F238E27FC236}">
                <a16:creationId xmlns:a16="http://schemas.microsoft.com/office/drawing/2014/main" id="{A1166395-3F4D-4A2C-4B23-72281A9AEEF5}"/>
              </a:ext>
            </a:extLst>
          </p:cNvPr>
          <p:cNvSpPr txBox="1"/>
          <p:nvPr/>
        </p:nvSpPr>
        <p:spPr>
          <a:xfrm>
            <a:off x="396115" y="1243677"/>
            <a:ext cx="8093905" cy="830997"/>
          </a:xfrm>
          <a:prstGeom prst="rect">
            <a:avLst/>
          </a:prstGeom>
          <a:noFill/>
        </p:spPr>
        <p:txBody>
          <a:bodyPr wrap="square" rtlCol="0">
            <a:spAutoFit/>
          </a:bodyPr>
          <a:lstStyle/>
          <a:p>
            <a:r>
              <a:rPr lang="en-US" sz="1600" dirty="0" err="1">
                <a:sym typeface="Wingdings" panose="05000000000000000000" pitchFamily="2" charset="2"/>
              </a:rPr>
              <a:t>Các</a:t>
            </a:r>
            <a:r>
              <a:rPr lang="en-US" sz="1600" dirty="0">
                <a:sym typeface="Wingdings" panose="05000000000000000000" pitchFamily="2" charset="2"/>
              </a:rPr>
              <a:t> </a:t>
            </a:r>
            <a:r>
              <a:rPr lang="en-US" sz="1600" dirty="0" err="1">
                <a:sym typeface="Wingdings" panose="05000000000000000000" pitchFamily="2" charset="2"/>
              </a:rPr>
              <a:t>loại</a:t>
            </a:r>
            <a:r>
              <a:rPr lang="en-US" sz="1600" dirty="0">
                <a:sym typeface="Wingdings" panose="05000000000000000000" pitchFamily="2" charset="2"/>
              </a:rPr>
              <a:t> </a:t>
            </a:r>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a:t>
            </a:r>
          </a:p>
          <a:p>
            <a:r>
              <a:rPr lang="en-US" sz="1600" dirty="0">
                <a:sym typeface="Wingdings" panose="05000000000000000000" pitchFamily="2" charset="2"/>
              </a:rPr>
              <a:t>1.	</a:t>
            </a:r>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 beacon </a:t>
            </a:r>
          </a:p>
          <a:p>
            <a:endParaRPr lang="en-US" sz="1600" dirty="0">
              <a:sym typeface="Wingdings" panose="05000000000000000000" pitchFamily="2" charset="2"/>
            </a:endParaRPr>
          </a:p>
        </p:txBody>
      </p:sp>
      <p:graphicFrame>
        <p:nvGraphicFramePr>
          <p:cNvPr id="3" name="Table 2">
            <a:extLst>
              <a:ext uri="{FF2B5EF4-FFF2-40B4-BE49-F238E27FC236}">
                <a16:creationId xmlns:a16="http://schemas.microsoft.com/office/drawing/2014/main" id="{BC3142A2-EBD5-F2B3-02F5-98404427BEE7}"/>
              </a:ext>
            </a:extLst>
          </p:cNvPr>
          <p:cNvGraphicFramePr>
            <a:graphicFrameLocks noGrp="1"/>
          </p:cNvGraphicFramePr>
          <p:nvPr>
            <p:extLst>
              <p:ext uri="{D42A27DB-BD31-4B8C-83A1-F6EECF244321}">
                <p14:modId xmlns:p14="http://schemas.microsoft.com/office/powerpoint/2010/main" val="1530220249"/>
              </p:ext>
            </p:extLst>
          </p:nvPr>
        </p:nvGraphicFramePr>
        <p:xfrm>
          <a:off x="771237" y="1904206"/>
          <a:ext cx="7601526" cy="883920"/>
        </p:xfrm>
        <a:graphic>
          <a:graphicData uri="http://schemas.openxmlformats.org/drawingml/2006/table">
            <a:tbl>
              <a:tblPr firstRow="1" bandRow="1">
                <a:tableStyleId>{5C22544A-7EE6-4342-B048-85BDC9FD1C3A}</a:tableStyleId>
              </a:tblPr>
              <a:tblGrid>
                <a:gridCol w="844614">
                  <a:extLst>
                    <a:ext uri="{9D8B030D-6E8A-4147-A177-3AD203B41FA5}">
                      <a16:colId xmlns:a16="http://schemas.microsoft.com/office/drawing/2014/main" val="814273855"/>
                    </a:ext>
                  </a:extLst>
                </a:gridCol>
                <a:gridCol w="844614">
                  <a:extLst>
                    <a:ext uri="{9D8B030D-6E8A-4147-A177-3AD203B41FA5}">
                      <a16:colId xmlns:a16="http://schemas.microsoft.com/office/drawing/2014/main" val="3524526511"/>
                    </a:ext>
                  </a:extLst>
                </a:gridCol>
                <a:gridCol w="844614">
                  <a:extLst>
                    <a:ext uri="{9D8B030D-6E8A-4147-A177-3AD203B41FA5}">
                      <a16:colId xmlns:a16="http://schemas.microsoft.com/office/drawing/2014/main" val="3076715329"/>
                    </a:ext>
                  </a:extLst>
                </a:gridCol>
                <a:gridCol w="844614">
                  <a:extLst>
                    <a:ext uri="{9D8B030D-6E8A-4147-A177-3AD203B41FA5}">
                      <a16:colId xmlns:a16="http://schemas.microsoft.com/office/drawing/2014/main" val="554371489"/>
                    </a:ext>
                  </a:extLst>
                </a:gridCol>
                <a:gridCol w="844614">
                  <a:extLst>
                    <a:ext uri="{9D8B030D-6E8A-4147-A177-3AD203B41FA5}">
                      <a16:colId xmlns:a16="http://schemas.microsoft.com/office/drawing/2014/main" val="1038084276"/>
                    </a:ext>
                  </a:extLst>
                </a:gridCol>
                <a:gridCol w="844614">
                  <a:extLst>
                    <a:ext uri="{9D8B030D-6E8A-4147-A177-3AD203B41FA5}">
                      <a16:colId xmlns:a16="http://schemas.microsoft.com/office/drawing/2014/main" val="3110712252"/>
                    </a:ext>
                  </a:extLst>
                </a:gridCol>
                <a:gridCol w="844614">
                  <a:extLst>
                    <a:ext uri="{9D8B030D-6E8A-4147-A177-3AD203B41FA5}">
                      <a16:colId xmlns:a16="http://schemas.microsoft.com/office/drawing/2014/main" val="3589248345"/>
                    </a:ext>
                  </a:extLst>
                </a:gridCol>
                <a:gridCol w="844614">
                  <a:extLst>
                    <a:ext uri="{9D8B030D-6E8A-4147-A177-3AD203B41FA5}">
                      <a16:colId xmlns:a16="http://schemas.microsoft.com/office/drawing/2014/main" val="3032141849"/>
                    </a:ext>
                  </a:extLst>
                </a:gridCol>
                <a:gridCol w="844614">
                  <a:extLst>
                    <a:ext uri="{9D8B030D-6E8A-4147-A177-3AD203B41FA5}">
                      <a16:colId xmlns:a16="http://schemas.microsoft.com/office/drawing/2014/main" val="734428107"/>
                    </a:ext>
                  </a:extLst>
                </a:gridCol>
              </a:tblGrid>
              <a:tr h="365760">
                <a:tc>
                  <a:txBody>
                    <a:bodyPr/>
                    <a:lstStyle/>
                    <a:p>
                      <a:r>
                        <a:rPr lang="en-US" sz="1400" dirty="0" err="1">
                          <a:solidFill>
                            <a:schemeClr val="tx1"/>
                          </a:solidFill>
                        </a:rPr>
                        <a:t>Độ</a:t>
                      </a:r>
                      <a:r>
                        <a:rPr lang="en-US" sz="1400" dirty="0">
                          <a:solidFill>
                            <a:schemeClr val="tx1"/>
                          </a:solidFill>
                        </a:rPr>
                        <a:t> </a:t>
                      </a:r>
                      <a:r>
                        <a:rPr lang="en-US" sz="1400" dirty="0" err="1">
                          <a:solidFill>
                            <a:schemeClr val="tx1"/>
                          </a:solidFill>
                        </a:rPr>
                        <a:t>dài</a:t>
                      </a:r>
                      <a:r>
                        <a:rPr lang="en-US" sz="1400" dirty="0">
                          <a:solidFill>
                            <a:schemeClr val="tx1"/>
                          </a:solidFill>
                        </a:rPr>
                        <a:t> (byte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6549786"/>
                  </a:ext>
                </a:extLst>
              </a:tr>
              <a:tr h="365760">
                <a:tc>
                  <a:txBody>
                    <a:bodyPr/>
                    <a:lstStyle/>
                    <a:p>
                      <a:r>
                        <a:rPr lang="en-US" sz="1400" dirty="0" err="1">
                          <a:solidFill>
                            <a:schemeClr val="tx1"/>
                          </a:solidFill>
                        </a:rPr>
                        <a:t>Nội</a:t>
                      </a:r>
                      <a:r>
                        <a:rPr lang="en-US" sz="1400" dirty="0">
                          <a:solidFill>
                            <a:schemeClr val="tx1"/>
                          </a:solidFill>
                        </a:rPr>
                        <a:t> dung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SOF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length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Hour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minute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CRC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EOF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4644956"/>
                  </a:ext>
                </a:extLst>
              </a:tr>
            </a:tbl>
          </a:graphicData>
        </a:graphic>
      </p:graphicFrame>
      <p:sp>
        <p:nvSpPr>
          <p:cNvPr id="7" name="TextBox 6">
            <a:extLst>
              <a:ext uri="{FF2B5EF4-FFF2-40B4-BE49-F238E27FC236}">
                <a16:creationId xmlns:a16="http://schemas.microsoft.com/office/drawing/2014/main" id="{2C6C04E7-8AD5-17E5-93E8-C796CF967C78}"/>
              </a:ext>
            </a:extLst>
          </p:cNvPr>
          <p:cNvSpPr txBox="1"/>
          <p:nvPr/>
        </p:nvSpPr>
        <p:spPr>
          <a:xfrm>
            <a:off x="396115" y="2880613"/>
            <a:ext cx="8093905" cy="584775"/>
          </a:xfrm>
          <a:prstGeom prst="rect">
            <a:avLst/>
          </a:prstGeom>
          <a:noFill/>
        </p:spPr>
        <p:txBody>
          <a:bodyPr wrap="square" rtlCol="0">
            <a:spAutoFit/>
          </a:bodyPr>
          <a:lstStyle/>
          <a:p>
            <a:r>
              <a:rPr lang="en-US" sz="1600" dirty="0">
                <a:sym typeface="Wingdings" panose="05000000000000000000" pitchFamily="2" charset="2"/>
              </a:rPr>
              <a:t>2.	</a:t>
            </a:r>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 </a:t>
            </a:r>
            <a:r>
              <a:rPr lang="en-US" sz="1600" dirty="0" err="1">
                <a:sym typeface="Wingdings" panose="05000000000000000000" pitchFamily="2" charset="2"/>
              </a:rPr>
              <a:t>yêu</a:t>
            </a:r>
            <a:r>
              <a:rPr lang="en-US" sz="1600" dirty="0">
                <a:sym typeface="Wingdings" panose="05000000000000000000" pitchFamily="2" charset="2"/>
              </a:rPr>
              <a:t> </a:t>
            </a:r>
            <a:r>
              <a:rPr lang="en-US" sz="1600" dirty="0" err="1">
                <a:sym typeface="Wingdings" panose="05000000000000000000" pitchFamily="2" charset="2"/>
              </a:rPr>
              <a:t>cầu</a:t>
            </a:r>
            <a:r>
              <a:rPr lang="en-US" sz="1600" dirty="0">
                <a:sym typeface="Wingdings" panose="05000000000000000000" pitchFamily="2" charset="2"/>
              </a:rPr>
              <a:t> </a:t>
            </a:r>
            <a:r>
              <a:rPr lang="en-US" sz="1600" dirty="0" err="1">
                <a:sym typeface="Wingdings" panose="05000000000000000000" pitchFamily="2" charset="2"/>
              </a:rPr>
              <a:t>gia</a:t>
            </a:r>
            <a:r>
              <a:rPr lang="en-US" sz="1600" dirty="0">
                <a:sym typeface="Wingdings" panose="05000000000000000000" pitchFamily="2" charset="2"/>
              </a:rPr>
              <a:t> </a:t>
            </a:r>
            <a:r>
              <a:rPr lang="en-US" sz="1600" dirty="0" err="1">
                <a:sym typeface="Wingdings" panose="05000000000000000000" pitchFamily="2" charset="2"/>
              </a:rPr>
              <a:t>nhập</a:t>
            </a:r>
            <a:endParaRPr lang="en-US" sz="1600" dirty="0">
              <a:sym typeface="Wingdings" panose="05000000000000000000" pitchFamily="2" charset="2"/>
            </a:endParaRPr>
          </a:p>
          <a:p>
            <a:endParaRPr lang="en-US" sz="1600" dirty="0">
              <a:sym typeface="Wingdings" panose="05000000000000000000" pitchFamily="2" charset="2"/>
            </a:endParaRPr>
          </a:p>
        </p:txBody>
      </p:sp>
      <p:graphicFrame>
        <p:nvGraphicFramePr>
          <p:cNvPr id="8" name="Table 7">
            <a:extLst>
              <a:ext uri="{FF2B5EF4-FFF2-40B4-BE49-F238E27FC236}">
                <a16:creationId xmlns:a16="http://schemas.microsoft.com/office/drawing/2014/main" id="{FF9F6E73-C321-CA95-F8D2-BF396F9F6779}"/>
              </a:ext>
            </a:extLst>
          </p:cNvPr>
          <p:cNvGraphicFramePr>
            <a:graphicFrameLocks noGrp="1"/>
          </p:cNvGraphicFramePr>
          <p:nvPr>
            <p:extLst>
              <p:ext uri="{D42A27DB-BD31-4B8C-83A1-F6EECF244321}">
                <p14:modId xmlns:p14="http://schemas.microsoft.com/office/powerpoint/2010/main" val="2097456358"/>
              </p:ext>
            </p:extLst>
          </p:nvPr>
        </p:nvGraphicFramePr>
        <p:xfrm>
          <a:off x="771237" y="3384570"/>
          <a:ext cx="5067684" cy="883920"/>
        </p:xfrm>
        <a:graphic>
          <a:graphicData uri="http://schemas.openxmlformats.org/drawingml/2006/table">
            <a:tbl>
              <a:tblPr firstRow="1" bandRow="1">
                <a:tableStyleId>{5C22544A-7EE6-4342-B048-85BDC9FD1C3A}</a:tableStyleId>
              </a:tblPr>
              <a:tblGrid>
                <a:gridCol w="844614">
                  <a:extLst>
                    <a:ext uri="{9D8B030D-6E8A-4147-A177-3AD203B41FA5}">
                      <a16:colId xmlns:a16="http://schemas.microsoft.com/office/drawing/2014/main" val="814273855"/>
                    </a:ext>
                  </a:extLst>
                </a:gridCol>
                <a:gridCol w="844614">
                  <a:extLst>
                    <a:ext uri="{9D8B030D-6E8A-4147-A177-3AD203B41FA5}">
                      <a16:colId xmlns:a16="http://schemas.microsoft.com/office/drawing/2014/main" val="3524526511"/>
                    </a:ext>
                  </a:extLst>
                </a:gridCol>
                <a:gridCol w="844614">
                  <a:extLst>
                    <a:ext uri="{9D8B030D-6E8A-4147-A177-3AD203B41FA5}">
                      <a16:colId xmlns:a16="http://schemas.microsoft.com/office/drawing/2014/main" val="3076715329"/>
                    </a:ext>
                  </a:extLst>
                </a:gridCol>
                <a:gridCol w="844614">
                  <a:extLst>
                    <a:ext uri="{9D8B030D-6E8A-4147-A177-3AD203B41FA5}">
                      <a16:colId xmlns:a16="http://schemas.microsoft.com/office/drawing/2014/main" val="554371489"/>
                    </a:ext>
                  </a:extLst>
                </a:gridCol>
                <a:gridCol w="844614">
                  <a:extLst>
                    <a:ext uri="{9D8B030D-6E8A-4147-A177-3AD203B41FA5}">
                      <a16:colId xmlns:a16="http://schemas.microsoft.com/office/drawing/2014/main" val="3032141849"/>
                    </a:ext>
                  </a:extLst>
                </a:gridCol>
                <a:gridCol w="844614">
                  <a:extLst>
                    <a:ext uri="{9D8B030D-6E8A-4147-A177-3AD203B41FA5}">
                      <a16:colId xmlns:a16="http://schemas.microsoft.com/office/drawing/2014/main" val="734428107"/>
                    </a:ext>
                  </a:extLst>
                </a:gridCol>
              </a:tblGrid>
              <a:tr h="365760">
                <a:tc>
                  <a:txBody>
                    <a:bodyPr/>
                    <a:lstStyle/>
                    <a:p>
                      <a:r>
                        <a:rPr lang="en-US" sz="1400" dirty="0" err="1">
                          <a:solidFill>
                            <a:schemeClr val="tx1"/>
                          </a:solidFill>
                        </a:rPr>
                        <a:t>Độ</a:t>
                      </a:r>
                      <a:r>
                        <a:rPr lang="en-US" sz="1400" dirty="0">
                          <a:solidFill>
                            <a:schemeClr val="tx1"/>
                          </a:solidFill>
                        </a:rPr>
                        <a:t> </a:t>
                      </a:r>
                      <a:r>
                        <a:rPr lang="en-US" sz="1400" dirty="0" err="1">
                          <a:solidFill>
                            <a:schemeClr val="tx1"/>
                          </a:solidFill>
                        </a:rPr>
                        <a:t>dài</a:t>
                      </a:r>
                      <a:r>
                        <a:rPr lang="en-US" sz="1400" dirty="0">
                          <a:solidFill>
                            <a:schemeClr val="tx1"/>
                          </a:solidFill>
                        </a:rPr>
                        <a:t> (byte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6549786"/>
                  </a:ext>
                </a:extLst>
              </a:tr>
              <a:tr h="365760">
                <a:tc>
                  <a:txBody>
                    <a:bodyPr/>
                    <a:lstStyle/>
                    <a:p>
                      <a:r>
                        <a:rPr lang="en-US" sz="1400" dirty="0" err="1">
                          <a:solidFill>
                            <a:schemeClr val="tx1"/>
                          </a:solidFill>
                        </a:rPr>
                        <a:t>Nội</a:t>
                      </a:r>
                      <a:r>
                        <a:rPr lang="en-US" sz="1400" dirty="0">
                          <a:solidFill>
                            <a:schemeClr val="tx1"/>
                          </a:solidFill>
                        </a:rPr>
                        <a:t> dung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SOF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UID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CRC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EOF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4644956"/>
                  </a:ext>
                </a:extLst>
              </a:tr>
            </a:tbl>
          </a:graphicData>
        </a:graphic>
      </p:graphicFrame>
      <p:sp>
        <p:nvSpPr>
          <p:cNvPr id="9" name="TextBox 8">
            <a:extLst>
              <a:ext uri="{FF2B5EF4-FFF2-40B4-BE49-F238E27FC236}">
                <a16:creationId xmlns:a16="http://schemas.microsoft.com/office/drawing/2014/main" id="{533F4FD6-1092-C290-45AC-507DB1919780}"/>
              </a:ext>
            </a:extLst>
          </p:cNvPr>
          <p:cNvSpPr txBox="1"/>
          <p:nvPr/>
        </p:nvSpPr>
        <p:spPr>
          <a:xfrm>
            <a:off x="396115" y="4442902"/>
            <a:ext cx="8093905" cy="338554"/>
          </a:xfrm>
          <a:prstGeom prst="rect">
            <a:avLst/>
          </a:prstGeom>
          <a:noFill/>
        </p:spPr>
        <p:txBody>
          <a:bodyPr wrap="square" rtlCol="0">
            <a:spAutoFit/>
          </a:bodyPr>
          <a:lstStyle/>
          <a:p>
            <a:r>
              <a:rPr lang="en-US" sz="1600" dirty="0">
                <a:sym typeface="Wingdings" panose="05000000000000000000" pitchFamily="2" charset="2"/>
              </a:rPr>
              <a:t>3.	</a:t>
            </a:r>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 </a:t>
            </a:r>
            <a:r>
              <a:rPr lang="en-US" sz="1600" dirty="0" err="1">
                <a:sym typeface="Wingdings" panose="05000000000000000000" pitchFamily="2" charset="2"/>
              </a:rPr>
              <a:t>chấp</a:t>
            </a:r>
            <a:r>
              <a:rPr lang="en-US" sz="1600" dirty="0">
                <a:sym typeface="Wingdings" panose="05000000000000000000" pitchFamily="2" charset="2"/>
              </a:rPr>
              <a:t> </a:t>
            </a:r>
            <a:r>
              <a:rPr lang="en-US" sz="1600" dirty="0" err="1">
                <a:sym typeface="Wingdings" panose="05000000000000000000" pitchFamily="2" charset="2"/>
              </a:rPr>
              <a:t>nhận</a:t>
            </a:r>
            <a:r>
              <a:rPr lang="en-US" sz="1600" dirty="0">
                <a:sym typeface="Wingdings" panose="05000000000000000000" pitchFamily="2" charset="2"/>
              </a:rPr>
              <a:t> </a:t>
            </a:r>
            <a:r>
              <a:rPr lang="en-US" sz="1600" dirty="0" err="1">
                <a:sym typeface="Wingdings" panose="05000000000000000000" pitchFamily="2" charset="2"/>
              </a:rPr>
              <a:t>gia</a:t>
            </a:r>
            <a:r>
              <a:rPr lang="en-US" sz="1600" dirty="0">
                <a:sym typeface="Wingdings" panose="05000000000000000000" pitchFamily="2" charset="2"/>
              </a:rPr>
              <a:t> </a:t>
            </a:r>
            <a:r>
              <a:rPr lang="en-US" sz="1600" dirty="0" err="1">
                <a:sym typeface="Wingdings" panose="05000000000000000000" pitchFamily="2" charset="2"/>
              </a:rPr>
              <a:t>nhập</a:t>
            </a:r>
            <a:r>
              <a:rPr lang="en-US" sz="1600" dirty="0">
                <a:sym typeface="Wingdings" panose="05000000000000000000" pitchFamily="2" charset="2"/>
              </a:rPr>
              <a:t>, </a:t>
            </a:r>
            <a:r>
              <a:rPr lang="en-US" sz="1600" dirty="0" err="1">
                <a:sym typeface="Wingdings" panose="05000000000000000000" pitchFamily="2" charset="2"/>
              </a:rPr>
              <a:t>cấp</a:t>
            </a:r>
            <a:r>
              <a:rPr lang="en-US" sz="1600" dirty="0">
                <a:sym typeface="Wingdings" panose="05000000000000000000" pitchFamily="2" charset="2"/>
              </a:rPr>
              <a:t> </a:t>
            </a:r>
            <a:r>
              <a:rPr lang="en-US" sz="1600" dirty="0" err="1">
                <a:sym typeface="Wingdings" panose="05000000000000000000" pitchFamily="2" charset="2"/>
              </a:rPr>
              <a:t>phát</a:t>
            </a:r>
            <a:r>
              <a:rPr lang="en-US" sz="1600" dirty="0">
                <a:sym typeface="Wingdings" panose="05000000000000000000" pitchFamily="2" charset="2"/>
              </a:rPr>
              <a:t> ID </a:t>
            </a:r>
            <a:r>
              <a:rPr lang="en-US" sz="1600" dirty="0" err="1">
                <a:sym typeface="Wingdings" panose="05000000000000000000" pitchFamily="2" charset="2"/>
              </a:rPr>
              <a:t>và</a:t>
            </a:r>
            <a:r>
              <a:rPr lang="en-US" sz="1600" dirty="0">
                <a:sym typeface="Wingdings" panose="05000000000000000000" pitchFamily="2" charset="2"/>
              </a:rPr>
              <a:t> timeslot</a:t>
            </a:r>
          </a:p>
        </p:txBody>
      </p:sp>
      <p:graphicFrame>
        <p:nvGraphicFramePr>
          <p:cNvPr id="10" name="Table 9">
            <a:extLst>
              <a:ext uri="{FF2B5EF4-FFF2-40B4-BE49-F238E27FC236}">
                <a16:creationId xmlns:a16="http://schemas.microsoft.com/office/drawing/2014/main" id="{26ECE12B-2DFE-688E-5123-5882089C96C1}"/>
              </a:ext>
            </a:extLst>
          </p:cNvPr>
          <p:cNvGraphicFramePr>
            <a:graphicFrameLocks noGrp="1"/>
          </p:cNvGraphicFramePr>
          <p:nvPr>
            <p:extLst>
              <p:ext uri="{D42A27DB-BD31-4B8C-83A1-F6EECF244321}">
                <p14:modId xmlns:p14="http://schemas.microsoft.com/office/powerpoint/2010/main" val="2051811577"/>
              </p:ext>
            </p:extLst>
          </p:nvPr>
        </p:nvGraphicFramePr>
        <p:xfrm>
          <a:off x="56002" y="5027677"/>
          <a:ext cx="9052237" cy="1036320"/>
        </p:xfrm>
        <a:graphic>
          <a:graphicData uri="http://schemas.openxmlformats.org/drawingml/2006/table">
            <a:tbl>
              <a:tblPr firstRow="1" bandRow="1">
                <a:tableStyleId>{5C22544A-7EE6-4342-B048-85BDC9FD1C3A}</a:tableStyleId>
              </a:tblPr>
              <a:tblGrid>
                <a:gridCol w="737754">
                  <a:extLst>
                    <a:ext uri="{9D8B030D-6E8A-4147-A177-3AD203B41FA5}">
                      <a16:colId xmlns:a16="http://schemas.microsoft.com/office/drawing/2014/main" val="814273855"/>
                    </a:ext>
                  </a:extLst>
                </a:gridCol>
                <a:gridCol w="737754">
                  <a:extLst>
                    <a:ext uri="{9D8B030D-6E8A-4147-A177-3AD203B41FA5}">
                      <a16:colId xmlns:a16="http://schemas.microsoft.com/office/drawing/2014/main" val="3524526511"/>
                    </a:ext>
                  </a:extLst>
                </a:gridCol>
                <a:gridCol w="737754">
                  <a:extLst>
                    <a:ext uri="{9D8B030D-6E8A-4147-A177-3AD203B41FA5}">
                      <a16:colId xmlns:a16="http://schemas.microsoft.com/office/drawing/2014/main" val="3076715329"/>
                    </a:ext>
                  </a:extLst>
                </a:gridCol>
                <a:gridCol w="737754">
                  <a:extLst>
                    <a:ext uri="{9D8B030D-6E8A-4147-A177-3AD203B41FA5}">
                      <a16:colId xmlns:a16="http://schemas.microsoft.com/office/drawing/2014/main" val="554371489"/>
                    </a:ext>
                  </a:extLst>
                </a:gridCol>
                <a:gridCol w="737754">
                  <a:extLst>
                    <a:ext uri="{9D8B030D-6E8A-4147-A177-3AD203B41FA5}">
                      <a16:colId xmlns:a16="http://schemas.microsoft.com/office/drawing/2014/main" val="1038084276"/>
                    </a:ext>
                  </a:extLst>
                </a:gridCol>
                <a:gridCol w="737754">
                  <a:extLst>
                    <a:ext uri="{9D8B030D-6E8A-4147-A177-3AD203B41FA5}">
                      <a16:colId xmlns:a16="http://schemas.microsoft.com/office/drawing/2014/main" val="2821313435"/>
                    </a:ext>
                  </a:extLst>
                </a:gridCol>
                <a:gridCol w="936943">
                  <a:extLst>
                    <a:ext uri="{9D8B030D-6E8A-4147-A177-3AD203B41FA5}">
                      <a16:colId xmlns:a16="http://schemas.microsoft.com/office/drawing/2014/main" val="1243003699"/>
                    </a:ext>
                  </a:extLst>
                </a:gridCol>
                <a:gridCol w="528749">
                  <a:extLst>
                    <a:ext uri="{9D8B030D-6E8A-4147-A177-3AD203B41FA5}">
                      <a16:colId xmlns:a16="http://schemas.microsoft.com/office/drawing/2014/main" val="316759532"/>
                    </a:ext>
                  </a:extLst>
                </a:gridCol>
                <a:gridCol w="655782">
                  <a:extLst>
                    <a:ext uri="{9D8B030D-6E8A-4147-A177-3AD203B41FA5}">
                      <a16:colId xmlns:a16="http://schemas.microsoft.com/office/drawing/2014/main" val="3064165036"/>
                    </a:ext>
                  </a:extLst>
                </a:gridCol>
                <a:gridCol w="1028731">
                  <a:extLst>
                    <a:ext uri="{9D8B030D-6E8A-4147-A177-3AD203B41FA5}">
                      <a16:colId xmlns:a16="http://schemas.microsoft.com/office/drawing/2014/main" val="232296131"/>
                    </a:ext>
                  </a:extLst>
                </a:gridCol>
                <a:gridCol w="737754">
                  <a:extLst>
                    <a:ext uri="{9D8B030D-6E8A-4147-A177-3AD203B41FA5}">
                      <a16:colId xmlns:a16="http://schemas.microsoft.com/office/drawing/2014/main" val="3032141849"/>
                    </a:ext>
                  </a:extLst>
                </a:gridCol>
                <a:gridCol w="737754">
                  <a:extLst>
                    <a:ext uri="{9D8B030D-6E8A-4147-A177-3AD203B41FA5}">
                      <a16:colId xmlns:a16="http://schemas.microsoft.com/office/drawing/2014/main" val="734428107"/>
                    </a:ext>
                  </a:extLst>
                </a:gridCol>
              </a:tblGrid>
              <a:tr h="365760">
                <a:tc>
                  <a:txBody>
                    <a:bodyPr/>
                    <a:lstStyle/>
                    <a:p>
                      <a:r>
                        <a:rPr lang="en-US" sz="1400" dirty="0" err="1">
                          <a:solidFill>
                            <a:schemeClr val="tx1"/>
                          </a:solidFill>
                        </a:rPr>
                        <a:t>Độ</a:t>
                      </a:r>
                      <a:r>
                        <a:rPr lang="en-US" sz="1400" dirty="0">
                          <a:solidFill>
                            <a:schemeClr val="tx1"/>
                          </a:solidFill>
                        </a:rPr>
                        <a:t> </a:t>
                      </a:r>
                      <a:r>
                        <a:rPr lang="en-US" sz="1400" dirty="0" err="1">
                          <a:solidFill>
                            <a:schemeClr val="tx1"/>
                          </a:solidFill>
                        </a:rPr>
                        <a:t>dài</a:t>
                      </a:r>
                      <a:r>
                        <a:rPr lang="en-US" sz="1400" dirty="0">
                          <a:solidFill>
                            <a:schemeClr val="tx1"/>
                          </a:solidFill>
                        </a:rPr>
                        <a:t> (byte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 . .</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6549786"/>
                  </a:ext>
                </a:extLst>
              </a:tr>
              <a:tr h="365760">
                <a:tc>
                  <a:txBody>
                    <a:bodyPr/>
                    <a:lstStyle/>
                    <a:p>
                      <a:r>
                        <a:rPr lang="en-US" sz="1400" dirty="0" err="1">
                          <a:solidFill>
                            <a:schemeClr val="tx1"/>
                          </a:solidFill>
                        </a:rPr>
                        <a:t>Nội</a:t>
                      </a:r>
                      <a:r>
                        <a:rPr lang="en-US" sz="1400" dirty="0">
                          <a:solidFill>
                            <a:schemeClr val="tx1"/>
                          </a:solidFill>
                        </a:rPr>
                        <a:t> dung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SOF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length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UID1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ID1 &amp;</a:t>
                      </a:r>
                    </a:p>
                    <a:p>
                      <a:r>
                        <a:rPr lang="en-US" sz="1400" dirty="0">
                          <a:solidFill>
                            <a:schemeClr val="tx1"/>
                          </a:solidFill>
                        </a:rPr>
                        <a:t>Timeslot1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dirty="0">
                          <a:solidFill>
                            <a:schemeClr val="tx1"/>
                          </a:solidFill>
                        </a:rPr>
                        <a:t>. . .</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err="1">
                          <a:solidFill>
                            <a:schemeClr val="tx1"/>
                          </a:solidFill>
                        </a:rPr>
                        <a:t>UID</a:t>
                      </a:r>
                      <a:r>
                        <a:rPr lang="en-US" sz="1400" baseline="-25000" dirty="0" err="1">
                          <a:solidFill>
                            <a:schemeClr val="tx1"/>
                          </a:solidFill>
                        </a:rPr>
                        <a:t>i</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err="1">
                          <a:solidFill>
                            <a:schemeClr val="tx1"/>
                          </a:solidFill>
                        </a:rPr>
                        <a:t>IDi</a:t>
                      </a:r>
                      <a:r>
                        <a:rPr lang="en-US" sz="1400" dirty="0">
                          <a:solidFill>
                            <a:schemeClr val="tx1"/>
                          </a:solidFill>
                        </a:rPr>
                        <a:t> &amp; </a:t>
                      </a:r>
                      <a:r>
                        <a:rPr lang="en-US" sz="1400" dirty="0" err="1">
                          <a:solidFill>
                            <a:schemeClr val="tx1"/>
                          </a:solidFill>
                        </a:rPr>
                        <a:t>Timeslot</a:t>
                      </a:r>
                      <a:r>
                        <a:rPr lang="en-US" sz="1400" baseline="-25000" dirty="0" err="1">
                          <a:solidFill>
                            <a:schemeClr val="tx1"/>
                          </a:solidFill>
                        </a:rPr>
                        <a:t>i</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CRC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EOF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4644956"/>
                  </a:ext>
                </a:extLst>
              </a:tr>
            </a:tbl>
          </a:graphicData>
        </a:graphic>
      </p:graphicFrame>
    </p:spTree>
    <p:extLst>
      <p:ext uri="{BB962C8B-B14F-4D97-AF65-F5344CB8AC3E}">
        <p14:creationId xmlns:p14="http://schemas.microsoft.com/office/powerpoint/2010/main" val="2356048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4" name="Title 1">
            <a:extLst>
              <a:ext uri="{FF2B5EF4-FFF2-40B4-BE49-F238E27FC236}">
                <a16:creationId xmlns:a16="http://schemas.microsoft.com/office/drawing/2014/main" id="{42A67677-91C0-FDF2-1208-F04CE43EC0B8}"/>
              </a:ext>
            </a:extLst>
          </p:cNvPr>
          <p:cNvSpPr>
            <a:spLocks noGrp="1"/>
          </p:cNvSpPr>
          <p:nvPr>
            <p:ph type="title"/>
          </p:nvPr>
        </p:nvSpPr>
        <p:spPr>
          <a:xfrm>
            <a:off x="234950" y="79375"/>
            <a:ext cx="8674100" cy="450850"/>
          </a:xfrm>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2" name="TextBox 1">
            <a:extLst>
              <a:ext uri="{FF2B5EF4-FFF2-40B4-BE49-F238E27FC236}">
                <a16:creationId xmlns:a16="http://schemas.microsoft.com/office/drawing/2014/main" id="{4EDBC082-1AD9-4877-D474-95ADCE90C5FA}"/>
              </a:ext>
            </a:extLst>
          </p:cNvPr>
          <p:cNvSpPr txBox="1"/>
          <p:nvPr/>
        </p:nvSpPr>
        <p:spPr>
          <a:xfrm>
            <a:off x="396115" y="905123"/>
            <a:ext cx="2804285" cy="338554"/>
          </a:xfrm>
          <a:prstGeom prst="rect">
            <a:avLst/>
          </a:prstGeom>
          <a:noFill/>
        </p:spPr>
        <p:txBody>
          <a:bodyPr wrap="square" rtlCol="0">
            <a:spAutoFit/>
          </a:bodyPr>
          <a:lstStyle/>
          <a:p>
            <a:r>
              <a:rPr lang="en-US" sz="1600" dirty="0">
                <a:sym typeface="Wingdings" panose="05000000000000000000" pitchFamily="2" charset="2"/>
              </a:rPr>
              <a:t>5.2.4 </a:t>
            </a:r>
            <a:r>
              <a:rPr lang="en-US" sz="1600" dirty="0" err="1">
                <a:sym typeface="Wingdings" panose="05000000000000000000" pitchFamily="2" charset="2"/>
              </a:rPr>
              <a:t>Thiết</a:t>
            </a:r>
            <a:r>
              <a:rPr lang="en-US" sz="1600" dirty="0">
                <a:sym typeface="Wingdings" panose="05000000000000000000" pitchFamily="2" charset="2"/>
              </a:rPr>
              <a:t> </a:t>
            </a:r>
            <a:r>
              <a:rPr lang="en-US" sz="1600" dirty="0" err="1">
                <a:sym typeface="Wingdings" panose="05000000000000000000" pitchFamily="2" charset="2"/>
              </a:rPr>
              <a:t>kế</a:t>
            </a:r>
            <a:r>
              <a:rPr lang="en-US" sz="1600" dirty="0">
                <a:sym typeface="Wingdings" panose="05000000000000000000" pitchFamily="2" charset="2"/>
              </a:rPr>
              <a:t> </a:t>
            </a:r>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a:t>
            </a:r>
            <a:endParaRPr lang="en-US" dirty="0"/>
          </a:p>
        </p:txBody>
      </p:sp>
      <p:sp>
        <p:nvSpPr>
          <p:cNvPr id="11" name="TextBox 10">
            <a:extLst>
              <a:ext uri="{FF2B5EF4-FFF2-40B4-BE49-F238E27FC236}">
                <a16:creationId xmlns:a16="http://schemas.microsoft.com/office/drawing/2014/main" id="{10946510-8FB9-701C-0CA9-98D38A3BDF2E}"/>
              </a:ext>
            </a:extLst>
          </p:cNvPr>
          <p:cNvSpPr txBox="1"/>
          <p:nvPr/>
        </p:nvSpPr>
        <p:spPr>
          <a:xfrm>
            <a:off x="396115" y="1243677"/>
            <a:ext cx="8093905" cy="584775"/>
          </a:xfrm>
          <a:prstGeom prst="rect">
            <a:avLst/>
          </a:prstGeom>
          <a:noFill/>
        </p:spPr>
        <p:txBody>
          <a:bodyPr wrap="square" rtlCol="0">
            <a:spAutoFit/>
          </a:bodyPr>
          <a:lstStyle/>
          <a:p>
            <a:r>
              <a:rPr lang="en-US" sz="1600" dirty="0">
                <a:sym typeface="Wingdings" panose="05000000000000000000" pitchFamily="2" charset="2"/>
              </a:rPr>
              <a:t>4.	</a:t>
            </a:r>
            <a:r>
              <a:rPr lang="en-US" sz="1600" dirty="0" err="1">
                <a:sym typeface="Wingdings" panose="05000000000000000000" pitchFamily="2" charset="2"/>
              </a:rPr>
              <a:t>Khung</a:t>
            </a:r>
            <a:r>
              <a:rPr lang="en-US" sz="1600" dirty="0">
                <a:sym typeface="Wingdings" panose="05000000000000000000" pitchFamily="2" charset="2"/>
              </a:rPr>
              <a:t> </a:t>
            </a:r>
            <a:r>
              <a:rPr lang="en-US" sz="1600" dirty="0" err="1">
                <a:sym typeface="Wingdings" panose="05000000000000000000" pitchFamily="2" charset="2"/>
              </a:rPr>
              <a:t>bản</a:t>
            </a:r>
            <a:r>
              <a:rPr lang="en-US" sz="1600" dirty="0">
                <a:sym typeface="Wingdings" panose="05000000000000000000" pitchFamily="2" charset="2"/>
              </a:rPr>
              <a:t> tin </a:t>
            </a:r>
            <a:r>
              <a:rPr lang="en-US" sz="1600" dirty="0" err="1">
                <a:sym typeface="Wingdings" panose="05000000000000000000" pitchFamily="2" charset="2"/>
              </a:rPr>
              <a:t>truyền</a:t>
            </a:r>
            <a:r>
              <a:rPr lang="en-US" sz="1600" dirty="0">
                <a:sym typeface="Wingdings" panose="05000000000000000000" pitchFamily="2" charset="2"/>
              </a:rPr>
              <a:t> </a:t>
            </a:r>
            <a:r>
              <a:rPr lang="en-US" sz="1600" dirty="0" err="1">
                <a:sym typeface="Wingdings" panose="05000000000000000000" pitchFamily="2" charset="2"/>
              </a:rPr>
              <a:t>dữ</a:t>
            </a:r>
            <a:r>
              <a:rPr lang="en-US" sz="1600" dirty="0">
                <a:sym typeface="Wingdings" panose="05000000000000000000" pitchFamily="2" charset="2"/>
              </a:rPr>
              <a:t> </a:t>
            </a:r>
            <a:r>
              <a:rPr lang="en-US" sz="1600" dirty="0" err="1">
                <a:sym typeface="Wingdings" panose="05000000000000000000" pitchFamily="2" charset="2"/>
              </a:rPr>
              <a:t>liệu</a:t>
            </a:r>
            <a:endParaRPr lang="en-US" sz="1600" dirty="0">
              <a:sym typeface="Wingdings" panose="05000000000000000000" pitchFamily="2" charset="2"/>
            </a:endParaRPr>
          </a:p>
          <a:p>
            <a:endParaRPr lang="en-US" sz="1600" dirty="0">
              <a:sym typeface="Wingdings" panose="05000000000000000000" pitchFamily="2" charset="2"/>
            </a:endParaRPr>
          </a:p>
        </p:txBody>
      </p:sp>
      <p:graphicFrame>
        <p:nvGraphicFramePr>
          <p:cNvPr id="12" name="Table 11">
            <a:extLst>
              <a:ext uri="{FF2B5EF4-FFF2-40B4-BE49-F238E27FC236}">
                <a16:creationId xmlns:a16="http://schemas.microsoft.com/office/drawing/2014/main" id="{7A53AC4A-35A0-33E5-6768-F2CBA5646C63}"/>
              </a:ext>
            </a:extLst>
          </p:cNvPr>
          <p:cNvGraphicFramePr>
            <a:graphicFrameLocks noGrp="1"/>
          </p:cNvGraphicFramePr>
          <p:nvPr>
            <p:extLst>
              <p:ext uri="{D42A27DB-BD31-4B8C-83A1-F6EECF244321}">
                <p14:modId xmlns:p14="http://schemas.microsoft.com/office/powerpoint/2010/main" val="2849686093"/>
              </p:ext>
            </p:extLst>
          </p:nvPr>
        </p:nvGraphicFramePr>
        <p:xfrm>
          <a:off x="771237" y="1747634"/>
          <a:ext cx="7474082" cy="1036320"/>
        </p:xfrm>
        <a:graphic>
          <a:graphicData uri="http://schemas.openxmlformats.org/drawingml/2006/table">
            <a:tbl>
              <a:tblPr firstRow="1" bandRow="1">
                <a:tableStyleId>{5C22544A-7EE6-4342-B048-85BDC9FD1C3A}</a:tableStyleId>
              </a:tblPr>
              <a:tblGrid>
                <a:gridCol w="679462">
                  <a:extLst>
                    <a:ext uri="{9D8B030D-6E8A-4147-A177-3AD203B41FA5}">
                      <a16:colId xmlns:a16="http://schemas.microsoft.com/office/drawing/2014/main" val="814273855"/>
                    </a:ext>
                  </a:extLst>
                </a:gridCol>
                <a:gridCol w="679462">
                  <a:extLst>
                    <a:ext uri="{9D8B030D-6E8A-4147-A177-3AD203B41FA5}">
                      <a16:colId xmlns:a16="http://schemas.microsoft.com/office/drawing/2014/main" val="3524526511"/>
                    </a:ext>
                  </a:extLst>
                </a:gridCol>
                <a:gridCol w="679462">
                  <a:extLst>
                    <a:ext uri="{9D8B030D-6E8A-4147-A177-3AD203B41FA5}">
                      <a16:colId xmlns:a16="http://schemas.microsoft.com/office/drawing/2014/main" val="3076715329"/>
                    </a:ext>
                  </a:extLst>
                </a:gridCol>
                <a:gridCol w="679462">
                  <a:extLst>
                    <a:ext uri="{9D8B030D-6E8A-4147-A177-3AD203B41FA5}">
                      <a16:colId xmlns:a16="http://schemas.microsoft.com/office/drawing/2014/main" val="554371489"/>
                    </a:ext>
                  </a:extLst>
                </a:gridCol>
                <a:gridCol w="679462">
                  <a:extLst>
                    <a:ext uri="{9D8B030D-6E8A-4147-A177-3AD203B41FA5}">
                      <a16:colId xmlns:a16="http://schemas.microsoft.com/office/drawing/2014/main" val="1038084276"/>
                    </a:ext>
                  </a:extLst>
                </a:gridCol>
                <a:gridCol w="679462">
                  <a:extLst>
                    <a:ext uri="{9D8B030D-6E8A-4147-A177-3AD203B41FA5}">
                      <a16:colId xmlns:a16="http://schemas.microsoft.com/office/drawing/2014/main" val="2108391950"/>
                    </a:ext>
                  </a:extLst>
                </a:gridCol>
                <a:gridCol w="679462">
                  <a:extLst>
                    <a:ext uri="{9D8B030D-6E8A-4147-A177-3AD203B41FA5}">
                      <a16:colId xmlns:a16="http://schemas.microsoft.com/office/drawing/2014/main" val="2048525798"/>
                    </a:ext>
                  </a:extLst>
                </a:gridCol>
                <a:gridCol w="679462">
                  <a:extLst>
                    <a:ext uri="{9D8B030D-6E8A-4147-A177-3AD203B41FA5}">
                      <a16:colId xmlns:a16="http://schemas.microsoft.com/office/drawing/2014/main" val="3836083256"/>
                    </a:ext>
                  </a:extLst>
                </a:gridCol>
                <a:gridCol w="679462">
                  <a:extLst>
                    <a:ext uri="{9D8B030D-6E8A-4147-A177-3AD203B41FA5}">
                      <a16:colId xmlns:a16="http://schemas.microsoft.com/office/drawing/2014/main" val="2716704162"/>
                    </a:ext>
                  </a:extLst>
                </a:gridCol>
                <a:gridCol w="679462">
                  <a:extLst>
                    <a:ext uri="{9D8B030D-6E8A-4147-A177-3AD203B41FA5}">
                      <a16:colId xmlns:a16="http://schemas.microsoft.com/office/drawing/2014/main" val="1653958453"/>
                    </a:ext>
                  </a:extLst>
                </a:gridCol>
                <a:gridCol w="679462">
                  <a:extLst>
                    <a:ext uri="{9D8B030D-6E8A-4147-A177-3AD203B41FA5}">
                      <a16:colId xmlns:a16="http://schemas.microsoft.com/office/drawing/2014/main" val="734428107"/>
                    </a:ext>
                  </a:extLst>
                </a:gridCol>
              </a:tblGrid>
              <a:tr h="365760">
                <a:tc>
                  <a:txBody>
                    <a:bodyPr/>
                    <a:lstStyle/>
                    <a:p>
                      <a:r>
                        <a:rPr lang="en-US" sz="1400" dirty="0" err="1">
                          <a:solidFill>
                            <a:schemeClr val="tx1"/>
                          </a:solidFill>
                        </a:rPr>
                        <a:t>Độ</a:t>
                      </a:r>
                      <a:r>
                        <a:rPr lang="en-US" sz="1400" dirty="0">
                          <a:solidFill>
                            <a:schemeClr val="tx1"/>
                          </a:solidFill>
                        </a:rPr>
                        <a:t> </a:t>
                      </a:r>
                      <a:r>
                        <a:rPr lang="en-US" sz="1400" dirty="0" err="1">
                          <a:solidFill>
                            <a:schemeClr val="tx1"/>
                          </a:solidFill>
                        </a:rPr>
                        <a:t>dài</a:t>
                      </a:r>
                      <a:r>
                        <a:rPr lang="en-US" sz="1400" dirty="0">
                          <a:solidFill>
                            <a:schemeClr val="tx1"/>
                          </a:solidFill>
                        </a:rPr>
                        <a:t> (byte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6549786"/>
                  </a:ext>
                </a:extLst>
              </a:tr>
              <a:tr h="365760">
                <a:tc>
                  <a:txBody>
                    <a:bodyPr/>
                    <a:lstStyle/>
                    <a:p>
                      <a:r>
                        <a:rPr lang="en-US" sz="1400" dirty="0" err="1">
                          <a:solidFill>
                            <a:schemeClr val="tx1"/>
                          </a:solidFill>
                        </a:rPr>
                        <a:t>Nội</a:t>
                      </a:r>
                      <a:r>
                        <a:rPr lang="en-US" sz="1400" dirty="0">
                          <a:solidFill>
                            <a:schemeClr val="tx1"/>
                          </a:solidFill>
                        </a:rPr>
                        <a:t> dung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SOF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length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1400" dirty="0">
                          <a:solidFill>
                            <a:schemeClr val="tx1"/>
                          </a:solidFill>
                        </a:rPr>
                        <a:t>Temp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err="1">
                          <a:solidFill>
                            <a:schemeClr val="tx1"/>
                          </a:solidFill>
                        </a:rPr>
                        <a:t>humi</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err="1">
                          <a:solidFill>
                            <a:schemeClr val="tx1"/>
                          </a:solidFill>
                        </a:rPr>
                        <a:t>mois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CRC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EOF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4644956"/>
                  </a:ext>
                </a:extLst>
              </a:tr>
            </a:tbl>
          </a:graphicData>
        </a:graphic>
      </p:graphicFrame>
    </p:spTree>
    <p:extLst>
      <p:ext uri="{BB962C8B-B14F-4D97-AF65-F5344CB8AC3E}">
        <p14:creationId xmlns:p14="http://schemas.microsoft.com/office/powerpoint/2010/main" val="2257043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4" name="Title 1">
            <a:extLst>
              <a:ext uri="{FF2B5EF4-FFF2-40B4-BE49-F238E27FC236}">
                <a16:creationId xmlns:a16="http://schemas.microsoft.com/office/drawing/2014/main" id="{42A67677-91C0-FDF2-1208-F04CE43EC0B8}"/>
              </a:ext>
            </a:extLst>
          </p:cNvPr>
          <p:cNvSpPr>
            <a:spLocks noGrp="1"/>
          </p:cNvSpPr>
          <p:nvPr>
            <p:ph type="title"/>
          </p:nvPr>
        </p:nvSpPr>
        <p:spPr>
          <a:xfrm>
            <a:off x="234950" y="79375"/>
            <a:ext cx="8674100" cy="450850"/>
          </a:xfrm>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3" name="TextBox 2">
            <a:extLst>
              <a:ext uri="{FF2B5EF4-FFF2-40B4-BE49-F238E27FC236}">
                <a16:creationId xmlns:a16="http://schemas.microsoft.com/office/drawing/2014/main" id="{D8A5341F-AA1B-41CB-68C3-B22761A66EDA}"/>
              </a:ext>
            </a:extLst>
          </p:cNvPr>
          <p:cNvSpPr txBox="1"/>
          <p:nvPr/>
        </p:nvSpPr>
        <p:spPr>
          <a:xfrm>
            <a:off x="396115" y="905123"/>
            <a:ext cx="2804285" cy="338554"/>
          </a:xfrm>
          <a:prstGeom prst="rect">
            <a:avLst/>
          </a:prstGeom>
          <a:noFill/>
        </p:spPr>
        <p:txBody>
          <a:bodyPr wrap="square" rtlCol="0">
            <a:spAutoFit/>
          </a:bodyPr>
          <a:lstStyle/>
          <a:p>
            <a:r>
              <a:rPr lang="en-US" sz="1600" dirty="0">
                <a:sym typeface="Wingdings" panose="05000000000000000000" pitchFamily="2" charset="2"/>
              </a:rPr>
              <a:t>5.2.5 </a:t>
            </a:r>
            <a:r>
              <a:rPr lang="en-US" sz="1600" dirty="0" err="1">
                <a:sym typeface="Wingdings" panose="05000000000000000000" pitchFamily="2" charset="2"/>
              </a:rPr>
              <a:t>Phần</a:t>
            </a:r>
            <a:r>
              <a:rPr lang="en-US" sz="1600" dirty="0">
                <a:sym typeface="Wingdings" panose="05000000000000000000" pitchFamily="2" charset="2"/>
              </a:rPr>
              <a:t> </a:t>
            </a:r>
            <a:r>
              <a:rPr lang="en-US" sz="1600" dirty="0" err="1">
                <a:sym typeface="Wingdings" panose="05000000000000000000" pitchFamily="2" charset="2"/>
              </a:rPr>
              <a:t>mềm</a:t>
            </a:r>
            <a:endParaRPr lang="en-US" dirty="0"/>
          </a:p>
        </p:txBody>
      </p:sp>
      <p:pic>
        <p:nvPicPr>
          <p:cNvPr id="6" name="Picture 5">
            <a:extLst>
              <a:ext uri="{FF2B5EF4-FFF2-40B4-BE49-F238E27FC236}">
                <a16:creationId xmlns:a16="http://schemas.microsoft.com/office/drawing/2014/main" id="{CA036926-4A40-B461-287D-CFBFEC827C92}"/>
              </a:ext>
            </a:extLst>
          </p:cNvPr>
          <p:cNvPicPr>
            <a:picLocks noChangeAspect="1"/>
          </p:cNvPicPr>
          <p:nvPr/>
        </p:nvPicPr>
        <p:blipFill>
          <a:blip r:embed="rId2"/>
          <a:stretch>
            <a:fillRect/>
          </a:stretch>
        </p:blipFill>
        <p:spPr>
          <a:xfrm>
            <a:off x="1923095" y="905123"/>
            <a:ext cx="5456686" cy="5385314"/>
          </a:xfrm>
          <a:prstGeom prst="rect">
            <a:avLst/>
          </a:prstGeom>
        </p:spPr>
      </p:pic>
      <p:sp>
        <p:nvSpPr>
          <p:cNvPr id="8" name="TextBox 7">
            <a:extLst>
              <a:ext uri="{FF2B5EF4-FFF2-40B4-BE49-F238E27FC236}">
                <a16:creationId xmlns:a16="http://schemas.microsoft.com/office/drawing/2014/main" id="{CC50F830-65D3-2EA1-B30B-A18C7BC2CA8E}"/>
              </a:ext>
            </a:extLst>
          </p:cNvPr>
          <p:cNvSpPr txBox="1"/>
          <p:nvPr/>
        </p:nvSpPr>
        <p:spPr>
          <a:xfrm>
            <a:off x="3288146" y="6105771"/>
            <a:ext cx="3491346" cy="369332"/>
          </a:xfrm>
          <a:prstGeom prst="rect">
            <a:avLst/>
          </a:prstGeom>
          <a:noFill/>
        </p:spPr>
        <p:txBody>
          <a:bodyPr wrap="square" rtlCol="0">
            <a:spAutoFit/>
          </a:bodyPr>
          <a:lstStyle/>
          <a:p>
            <a:r>
              <a:rPr lang="en-US" dirty="0" err="1"/>
              <a:t>Lưu</a:t>
            </a:r>
            <a:r>
              <a:rPr lang="en-US" dirty="0"/>
              <a:t> </a:t>
            </a:r>
            <a:r>
              <a:rPr lang="en-US" dirty="0" err="1"/>
              <a:t>đồ</a:t>
            </a:r>
            <a:r>
              <a:rPr lang="en-US" dirty="0"/>
              <a:t> </a:t>
            </a:r>
            <a:r>
              <a:rPr lang="en-US" dirty="0" err="1"/>
              <a:t>hoạt</a:t>
            </a:r>
            <a:r>
              <a:rPr lang="en-US" dirty="0"/>
              <a:t> </a:t>
            </a:r>
            <a:r>
              <a:rPr lang="en-US" dirty="0" err="1"/>
              <a:t>động</a:t>
            </a:r>
            <a:r>
              <a:rPr lang="en-US" dirty="0"/>
              <a:t> </a:t>
            </a:r>
            <a:r>
              <a:rPr lang="en-US" dirty="0" err="1"/>
              <a:t>của</a:t>
            </a:r>
            <a:r>
              <a:rPr lang="en-US" dirty="0"/>
              <a:t> node</a:t>
            </a:r>
          </a:p>
        </p:txBody>
      </p:sp>
    </p:spTree>
    <p:extLst>
      <p:ext uri="{BB962C8B-B14F-4D97-AF65-F5344CB8AC3E}">
        <p14:creationId xmlns:p14="http://schemas.microsoft.com/office/powerpoint/2010/main" val="289877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4" name="Title 1">
            <a:extLst>
              <a:ext uri="{FF2B5EF4-FFF2-40B4-BE49-F238E27FC236}">
                <a16:creationId xmlns:a16="http://schemas.microsoft.com/office/drawing/2014/main" id="{42A67677-91C0-FDF2-1208-F04CE43EC0B8}"/>
              </a:ext>
            </a:extLst>
          </p:cNvPr>
          <p:cNvSpPr>
            <a:spLocks noGrp="1"/>
          </p:cNvSpPr>
          <p:nvPr>
            <p:ph type="title"/>
          </p:nvPr>
        </p:nvSpPr>
        <p:spPr>
          <a:xfrm>
            <a:off x="234950" y="79375"/>
            <a:ext cx="8674100" cy="450850"/>
          </a:xfrm>
        </p:spPr>
        <p:txBody>
          <a:bodyPr/>
          <a:lstStyle/>
          <a:p>
            <a:r>
              <a:rPr lang="en-US" dirty="0"/>
              <a:t>V. </a:t>
            </a:r>
            <a:r>
              <a:rPr lang="en-US" dirty="0" err="1"/>
              <a:t>Thiết</a:t>
            </a:r>
            <a:r>
              <a:rPr lang="en-US" dirty="0"/>
              <a:t> </a:t>
            </a:r>
            <a:r>
              <a:rPr lang="en-US" dirty="0" err="1"/>
              <a:t>kế</a:t>
            </a:r>
            <a:r>
              <a:rPr lang="en-US" dirty="0"/>
              <a:t> </a:t>
            </a:r>
            <a:r>
              <a:rPr lang="en-US" dirty="0" err="1"/>
              <a:t>mạng</a:t>
            </a:r>
            <a:r>
              <a:rPr lang="en-US" dirty="0"/>
              <a:t> </a:t>
            </a:r>
            <a:r>
              <a:rPr lang="en-US" dirty="0" err="1"/>
              <a:t>cảm</a:t>
            </a:r>
            <a:r>
              <a:rPr lang="en-US" dirty="0"/>
              <a:t> </a:t>
            </a:r>
            <a:r>
              <a:rPr lang="en-US" dirty="0" err="1"/>
              <a:t>biến</a:t>
            </a:r>
            <a:r>
              <a:rPr lang="en-US" dirty="0"/>
              <a:t> </a:t>
            </a:r>
          </a:p>
        </p:txBody>
      </p:sp>
      <p:sp>
        <p:nvSpPr>
          <p:cNvPr id="3" name="TextBox 2">
            <a:extLst>
              <a:ext uri="{FF2B5EF4-FFF2-40B4-BE49-F238E27FC236}">
                <a16:creationId xmlns:a16="http://schemas.microsoft.com/office/drawing/2014/main" id="{D8A5341F-AA1B-41CB-68C3-B22761A66EDA}"/>
              </a:ext>
            </a:extLst>
          </p:cNvPr>
          <p:cNvSpPr txBox="1"/>
          <p:nvPr/>
        </p:nvSpPr>
        <p:spPr>
          <a:xfrm>
            <a:off x="396115" y="905123"/>
            <a:ext cx="2804285" cy="338554"/>
          </a:xfrm>
          <a:prstGeom prst="rect">
            <a:avLst/>
          </a:prstGeom>
          <a:noFill/>
        </p:spPr>
        <p:txBody>
          <a:bodyPr wrap="square" rtlCol="0">
            <a:spAutoFit/>
          </a:bodyPr>
          <a:lstStyle/>
          <a:p>
            <a:r>
              <a:rPr lang="en-US" sz="1600" dirty="0">
                <a:sym typeface="Wingdings" panose="05000000000000000000" pitchFamily="2" charset="2"/>
              </a:rPr>
              <a:t>5.2.5 </a:t>
            </a:r>
            <a:r>
              <a:rPr lang="en-US" sz="1600" dirty="0" err="1">
                <a:sym typeface="Wingdings" panose="05000000000000000000" pitchFamily="2" charset="2"/>
              </a:rPr>
              <a:t>Phần</a:t>
            </a:r>
            <a:r>
              <a:rPr lang="en-US" sz="1600" dirty="0">
                <a:sym typeface="Wingdings" panose="05000000000000000000" pitchFamily="2" charset="2"/>
              </a:rPr>
              <a:t> </a:t>
            </a:r>
            <a:r>
              <a:rPr lang="en-US" sz="1600" dirty="0" err="1">
                <a:sym typeface="Wingdings" panose="05000000000000000000" pitchFamily="2" charset="2"/>
              </a:rPr>
              <a:t>mềm</a:t>
            </a:r>
            <a:endParaRPr lang="en-US" dirty="0"/>
          </a:p>
        </p:txBody>
      </p:sp>
      <p:sp>
        <p:nvSpPr>
          <p:cNvPr id="8" name="TextBox 7">
            <a:extLst>
              <a:ext uri="{FF2B5EF4-FFF2-40B4-BE49-F238E27FC236}">
                <a16:creationId xmlns:a16="http://schemas.microsoft.com/office/drawing/2014/main" id="{CC50F830-65D3-2EA1-B30B-A18C7BC2CA8E}"/>
              </a:ext>
            </a:extLst>
          </p:cNvPr>
          <p:cNvSpPr txBox="1"/>
          <p:nvPr/>
        </p:nvSpPr>
        <p:spPr>
          <a:xfrm>
            <a:off x="3200400" y="6133481"/>
            <a:ext cx="3491346" cy="369332"/>
          </a:xfrm>
          <a:prstGeom prst="rect">
            <a:avLst/>
          </a:prstGeom>
          <a:noFill/>
        </p:spPr>
        <p:txBody>
          <a:bodyPr wrap="square" rtlCol="0">
            <a:spAutoFit/>
          </a:bodyPr>
          <a:lstStyle/>
          <a:p>
            <a:r>
              <a:rPr lang="en-US" dirty="0" err="1"/>
              <a:t>Lưu</a:t>
            </a:r>
            <a:r>
              <a:rPr lang="en-US" dirty="0"/>
              <a:t> </a:t>
            </a:r>
            <a:r>
              <a:rPr lang="en-US" dirty="0" err="1"/>
              <a:t>đồ</a:t>
            </a:r>
            <a:r>
              <a:rPr lang="en-US" dirty="0"/>
              <a:t> </a:t>
            </a:r>
            <a:r>
              <a:rPr lang="en-US" dirty="0" err="1"/>
              <a:t>hoạt</a:t>
            </a:r>
            <a:r>
              <a:rPr lang="en-US" dirty="0"/>
              <a:t> </a:t>
            </a:r>
            <a:r>
              <a:rPr lang="en-US" dirty="0" err="1"/>
              <a:t>động</a:t>
            </a:r>
            <a:r>
              <a:rPr lang="en-US" dirty="0"/>
              <a:t> </a:t>
            </a:r>
            <a:r>
              <a:rPr lang="en-US" dirty="0" err="1"/>
              <a:t>của</a:t>
            </a:r>
            <a:r>
              <a:rPr lang="en-US" dirty="0"/>
              <a:t> gateway</a:t>
            </a:r>
          </a:p>
        </p:txBody>
      </p:sp>
      <p:pic>
        <p:nvPicPr>
          <p:cNvPr id="10" name="Picture 9">
            <a:extLst>
              <a:ext uri="{FF2B5EF4-FFF2-40B4-BE49-F238E27FC236}">
                <a16:creationId xmlns:a16="http://schemas.microsoft.com/office/drawing/2014/main" id="{06EDBBAA-BAC3-3C23-75C1-3DAB6B57F13E}"/>
              </a:ext>
            </a:extLst>
          </p:cNvPr>
          <p:cNvPicPr>
            <a:picLocks noChangeAspect="1"/>
          </p:cNvPicPr>
          <p:nvPr/>
        </p:nvPicPr>
        <p:blipFill>
          <a:blip r:embed="rId2"/>
          <a:stretch>
            <a:fillRect/>
          </a:stretch>
        </p:blipFill>
        <p:spPr>
          <a:xfrm>
            <a:off x="1860831" y="658091"/>
            <a:ext cx="6170483" cy="5541818"/>
          </a:xfrm>
          <a:prstGeom prst="rect">
            <a:avLst/>
          </a:prstGeom>
        </p:spPr>
      </p:pic>
    </p:spTree>
    <p:extLst>
      <p:ext uri="{BB962C8B-B14F-4D97-AF65-F5344CB8AC3E}">
        <p14:creationId xmlns:p14="http://schemas.microsoft.com/office/powerpoint/2010/main" val="94417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6" name="Title 1">
            <a:extLst>
              <a:ext uri="{FF2B5EF4-FFF2-40B4-BE49-F238E27FC236}">
                <a16:creationId xmlns:a16="http://schemas.microsoft.com/office/drawing/2014/main" id="{BB567C30-C580-F72B-0579-BDE655792F68}"/>
              </a:ext>
            </a:extLst>
          </p:cNvPr>
          <p:cNvSpPr>
            <a:spLocks noGrp="1"/>
          </p:cNvSpPr>
          <p:nvPr>
            <p:ph type="title"/>
          </p:nvPr>
        </p:nvSpPr>
        <p:spPr>
          <a:xfrm>
            <a:off x="234950" y="79375"/>
            <a:ext cx="8674100" cy="450850"/>
          </a:xfrm>
        </p:spPr>
        <p:txBody>
          <a:bodyPr/>
          <a:lstStyle/>
          <a:p>
            <a:r>
              <a:rPr lang="en-US" dirty="0"/>
              <a:t>VI. DEMO </a:t>
            </a:r>
            <a:r>
              <a:rPr lang="en-US" dirty="0" err="1"/>
              <a:t>và</a:t>
            </a:r>
            <a:r>
              <a:rPr lang="en-US" dirty="0"/>
              <a:t> </a:t>
            </a:r>
            <a:r>
              <a:rPr lang="en-US" dirty="0" err="1"/>
              <a:t>kiểm</a:t>
            </a:r>
            <a:r>
              <a:rPr lang="en-US" dirty="0"/>
              <a:t> </a:t>
            </a:r>
            <a:r>
              <a:rPr lang="en-US" dirty="0" err="1"/>
              <a:t>thử</a:t>
            </a:r>
            <a:r>
              <a:rPr lang="en-US" dirty="0"/>
              <a:t> </a:t>
            </a:r>
          </a:p>
        </p:txBody>
      </p:sp>
      <p:sp>
        <p:nvSpPr>
          <p:cNvPr id="7" name="TextBox 6">
            <a:extLst>
              <a:ext uri="{FF2B5EF4-FFF2-40B4-BE49-F238E27FC236}">
                <a16:creationId xmlns:a16="http://schemas.microsoft.com/office/drawing/2014/main" id="{DEF5C389-3051-B5F1-B9B9-3E32FEB60A42}"/>
              </a:ext>
            </a:extLst>
          </p:cNvPr>
          <p:cNvSpPr txBox="1"/>
          <p:nvPr/>
        </p:nvSpPr>
        <p:spPr>
          <a:xfrm>
            <a:off x="350981" y="1283855"/>
            <a:ext cx="7712364" cy="4247317"/>
          </a:xfrm>
          <a:prstGeom prst="rect">
            <a:avLst/>
          </a:prstGeom>
          <a:noFill/>
        </p:spPr>
        <p:txBody>
          <a:bodyPr wrap="square" rtlCol="0">
            <a:spAutoFit/>
          </a:bodyPr>
          <a:lstStyle/>
          <a:p>
            <a:r>
              <a:rPr lang="en-US" dirty="0" err="1"/>
              <a:t>Các</a:t>
            </a:r>
            <a:r>
              <a:rPr lang="en-US" dirty="0"/>
              <a:t> </a:t>
            </a:r>
            <a:r>
              <a:rPr lang="en-US" dirty="0" err="1"/>
              <a:t>chức</a:t>
            </a:r>
            <a:r>
              <a:rPr lang="en-US" dirty="0"/>
              <a:t> </a:t>
            </a:r>
            <a:r>
              <a:rPr lang="en-US" dirty="0" err="1"/>
              <a:t>năng</a:t>
            </a:r>
            <a:r>
              <a:rPr lang="en-US" dirty="0"/>
              <a:t> </a:t>
            </a:r>
            <a:r>
              <a:rPr lang="en-US" dirty="0" err="1"/>
              <a:t>được</a:t>
            </a:r>
            <a:r>
              <a:rPr lang="en-US" dirty="0"/>
              <a:t> DEMO:</a:t>
            </a:r>
          </a:p>
          <a:p>
            <a:endParaRPr lang="en-US" dirty="0"/>
          </a:p>
          <a:p>
            <a:r>
              <a:rPr lang="en-US" dirty="0"/>
              <a:t>1. </a:t>
            </a:r>
            <a:r>
              <a:rPr lang="en-US" dirty="0" err="1"/>
              <a:t>Truyền</a:t>
            </a:r>
            <a:r>
              <a:rPr lang="en-US" dirty="0"/>
              <a:t> </a:t>
            </a:r>
            <a:r>
              <a:rPr lang="en-US" dirty="0" err="1"/>
              <a:t>và</a:t>
            </a:r>
            <a:r>
              <a:rPr lang="en-US" dirty="0"/>
              <a:t> </a:t>
            </a:r>
            <a:r>
              <a:rPr lang="en-US" dirty="0" err="1"/>
              <a:t>nhận</a:t>
            </a:r>
            <a:r>
              <a:rPr lang="en-US" dirty="0"/>
              <a:t> </a:t>
            </a:r>
            <a:r>
              <a:rPr lang="en-US" dirty="0" err="1"/>
              <a:t>theo</a:t>
            </a:r>
            <a:r>
              <a:rPr lang="en-US" dirty="0"/>
              <a:t> </a:t>
            </a:r>
            <a:r>
              <a:rPr lang="en-US" dirty="0" err="1"/>
              <a:t>khung</a:t>
            </a:r>
            <a:r>
              <a:rPr lang="en-US" dirty="0"/>
              <a:t> </a:t>
            </a:r>
            <a:r>
              <a:rPr lang="en-US" dirty="0" err="1"/>
              <a:t>bản</a:t>
            </a:r>
            <a:r>
              <a:rPr lang="en-US" dirty="0"/>
              <a:t> tin </a:t>
            </a:r>
            <a:r>
              <a:rPr lang="en-US" dirty="0" err="1"/>
              <a:t>được</a:t>
            </a:r>
            <a:r>
              <a:rPr lang="en-US" dirty="0"/>
              <a:t> </a:t>
            </a:r>
            <a:r>
              <a:rPr lang="en-US" dirty="0" err="1"/>
              <a:t>thiết</a:t>
            </a:r>
            <a:r>
              <a:rPr lang="en-US" dirty="0"/>
              <a:t> </a:t>
            </a:r>
            <a:r>
              <a:rPr lang="en-US" dirty="0" err="1"/>
              <a:t>kế</a:t>
            </a:r>
            <a:endParaRPr lang="en-US" dirty="0"/>
          </a:p>
          <a:p>
            <a:endParaRPr lang="en-US" dirty="0"/>
          </a:p>
          <a:p>
            <a:r>
              <a:rPr lang="en-US" dirty="0"/>
              <a:t>2. </a:t>
            </a:r>
            <a:r>
              <a:rPr lang="en-US" dirty="0" err="1"/>
              <a:t>Đồng</a:t>
            </a:r>
            <a:r>
              <a:rPr lang="en-US" dirty="0"/>
              <a:t> </a:t>
            </a:r>
            <a:r>
              <a:rPr lang="en-US" dirty="0" err="1"/>
              <a:t>bộ</a:t>
            </a:r>
            <a:r>
              <a:rPr lang="en-US" dirty="0"/>
              <a:t> </a:t>
            </a:r>
            <a:r>
              <a:rPr lang="en-US" dirty="0" err="1"/>
              <a:t>thời</a:t>
            </a:r>
            <a:r>
              <a:rPr lang="en-US" dirty="0"/>
              <a:t> </a:t>
            </a:r>
            <a:r>
              <a:rPr lang="en-US" dirty="0" err="1"/>
              <a:t>gian</a:t>
            </a:r>
            <a:r>
              <a:rPr lang="en-US" dirty="0"/>
              <a:t>, </a:t>
            </a:r>
            <a:r>
              <a:rPr lang="en-US" dirty="0" err="1"/>
              <a:t>truyền</a:t>
            </a:r>
            <a:r>
              <a:rPr lang="en-US" dirty="0"/>
              <a:t> </a:t>
            </a:r>
            <a:r>
              <a:rPr lang="en-US" dirty="0" err="1"/>
              <a:t>nhận</a:t>
            </a:r>
            <a:r>
              <a:rPr lang="en-US" dirty="0"/>
              <a:t> </a:t>
            </a:r>
            <a:r>
              <a:rPr lang="en-US" dirty="0" err="1"/>
              <a:t>theo</a:t>
            </a:r>
            <a:r>
              <a:rPr lang="en-US" dirty="0"/>
              <a:t> </a:t>
            </a:r>
            <a:r>
              <a:rPr lang="en-US" dirty="0" err="1"/>
              <a:t>khung</a:t>
            </a:r>
            <a:r>
              <a:rPr lang="en-US" dirty="0"/>
              <a:t> </a:t>
            </a:r>
            <a:r>
              <a:rPr lang="en-US" dirty="0" err="1"/>
              <a:t>thời</a:t>
            </a:r>
            <a:r>
              <a:rPr lang="en-US" dirty="0"/>
              <a:t> </a:t>
            </a:r>
            <a:r>
              <a:rPr lang="en-US" dirty="0" err="1"/>
              <a:t>gian</a:t>
            </a:r>
            <a:r>
              <a:rPr lang="en-US" dirty="0"/>
              <a:t> TDMA</a:t>
            </a:r>
          </a:p>
          <a:p>
            <a:endParaRPr lang="en-US" dirty="0"/>
          </a:p>
          <a:p>
            <a:r>
              <a:rPr lang="en-US" dirty="0"/>
              <a:t>3. </a:t>
            </a:r>
            <a:r>
              <a:rPr lang="en-US" dirty="0" err="1"/>
              <a:t>Khả</a:t>
            </a:r>
            <a:r>
              <a:rPr lang="en-US" dirty="0"/>
              <a:t> </a:t>
            </a:r>
            <a:r>
              <a:rPr lang="en-US" dirty="0" err="1"/>
              <a:t>năng</a:t>
            </a:r>
            <a:r>
              <a:rPr lang="en-US" dirty="0"/>
              <a:t> </a:t>
            </a:r>
            <a:r>
              <a:rPr lang="en-US" dirty="0" err="1"/>
              <a:t>tái</a:t>
            </a:r>
            <a:r>
              <a:rPr lang="en-US" dirty="0"/>
              <a:t> </a:t>
            </a:r>
            <a:r>
              <a:rPr lang="en-US" dirty="0" err="1"/>
              <a:t>gia</a:t>
            </a:r>
            <a:r>
              <a:rPr lang="en-US" dirty="0"/>
              <a:t> </a:t>
            </a:r>
            <a:r>
              <a:rPr lang="en-US" dirty="0" err="1"/>
              <a:t>nhập</a:t>
            </a:r>
            <a:r>
              <a:rPr lang="en-US" dirty="0"/>
              <a:t> </a:t>
            </a:r>
            <a:r>
              <a:rPr lang="en-US" dirty="0" err="1"/>
              <a:t>mạng</a:t>
            </a:r>
            <a:r>
              <a:rPr lang="en-US" dirty="0"/>
              <a:t> </a:t>
            </a:r>
            <a:r>
              <a:rPr lang="en-US" dirty="0" err="1"/>
              <a:t>của</a:t>
            </a:r>
            <a:r>
              <a:rPr lang="en-US" dirty="0"/>
              <a:t> 1 node </a:t>
            </a:r>
            <a:r>
              <a:rPr lang="en-US" dirty="0" err="1"/>
              <a:t>khi</a:t>
            </a:r>
            <a:r>
              <a:rPr lang="en-US" dirty="0"/>
              <a:t> </a:t>
            </a:r>
            <a:r>
              <a:rPr lang="en-US" dirty="0" err="1"/>
              <a:t>gặp</a:t>
            </a:r>
            <a:r>
              <a:rPr lang="en-US" dirty="0"/>
              <a:t> </a:t>
            </a:r>
            <a:r>
              <a:rPr lang="en-US" dirty="0" err="1"/>
              <a:t>sự</a:t>
            </a:r>
            <a:r>
              <a:rPr lang="en-US" dirty="0"/>
              <a:t> </a:t>
            </a:r>
            <a:r>
              <a:rPr lang="en-US" dirty="0" err="1"/>
              <a:t>cố</a:t>
            </a:r>
            <a:r>
              <a:rPr lang="en-US" dirty="0"/>
              <a:t> (</a:t>
            </a:r>
            <a:r>
              <a:rPr lang="en-US" dirty="0" err="1"/>
              <a:t>bị</a:t>
            </a:r>
            <a:r>
              <a:rPr lang="en-US" dirty="0"/>
              <a:t> reset): </a:t>
            </a:r>
            <a:r>
              <a:rPr lang="en-US" dirty="0" err="1"/>
              <a:t>tối</a:t>
            </a:r>
            <a:r>
              <a:rPr lang="en-US" dirty="0"/>
              <a:t> </a:t>
            </a:r>
            <a:r>
              <a:rPr lang="en-US" dirty="0" err="1"/>
              <a:t>đa</a:t>
            </a:r>
            <a:r>
              <a:rPr lang="en-US" dirty="0"/>
              <a:t> 2 chu </a:t>
            </a:r>
            <a:r>
              <a:rPr lang="en-US" dirty="0" err="1"/>
              <a:t>kì</a:t>
            </a:r>
            <a:endParaRPr lang="en-US" dirty="0"/>
          </a:p>
          <a:p>
            <a:endParaRPr lang="en-US" dirty="0"/>
          </a:p>
          <a:p>
            <a:r>
              <a:rPr lang="en-US" dirty="0"/>
              <a:t>4. Chu </a:t>
            </a:r>
            <a:r>
              <a:rPr lang="en-US" dirty="0" err="1"/>
              <a:t>kì</a:t>
            </a:r>
            <a:r>
              <a:rPr lang="en-US" dirty="0"/>
              <a:t> </a:t>
            </a:r>
            <a:r>
              <a:rPr lang="en-US" dirty="0" err="1"/>
              <a:t>lấy</a:t>
            </a:r>
            <a:r>
              <a:rPr lang="en-US" dirty="0"/>
              <a:t> </a:t>
            </a:r>
            <a:r>
              <a:rPr lang="en-US" dirty="0" err="1"/>
              <a:t>mẫu</a:t>
            </a:r>
            <a:r>
              <a:rPr lang="en-US" dirty="0"/>
              <a:t> &lt;90s </a:t>
            </a:r>
            <a:r>
              <a:rPr lang="en-US" dirty="0" err="1"/>
              <a:t>với</a:t>
            </a:r>
            <a:r>
              <a:rPr lang="en-US" dirty="0"/>
              <a:t> 3 node</a:t>
            </a:r>
          </a:p>
          <a:p>
            <a:endParaRPr lang="en-US" dirty="0"/>
          </a:p>
          <a:p>
            <a:r>
              <a:rPr lang="en-US" dirty="0"/>
              <a:t>5. </a:t>
            </a:r>
            <a:r>
              <a:rPr lang="en-US" dirty="0" err="1"/>
              <a:t>Kết</a:t>
            </a:r>
            <a:r>
              <a:rPr lang="en-US" dirty="0"/>
              <a:t> </a:t>
            </a:r>
            <a:r>
              <a:rPr lang="en-US" dirty="0" err="1"/>
              <a:t>nối</a:t>
            </a:r>
            <a:r>
              <a:rPr lang="en-US" dirty="0"/>
              <a:t> </a:t>
            </a:r>
            <a:r>
              <a:rPr lang="en-US" dirty="0" err="1"/>
              <a:t>và</a:t>
            </a:r>
            <a:r>
              <a:rPr lang="en-US" dirty="0"/>
              <a:t> </a:t>
            </a:r>
            <a:r>
              <a:rPr lang="en-US" dirty="0" err="1"/>
              <a:t>hiển</a:t>
            </a:r>
            <a:r>
              <a:rPr lang="en-US" dirty="0"/>
              <a:t> </a:t>
            </a:r>
            <a:r>
              <a:rPr lang="en-US" dirty="0" err="1"/>
              <a:t>thị</a:t>
            </a:r>
            <a:r>
              <a:rPr lang="en-US" dirty="0"/>
              <a:t> </a:t>
            </a:r>
            <a:r>
              <a:rPr lang="en-US" dirty="0" err="1"/>
              <a:t>trên</a:t>
            </a:r>
            <a:r>
              <a:rPr lang="en-US" dirty="0"/>
              <a:t> </a:t>
            </a:r>
            <a:r>
              <a:rPr lang="en-US" dirty="0" err="1"/>
              <a:t>giao</a:t>
            </a:r>
            <a:r>
              <a:rPr lang="en-US" dirty="0"/>
              <a:t> </a:t>
            </a:r>
            <a:r>
              <a:rPr lang="en-US" dirty="0" err="1"/>
              <a:t>diện</a:t>
            </a:r>
            <a:r>
              <a:rPr lang="en-US" dirty="0"/>
              <a:t> Blynk</a:t>
            </a:r>
          </a:p>
          <a:p>
            <a:endParaRPr lang="en-US" dirty="0"/>
          </a:p>
          <a:p>
            <a:r>
              <a:rPr lang="en-US" dirty="0"/>
              <a:t>6. Link DEMO:</a:t>
            </a:r>
          </a:p>
          <a:p>
            <a:r>
              <a:rPr lang="en-US" dirty="0" err="1">
                <a:hlinkClick r:id="rId2"/>
              </a:rPr>
              <a:t>DEMO_Gateway_Debug</a:t>
            </a:r>
            <a:endParaRPr lang="en-US" dirty="0"/>
          </a:p>
          <a:p>
            <a:r>
              <a:rPr lang="en-US" dirty="0" err="1">
                <a:hlinkClick r:id="rId3"/>
              </a:rPr>
              <a:t>DEMO_Blynk</a:t>
            </a:r>
            <a:endParaRPr lang="en-US" dirty="0"/>
          </a:p>
        </p:txBody>
      </p:sp>
    </p:spTree>
    <p:extLst>
      <p:ext uri="{BB962C8B-B14F-4D97-AF65-F5344CB8AC3E}">
        <p14:creationId xmlns:p14="http://schemas.microsoft.com/office/powerpoint/2010/main" val="1130957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2003</TotalTime>
  <Words>3347</Words>
  <Application>Microsoft Office PowerPoint</Application>
  <PresentationFormat>On-screen Show (4:3)</PresentationFormat>
  <Paragraphs>437</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Calibri</vt:lpstr>
      <vt:lpstr>Lato</vt:lpstr>
      <vt:lpstr>Symbol</vt:lpstr>
      <vt:lpstr>Wingdings</vt:lpstr>
      <vt:lpstr>Office Theme</vt:lpstr>
      <vt:lpstr>PowerPoint Presentation</vt:lpstr>
      <vt:lpstr>PowerPoint Presentation</vt:lpstr>
      <vt:lpstr>I. Xu hướng nông nghiệp</vt:lpstr>
      <vt:lpstr>I. Xu hướng nông nghiệp</vt:lpstr>
      <vt:lpstr>II. Giới thiệu về LoRa</vt:lpstr>
      <vt:lpstr>II. Giới thiệu về LoRa</vt:lpstr>
      <vt:lpstr>III. Lập trình cấu hình các thông số của LoRa</vt:lpstr>
      <vt:lpstr>III. Lập trình cấu hình các thông số của LoRa</vt:lpstr>
      <vt:lpstr>III. Lập trình cấu hình các thông số của LoRa</vt:lpstr>
      <vt:lpstr>III. Cấu hình các thông số của LoRa</vt:lpstr>
      <vt:lpstr>III. Lập trình cấu hình các thông số của LoRa</vt:lpstr>
      <vt:lpstr>III. Lập trình cấu hình các thông số của LoRa</vt:lpstr>
      <vt:lpstr>IV. Quá trình truyền và nhận bản tin</vt:lpstr>
      <vt:lpstr>V. Thiết kế mạng cảm biến </vt:lpstr>
      <vt:lpstr>V. Thiết kế mạng cảm biến </vt:lpstr>
      <vt:lpstr>V. Thiết kế mạng cảm biến </vt:lpstr>
      <vt:lpstr>V. Thiết kế mạng cảm biến </vt:lpstr>
      <vt:lpstr>V. Thiết kế mạng cảm biến </vt:lpstr>
      <vt:lpstr>V. Thiết kế mạng cảm biến </vt:lpstr>
      <vt:lpstr>V. Thiết kế mạng cảm biến </vt:lpstr>
      <vt:lpstr>V. Thiết kế mạng cảm biến </vt:lpstr>
      <vt:lpstr>V. Thiết kế mạng cảm biến </vt:lpstr>
      <vt:lpstr>V. Thiết kế mạng cảm biến </vt:lpstr>
      <vt:lpstr>V. Thiết kế mạng cảm biến </vt:lpstr>
      <vt:lpstr>V. Thiết kế mạng cảm biến </vt:lpstr>
      <vt:lpstr>VI. DEMO và kiểm thử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Nguyen Quoc Anh 20222454</cp:lastModifiedBy>
  <cp:revision>165</cp:revision>
  <dcterms:created xsi:type="dcterms:W3CDTF">2021-05-28T04:32:29Z</dcterms:created>
  <dcterms:modified xsi:type="dcterms:W3CDTF">2026-06-19T01:26:53Z</dcterms:modified>
</cp:coreProperties>
</file>