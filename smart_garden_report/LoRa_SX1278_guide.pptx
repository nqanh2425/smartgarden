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0"/>
  </p:notesMasterIdLst>
  <p:handoutMasterIdLst>
    <p:handoutMasterId r:id="rId21"/>
  </p:handoutMasterIdLst>
  <p:sldIdLst>
    <p:sldId id="275" r:id="rId2"/>
    <p:sldId id="257" r:id="rId3"/>
    <p:sldId id="265" r:id="rId4"/>
    <p:sldId id="261" r:id="rId5"/>
    <p:sldId id="280" r:id="rId6"/>
    <p:sldId id="281" r:id="rId7"/>
    <p:sldId id="277" r:id="rId8"/>
    <p:sldId id="278" r:id="rId9"/>
    <p:sldId id="276" r:id="rId10"/>
    <p:sldId id="266" r:id="rId11"/>
    <p:sldId id="279" r:id="rId12"/>
    <p:sldId id="270" r:id="rId13"/>
    <p:sldId id="267" r:id="rId14"/>
    <p:sldId id="271" r:id="rId15"/>
    <p:sldId id="272" r:id="rId16"/>
    <p:sldId id="273" r:id="rId17"/>
    <p:sldId id="274" r:id="rId18"/>
    <p:sldId id="26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3" d="100"/>
          <a:sy n="83" d="100"/>
        </p:scale>
        <p:origin x="14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5/17/2026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5/17/2026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5/17/2026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83" r:id="rId6"/>
    <p:sldLayoutId id="2147483676"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161342" y="2060909"/>
            <a:ext cx="7942424" cy="3186016"/>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a:t>ỨNG DỤNG LORA TRONG NÔNG NGHIỆP</a:t>
            </a:r>
            <a:endParaRPr lang="en-US" dirty="0"/>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270400" y="3861237"/>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2800" b="0"/>
              <a:t>Nguyễn Quốc Anh</a:t>
            </a:r>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t>I. </a:t>
            </a:r>
            <a:r>
              <a:rPr lang="vi-VN"/>
              <a:t>Tổng quan về LoRa</a:t>
            </a:r>
            <a:endParaRPr lang="en-US"/>
          </a:p>
        </p:txBody>
      </p:sp>
      <p:sp>
        <p:nvSpPr>
          <p:cNvPr id="5" name="TextBox 4">
            <a:extLst>
              <a:ext uri="{FF2B5EF4-FFF2-40B4-BE49-F238E27FC236}">
                <a16:creationId xmlns:a16="http://schemas.microsoft.com/office/drawing/2014/main" id="{754872CB-7035-4AC0-9351-190800475119}"/>
              </a:ext>
            </a:extLst>
          </p:cNvPr>
          <p:cNvSpPr txBox="1"/>
          <p:nvPr/>
        </p:nvSpPr>
        <p:spPr>
          <a:xfrm>
            <a:off x="528506" y="1073791"/>
            <a:ext cx="8396277" cy="3693319"/>
          </a:xfrm>
          <a:prstGeom prst="rect">
            <a:avLst/>
          </a:prstGeom>
          <a:noFill/>
        </p:spPr>
        <p:txBody>
          <a:bodyPr wrap="square" rtlCol="0">
            <a:spAutoFit/>
          </a:bodyPr>
          <a:lstStyle/>
          <a:p>
            <a:pPr marL="285750" indent="-285750">
              <a:buFont typeface="Wingdings" panose="05000000000000000000" pitchFamily="2" charset="2"/>
              <a:buChar char="q"/>
            </a:pPr>
            <a:r>
              <a:rPr lang="vi-VN"/>
              <a:t>LoRa (Long Range) là công nghệ RF được phát triển bởi Semtech cho các ứng dụng IoT công suất thấp, tầm truyền xa.</a:t>
            </a:r>
          </a:p>
          <a:p>
            <a:pPr marL="285750" indent="-285750">
              <a:buFont typeface="Wingdings" panose="05000000000000000000" pitchFamily="2" charset="2"/>
              <a:buChar char="q"/>
            </a:pPr>
            <a:r>
              <a:rPr lang="vi-VN"/>
              <a:t>Các đặc điểm cơ bản:</a:t>
            </a:r>
          </a:p>
          <a:p>
            <a:pPr marL="742950" lvl="1" indent="-285750">
              <a:buFont typeface="Wingdings" panose="05000000000000000000" pitchFamily="2" charset="2"/>
              <a:buChar char="Ø"/>
            </a:pPr>
            <a:r>
              <a:rPr lang="vi-VN"/>
              <a:t>Khoảng cách truyền: &lt;15km</a:t>
            </a:r>
          </a:p>
          <a:p>
            <a:pPr marL="742950" lvl="1" indent="-285750">
              <a:buFont typeface="Wingdings" panose="05000000000000000000" pitchFamily="2" charset="2"/>
              <a:buChar char="Ø"/>
            </a:pPr>
            <a:r>
              <a:rPr lang="vi-VN"/>
              <a:t>Công suất tiêu thụ thấp: 20-120mA(Tx), 10-15mA(Rx), 0.1-0.2uA(sleep)</a:t>
            </a:r>
          </a:p>
          <a:p>
            <a:pPr marL="742950" lvl="1" indent="-285750">
              <a:buFont typeface="Wingdings" panose="05000000000000000000" pitchFamily="2" charset="2"/>
              <a:buChar char="Ø"/>
            </a:pPr>
            <a:r>
              <a:rPr lang="vi-VN"/>
              <a:t>Băng tần: 433,868,915MHz</a:t>
            </a:r>
          </a:p>
          <a:p>
            <a:pPr marL="742950" lvl="1" indent="-285750">
              <a:buFont typeface="Wingdings" panose="05000000000000000000" pitchFamily="2" charset="2"/>
              <a:buChar char="Ø"/>
            </a:pPr>
            <a:r>
              <a:rPr lang="vi-VN"/>
              <a:t>Băng thông: lên đến 500KHz</a:t>
            </a:r>
          </a:p>
          <a:p>
            <a:pPr marL="742950" lvl="1" indent="-285750">
              <a:buFont typeface="Wingdings" panose="05000000000000000000" pitchFamily="2" charset="2"/>
              <a:buChar char="Ø"/>
            </a:pPr>
            <a:r>
              <a:rPr lang="vi-VN"/>
              <a:t>Tốc độ truyền thấp: &lt;300kbps</a:t>
            </a:r>
          </a:p>
          <a:p>
            <a:pPr marL="285750" indent="-285750">
              <a:buFont typeface="Wingdings" panose="05000000000000000000" pitchFamily="2" charset="2"/>
              <a:buChar char="q"/>
            </a:pPr>
            <a:r>
              <a:rPr lang="vi-VN"/>
              <a:t>Ứng dụng:</a:t>
            </a:r>
          </a:p>
          <a:p>
            <a:pPr marL="742950" lvl="1" indent="-285750">
              <a:buFont typeface="Wingdings" panose="05000000000000000000" pitchFamily="2" charset="2"/>
              <a:buChar char="Ø"/>
            </a:pPr>
            <a:r>
              <a:rPr lang="vi-VN"/>
              <a:t>Nông nghiệp</a:t>
            </a:r>
          </a:p>
          <a:p>
            <a:pPr marL="742950" lvl="1" indent="-285750">
              <a:buFont typeface="Wingdings" panose="05000000000000000000" pitchFamily="2" charset="2"/>
              <a:buChar char="Ø"/>
            </a:pPr>
            <a:r>
              <a:rPr lang="vi-VN"/>
              <a:t>Giám sát, quan trắc môi trường</a:t>
            </a:r>
          </a:p>
          <a:p>
            <a:pPr marL="742950" lvl="1" indent="-285750">
              <a:buFont typeface="Wingdings" panose="05000000000000000000" pitchFamily="2" charset="2"/>
              <a:buChar char="Ø"/>
            </a:pPr>
            <a:r>
              <a:rPr lang="vi-VN"/>
              <a:t>Định vị</a:t>
            </a:r>
          </a:p>
          <a:p>
            <a:pPr lvl="1"/>
            <a:endParaRPr lang="vi-VN"/>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4</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vi-VN"/>
              <a:t>II. SX1278 &amp; Module RA-02</a:t>
            </a:r>
            <a:endParaRPr lang="en-US"/>
          </a:p>
        </p:txBody>
      </p:sp>
      <p:sp>
        <p:nvSpPr>
          <p:cNvPr id="7" name="TextBox 6">
            <a:extLst>
              <a:ext uri="{FF2B5EF4-FFF2-40B4-BE49-F238E27FC236}">
                <a16:creationId xmlns:a16="http://schemas.microsoft.com/office/drawing/2014/main" id="{A72A440D-7444-45AD-8356-4EFDFC941E4F}"/>
              </a:ext>
            </a:extLst>
          </p:cNvPr>
          <p:cNvSpPr txBox="1"/>
          <p:nvPr/>
        </p:nvSpPr>
        <p:spPr>
          <a:xfrm>
            <a:off x="493672" y="1308682"/>
            <a:ext cx="7626872" cy="3970318"/>
          </a:xfrm>
          <a:prstGeom prst="rect">
            <a:avLst/>
          </a:prstGeom>
          <a:noFill/>
        </p:spPr>
        <p:txBody>
          <a:bodyPr wrap="square" rtlCol="0">
            <a:spAutoFit/>
          </a:bodyPr>
          <a:lstStyle/>
          <a:p>
            <a:pPr marL="285750" indent="-285750">
              <a:buFont typeface="Wingdings" panose="05000000000000000000" pitchFamily="2" charset="2"/>
              <a:buChar char="q"/>
            </a:pPr>
            <a:r>
              <a:rPr lang="vi-VN" dirty="0"/>
              <a:t>SX1278 là chip tích hợp bộ điều chế(modem) LoRa do chính SEMTECH cung cấp</a:t>
            </a:r>
          </a:p>
          <a:p>
            <a:pPr marL="285750" indent="-285750">
              <a:buFont typeface="Wingdings" panose="05000000000000000000" pitchFamily="2" charset="2"/>
              <a:buChar char="q"/>
            </a:pPr>
            <a:r>
              <a:rPr lang="vi-VN" dirty="0"/>
              <a:t>RA-02: module LoRa có chip SX1278 là IC chính, có thể tích hợp thêm anten ngoài</a:t>
            </a:r>
          </a:p>
          <a:p>
            <a:pPr marL="285750" indent="-285750">
              <a:buFont typeface="Wingdings" panose="05000000000000000000" pitchFamily="2" charset="2"/>
              <a:buChar char="q"/>
            </a:pPr>
            <a:r>
              <a:rPr lang="vi-VN" dirty="0"/>
              <a:t>Các thông số:</a:t>
            </a:r>
          </a:p>
          <a:p>
            <a:pPr marL="742950" lvl="1" indent="-285750">
              <a:buFont typeface="Wingdings" panose="05000000000000000000" pitchFamily="2" charset="2"/>
              <a:buChar char="Ø"/>
            </a:pPr>
            <a:r>
              <a:rPr lang="vi-VN" dirty="0"/>
              <a:t>Công suất phát: max 18dBm</a:t>
            </a:r>
          </a:p>
          <a:p>
            <a:pPr marL="742950" lvl="1" indent="-285750">
              <a:buFont typeface="Wingdings" panose="05000000000000000000" pitchFamily="2" charset="2"/>
              <a:buChar char="Ø"/>
            </a:pPr>
            <a:r>
              <a:rPr lang="vi-VN" dirty="0"/>
              <a:t>Công suất tiêu thụ: (datasheet)</a:t>
            </a:r>
          </a:p>
          <a:p>
            <a:pPr marL="742950" lvl="1" indent="-285750">
              <a:buFont typeface="Wingdings" panose="05000000000000000000" pitchFamily="2" charset="2"/>
              <a:buChar char="Ø"/>
            </a:pPr>
            <a:r>
              <a:rPr lang="vi-VN" dirty="0"/>
              <a:t>Băng tần: 433MHz</a:t>
            </a:r>
          </a:p>
          <a:p>
            <a:pPr marL="742950" lvl="1" indent="-285750">
              <a:buFont typeface="Wingdings" panose="05000000000000000000" pitchFamily="2" charset="2"/>
              <a:buChar char="Ø"/>
            </a:pPr>
            <a:r>
              <a:rPr lang="vi-VN" dirty="0"/>
              <a:t>Băng thông: max 500Mhz</a:t>
            </a:r>
          </a:p>
          <a:p>
            <a:pPr marL="742950" lvl="1" indent="-285750">
              <a:buFont typeface="Wingdings" panose="05000000000000000000" pitchFamily="2" charset="2"/>
              <a:buChar char="Ø"/>
            </a:pPr>
            <a:r>
              <a:rPr lang="vi-VN" dirty="0"/>
              <a:t>Bit rate: max 300Kbps</a:t>
            </a:r>
          </a:p>
          <a:p>
            <a:pPr marL="742950" lvl="1" indent="-285750">
              <a:buFont typeface="Wingdings" panose="05000000000000000000" pitchFamily="2" charset="2"/>
              <a:buChar char="Ø"/>
            </a:pPr>
            <a:r>
              <a:rPr lang="vi-VN" dirty="0"/>
              <a:t>Giao tiếp: SPI</a:t>
            </a:r>
          </a:p>
          <a:p>
            <a:pPr marL="742950" lvl="1" indent="-285750">
              <a:buFont typeface="Wingdings" panose="05000000000000000000" pitchFamily="2" charset="2"/>
              <a:buChar char="Ø"/>
            </a:pPr>
            <a:r>
              <a:rPr lang="vi-VN" dirty="0"/>
              <a:t>Điện áp hoạt động: 3.3V</a:t>
            </a:r>
          </a:p>
          <a:p>
            <a:pPr marL="742950" lvl="1" indent="-285750">
              <a:buFont typeface="Wingdings" panose="05000000000000000000" pitchFamily="2" charset="2"/>
              <a:buChar char="Ø"/>
            </a:pPr>
            <a:r>
              <a:rPr lang="en-US" dirty="0"/>
              <a:t>Receive s</a:t>
            </a:r>
            <a:r>
              <a:rPr lang="vi-VN" dirty="0"/>
              <a:t>ensitivity</a:t>
            </a:r>
            <a:r>
              <a:rPr lang="en-US" dirty="0"/>
              <a:t>:</a:t>
            </a:r>
            <a:r>
              <a:rPr lang="vi-VN" dirty="0"/>
              <a:t> -141 dBm</a:t>
            </a:r>
          </a:p>
          <a:p>
            <a:pPr marL="742950" lvl="1" indent="-285750">
              <a:buFont typeface="Wingdings" panose="05000000000000000000" pitchFamily="2" charset="2"/>
              <a:buChar char="Ø"/>
            </a:pPr>
            <a:r>
              <a:rPr lang="vi-VN" dirty="0"/>
              <a:t>Đóng gói có CRC payload max </a:t>
            </a:r>
            <a:r>
              <a:rPr lang="en-US" dirty="0"/>
              <a:t>256 bytes</a:t>
            </a:r>
            <a:endParaRPr lang="vi-VN" dirty="0"/>
          </a:p>
        </p:txBody>
      </p:sp>
    </p:spTree>
    <p:extLst>
      <p:ext uri="{BB962C8B-B14F-4D97-AF65-F5344CB8AC3E}">
        <p14:creationId xmlns:p14="http://schemas.microsoft.com/office/powerpoint/2010/main" val="64084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5" name="TextBox 4">
            <a:extLst>
              <a:ext uri="{FF2B5EF4-FFF2-40B4-BE49-F238E27FC236}">
                <a16:creationId xmlns:a16="http://schemas.microsoft.com/office/drawing/2014/main" id="{7CAABB0C-2F8B-4249-B022-6733B65ACD45}"/>
              </a:ext>
            </a:extLst>
          </p:cNvPr>
          <p:cNvSpPr txBox="1"/>
          <p:nvPr/>
        </p:nvSpPr>
        <p:spPr>
          <a:xfrm>
            <a:off x="466494" y="1007497"/>
            <a:ext cx="7827444" cy="3539430"/>
          </a:xfrm>
          <a:prstGeom prst="rect">
            <a:avLst/>
          </a:prstGeom>
          <a:noFill/>
        </p:spPr>
        <p:txBody>
          <a:bodyPr wrap="square" rtlCol="0">
            <a:spAutoFit/>
          </a:bodyPr>
          <a:lstStyle/>
          <a:p>
            <a:r>
              <a:rPr lang="en-US" sz="1400" dirty="0"/>
              <a:t>3.1 </a:t>
            </a:r>
            <a:r>
              <a:rPr lang="en-US" sz="1400" dirty="0" err="1"/>
              <a:t>Cấu</a:t>
            </a:r>
            <a:r>
              <a:rPr lang="en-US" sz="1400" dirty="0"/>
              <a:t> </a:t>
            </a:r>
            <a:r>
              <a:rPr lang="en-US" sz="1400" dirty="0" err="1"/>
              <a:t>hình</a:t>
            </a:r>
            <a:r>
              <a:rPr lang="en-US" sz="1400" dirty="0"/>
              <a:t> </a:t>
            </a:r>
            <a:r>
              <a:rPr lang="en-US" sz="1400" dirty="0" err="1"/>
              <a:t>các</a:t>
            </a:r>
            <a:r>
              <a:rPr lang="en-US" sz="1400" dirty="0"/>
              <a:t> </a:t>
            </a:r>
            <a:r>
              <a:rPr lang="en-US" sz="1400" dirty="0" err="1"/>
              <a:t>thông</a:t>
            </a:r>
            <a:r>
              <a:rPr lang="en-US" sz="1400" dirty="0"/>
              <a:t> </a:t>
            </a:r>
            <a:r>
              <a:rPr lang="en-US" sz="1400" dirty="0" err="1"/>
              <a:t>số</a:t>
            </a:r>
            <a:r>
              <a:rPr lang="en-US" sz="1400" dirty="0"/>
              <a:t> LoRa</a:t>
            </a:r>
          </a:p>
          <a:p>
            <a:r>
              <a:rPr lang="en-US" sz="1400" dirty="0" err="1"/>
              <a:t>Việc</a:t>
            </a:r>
            <a:r>
              <a:rPr lang="en-US" sz="1400" dirty="0"/>
              <a:t> </a:t>
            </a:r>
            <a:r>
              <a:rPr lang="en-US" sz="1400" dirty="0" err="1"/>
              <a:t>cấu</a:t>
            </a:r>
            <a:r>
              <a:rPr lang="en-US" sz="1400" dirty="0"/>
              <a:t> </a:t>
            </a:r>
            <a:r>
              <a:rPr lang="en-US" sz="1400" dirty="0" err="1"/>
              <a:t>hình</a:t>
            </a:r>
            <a:r>
              <a:rPr lang="en-US" sz="1400" dirty="0"/>
              <a:t> LoRa </a:t>
            </a:r>
            <a:r>
              <a:rPr lang="en-US" sz="1400" dirty="0" err="1"/>
              <a:t>là</a:t>
            </a:r>
            <a:r>
              <a:rPr lang="en-US" sz="1400" dirty="0"/>
              <a:t> </a:t>
            </a:r>
            <a:r>
              <a:rPr lang="en-US" sz="1400" dirty="0" err="1"/>
              <a:t>việc</a:t>
            </a:r>
            <a:r>
              <a:rPr lang="en-US" sz="1400" dirty="0"/>
              <a:t> </a:t>
            </a:r>
            <a:r>
              <a:rPr lang="en-US" sz="1400" dirty="0" err="1"/>
              <a:t>ghi</a:t>
            </a:r>
            <a:r>
              <a:rPr lang="en-US" sz="1400" dirty="0"/>
              <a:t> </a:t>
            </a:r>
            <a:r>
              <a:rPr lang="en-US" sz="1400" dirty="0" err="1"/>
              <a:t>dữ</a:t>
            </a:r>
            <a:r>
              <a:rPr lang="en-US" sz="1400" dirty="0"/>
              <a:t> </a:t>
            </a:r>
            <a:r>
              <a:rPr lang="en-US" sz="1400" dirty="0" err="1"/>
              <a:t>liệu</a:t>
            </a:r>
            <a:r>
              <a:rPr lang="en-US" sz="1400" dirty="0"/>
              <a:t> </a:t>
            </a:r>
            <a:r>
              <a:rPr lang="en-US" sz="1400" dirty="0" err="1"/>
              <a:t>vào</a:t>
            </a:r>
            <a:r>
              <a:rPr lang="en-US" sz="1400" dirty="0"/>
              <a:t> </a:t>
            </a:r>
            <a:r>
              <a:rPr lang="en-US" sz="1400" dirty="0" err="1"/>
              <a:t>các</a:t>
            </a:r>
            <a:r>
              <a:rPr lang="en-US" sz="1400" dirty="0"/>
              <a:t> </a:t>
            </a:r>
            <a:r>
              <a:rPr lang="en-US" sz="1400" dirty="0" err="1"/>
              <a:t>thanh</a:t>
            </a:r>
            <a:r>
              <a:rPr lang="en-US" sz="1400" dirty="0"/>
              <a:t> </a:t>
            </a:r>
            <a:r>
              <a:rPr lang="en-US" sz="1400" dirty="0" err="1"/>
              <a:t>ghi</a:t>
            </a:r>
            <a:r>
              <a:rPr lang="en-US" sz="1400" dirty="0"/>
              <a:t> </a:t>
            </a:r>
            <a:r>
              <a:rPr lang="en-US" sz="1400" dirty="0" err="1"/>
              <a:t>thông</a:t>
            </a:r>
            <a:r>
              <a:rPr lang="en-US" sz="1400" dirty="0"/>
              <a:t> qua SPI</a:t>
            </a:r>
          </a:p>
          <a:p>
            <a:endParaRPr lang="en-US" sz="1400" dirty="0"/>
          </a:p>
          <a:p>
            <a:r>
              <a:rPr lang="en-US" sz="1400" dirty="0"/>
              <a:t>3.1.1 </a:t>
            </a:r>
            <a:r>
              <a:rPr lang="en-US" sz="1400" dirty="0" err="1"/>
              <a:t>Các</a:t>
            </a:r>
            <a:r>
              <a:rPr lang="en-US" sz="1400" dirty="0"/>
              <a:t> </a:t>
            </a:r>
            <a:r>
              <a:rPr lang="en-US" sz="1400" dirty="0" err="1"/>
              <a:t>thông</a:t>
            </a:r>
            <a:r>
              <a:rPr lang="en-US" sz="1400" dirty="0"/>
              <a:t> </a:t>
            </a:r>
            <a:r>
              <a:rPr lang="en-US" sz="1400" dirty="0" err="1"/>
              <a:t>số</a:t>
            </a:r>
            <a:endParaRPr lang="en-US" sz="1400" dirty="0"/>
          </a:p>
          <a:p>
            <a:r>
              <a:rPr lang="en-US" sz="1400" dirty="0"/>
              <a:t>	3.1.1.1. </a:t>
            </a:r>
            <a:r>
              <a:rPr lang="en-US" sz="1400" dirty="0" err="1"/>
              <a:t>Hệ</a:t>
            </a:r>
            <a:r>
              <a:rPr lang="en-US" sz="1400" dirty="0"/>
              <a:t> </a:t>
            </a:r>
            <a:r>
              <a:rPr lang="en-US" sz="1400" dirty="0" err="1"/>
              <a:t>số</a:t>
            </a:r>
            <a:r>
              <a:rPr lang="en-US" sz="1400" dirty="0"/>
              <a:t> </a:t>
            </a:r>
            <a:r>
              <a:rPr lang="en-US" sz="1400" dirty="0" err="1"/>
              <a:t>trải</a:t>
            </a:r>
            <a:r>
              <a:rPr lang="en-US" sz="1400" dirty="0"/>
              <a:t> </a:t>
            </a:r>
            <a:r>
              <a:rPr lang="en-US" sz="1400" dirty="0" err="1"/>
              <a:t>phổ</a:t>
            </a:r>
            <a:r>
              <a:rPr lang="en-US" sz="1400" dirty="0"/>
              <a:t> Spreading Factor</a:t>
            </a:r>
          </a:p>
          <a:p>
            <a:r>
              <a:rPr lang="en-US" sz="1400" b="0" i="0" dirty="0">
                <a:solidFill>
                  <a:srgbClr val="303030"/>
                </a:solidFill>
                <a:effectLst/>
                <a:latin typeface="Google Sans Text"/>
              </a:rPr>
              <a:t>	</a:t>
            </a:r>
            <a:r>
              <a:rPr lang="en-US" sz="1400" i="0" dirty="0" err="1">
                <a:solidFill>
                  <a:srgbClr val="303030"/>
                </a:solidFill>
                <a:effectLst/>
                <a:latin typeface="Google Sans Text"/>
              </a:rPr>
              <a:t>Quá</a:t>
            </a:r>
            <a:r>
              <a:rPr lang="en-US" sz="1400" i="0" dirty="0">
                <a:solidFill>
                  <a:srgbClr val="303030"/>
                </a:solidFill>
                <a:effectLst/>
                <a:latin typeface="Google Sans Text"/>
              </a:rPr>
              <a:t> </a:t>
            </a:r>
            <a:r>
              <a:rPr lang="en-US" sz="1400" i="0" dirty="0" err="1">
                <a:solidFill>
                  <a:srgbClr val="303030"/>
                </a:solidFill>
                <a:effectLst/>
                <a:latin typeface="Google Sans Text"/>
              </a:rPr>
              <a:t>trình</a:t>
            </a:r>
            <a:r>
              <a:rPr lang="en-US" sz="1400" i="0" dirty="0">
                <a:solidFill>
                  <a:srgbClr val="303030"/>
                </a:solidFill>
                <a:effectLst/>
                <a:latin typeface="Google Sans Text"/>
              </a:rPr>
              <a:t> </a:t>
            </a:r>
            <a:r>
              <a:rPr lang="en-US" sz="1400" i="0" dirty="0" err="1">
                <a:solidFill>
                  <a:srgbClr val="303030"/>
                </a:solidFill>
                <a:effectLst/>
                <a:latin typeface="Google Sans Text"/>
              </a:rPr>
              <a:t>điều</a:t>
            </a:r>
            <a:r>
              <a:rPr lang="en-US" sz="1400" i="0" dirty="0">
                <a:solidFill>
                  <a:srgbClr val="303030"/>
                </a:solidFill>
                <a:effectLst/>
                <a:latin typeface="Google Sans Text"/>
              </a:rPr>
              <a:t> </a:t>
            </a:r>
            <a:r>
              <a:rPr lang="en-US" sz="1400" i="0" dirty="0" err="1">
                <a:solidFill>
                  <a:srgbClr val="303030"/>
                </a:solidFill>
                <a:effectLst/>
                <a:latin typeface="Google Sans Text"/>
              </a:rPr>
              <a:t>chế</a:t>
            </a:r>
            <a:r>
              <a:rPr lang="en-US" sz="1400" i="0" dirty="0">
                <a:solidFill>
                  <a:srgbClr val="303030"/>
                </a:solidFill>
                <a:effectLst/>
                <a:latin typeface="Google Sans Text"/>
              </a:rPr>
              <a:t> </a:t>
            </a:r>
            <a:r>
              <a:rPr lang="en-US" sz="1400" i="0" dirty="0" err="1">
                <a:solidFill>
                  <a:srgbClr val="303030"/>
                </a:solidFill>
                <a:effectLst/>
                <a:latin typeface="Google Sans Text"/>
              </a:rPr>
              <a:t>LoRaTM</a:t>
            </a:r>
            <a:r>
              <a:rPr lang="en-US" sz="1400" i="0" dirty="0">
                <a:solidFill>
                  <a:srgbClr val="303030"/>
                </a:solidFill>
                <a:effectLst/>
                <a:latin typeface="Google Sans Text"/>
              </a:rPr>
              <a:t> </a:t>
            </a:r>
            <a:r>
              <a:rPr lang="en-US" sz="1400" i="0" dirty="0" err="1">
                <a:solidFill>
                  <a:srgbClr val="303030"/>
                </a:solidFill>
                <a:effectLst/>
                <a:latin typeface="Google Sans Text"/>
              </a:rPr>
              <a:t>thực</a:t>
            </a:r>
            <a:r>
              <a:rPr lang="en-US" sz="1400" i="0" dirty="0">
                <a:solidFill>
                  <a:srgbClr val="303030"/>
                </a:solidFill>
                <a:effectLst/>
                <a:latin typeface="Google Sans Text"/>
              </a:rPr>
              <a:t> </a:t>
            </a:r>
            <a:r>
              <a:rPr lang="en-US" sz="1400" i="0" dirty="0" err="1">
                <a:solidFill>
                  <a:srgbClr val="303030"/>
                </a:solidFill>
                <a:effectLst/>
                <a:latin typeface="Google Sans Text"/>
              </a:rPr>
              <a:t>hiện</a:t>
            </a:r>
            <a:r>
              <a:rPr lang="en-US" sz="1400" i="0" dirty="0">
                <a:solidFill>
                  <a:srgbClr val="303030"/>
                </a:solidFill>
                <a:effectLst/>
                <a:latin typeface="Google Sans Text"/>
              </a:rPr>
              <a:t> </a:t>
            </a:r>
            <a:r>
              <a:rPr lang="en-US" sz="1400" i="0" dirty="0" err="1">
                <a:solidFill>
                  <a:srgbClr val="303030"/>
                </a:solidFill>
                <a:effectLst/>
                <a:latin typeface="Google Sans Text"/>
              </a:rPr>
              <a:t>bằng</a:t>
            </a:r>
            <a:r>
              <a:rPr lang="en-US" sz="1400" i="0" dirty="0">
                <a:solidFill>
                  <a:srgbClr val="303030"/>
                </a:solidFill>
                <a:effectLst/>
                <a:latin typeface="Google Sans Text"/>
              </a:rPr>
              <a:t> </a:t>
            </a:r>
            <a:r>
              <a:rPr lang="en-US" sz="1400" i="0" dirty="0" err="1">
                <a:solidFill>
                  <a:srgbClr val="303030"/>
                </a:solidFill>
                <a:effectLst/>
                <a:latin typeface="Google Sans Text"/>
              </a:rPr>
              <a:t>cách</a:t>
            </a:r>
            <a:r>
              <a:rPr lang="en-US" sz="1400" i="0" dirty="0">
                <a:solidFill>
                  <a:srgbClr val="303030"/>
                </a:solidFill>
                <a:effectLst/>
                <a:latin typeface="Google Sans Text"/>
              </a:rPr>
              <a:t> </a:t>
            </a:r>
            <a:r>
              <a:rPr lang="en-US" sz="1400" i="0" dirty="0" err="1">
                <a:solidFill>
                  <a:srgbClr val="303030"/>
                </a:solidFill>
                <a:effectLst/>
                <a:latin typeface="Google Sans Text"/>
              </a:rPr>
              <a:t>biểu</a:t>
            </a:r>
            <a:r>
              <a:rPr lang="en-US" sz="1400" i="0" dirty="0">
                <a:solidFill>
                  <a:srgbClr val="303030"/>
                </a:solidFill>
                <a:effectLst/>
                <a:latin typeface="Google Sans Text"/>
              </a:rPr>
              <a:t> </a:t>
            </a:r>
            <a:r>
              <a:rPr lang="en-US" sz="1400" i="0" dirty="0" err="1">
                <a:solidFill>
                  <a:srgbClr val="303030"/>
                </a:solidFill>
                <a:effectLst/>
                <a:latin typeface="Google Sans Text"/>
              </a:rPr>
              <a:t>diễn</a:t>
            </a:r>
            <a:r>
              <a:rPr lang="en-US" sz="1400" i="0" dirty="0">
                <a:solidFill>
                  <a:srgbClr val="303030"/>
                </a:solidFill>
                <a:effectLst/>
                <a:latin typeface="Google Sans Text"/>
              </a:rPr>
              <a:t> </a:t>
            </a:r>
            <a:r>
              <a:rPr lang="en-US" sz="1400" i="0" dirty="0" err="1">
                <a:solidFill>
                  <a:srgbClr val="303030"/>
                </a:solidFill>
                <a:effectLst/>
                <a:latin typeface="Google Sans Text"/>
              </a:rPr>
              <a:t>mỗi</a:t>
            </a:r>
            <a:r>
              <a:rPr lang="en-US" sz="1400" i="0" dirty="0">
                <a:solidFill>
                  <a:srgbClr val="303030"/>
                </a:solidFill>
                <a:effectLst/>
                <a:latin typeface="Google Sans Text"/>
              </a:rPr>
              <a:t> bit </a:t>
            </a:r>
            <a:r>
              <a:rPr lang="en-US" sz="1400" i="0" dirty="0" err="1">
                <a:solidFill>
                  <a:srgbClr val="303030"/>
                </a:solidFill>
                <a:effectLst/>
                <a:latin typeface="Google Sans Text"/>
              </a:rPr>
              <a:t>thông</a:t>
            </a:r>
            <a:r>
              <a:rPr lang="en-US" sz="1400" i="0" dirty="0">
                <a:solidFill>
                  <a:srgbClr val="303030"/>
                </a:solidFill>
                <a:effectLst/>
                <a:latin typeface="Google Sans Text"/>
              </a:rPr>
              <a:t> tin </a:t>
            </a:r>
            <a:r>
              <a:rPr lang="en-US" sz="1400" i="0" dirty="0" err="1">
                <a:solidFill>
                  <a:srgbClr val="303030"/>
                </a:solidFill>
                <a:effectLst/>
                <a:latin typeface="Google Sans Text"/>
              </a:rPr>
              <a:t>bằng</a:t>
            </a:r>
            <a:r>
              <a:rPr lang="en-US" sz="1400" i="0" dirty="0">
                <a:solidFill>
                  <a:srgbClr val="303030"/>
                </a:solidFill>
                <a:effectLst/>
                <a:latin typeface="Google Sans Text"/>
              </a:rPr>
              <a:t> </a:t>
            </a:r>
            <a:r>
              <a:rPr lang="en-US" sz="1400" i="0" dirty="0" err="1">
                <a:solidFill>
                  <a:srgbClr val="303030"/>
                </a:solidFill>
                <a:effectLst/>
                <a:latin typeface="Google Sans Text"/>
              </a:rPr>
              <a:t>nhiều</a:t>
            </a:r>
            <a:r>
              <a:rPr lang="en-US" sz="1400" i="0" dirty="0">
                <a:solidFill>
                  <a:srgbClr val="303030"/>
                </a:solidFill>
                <a:effectLst/>
                <a:latin typeface="Google Sans Text"/>
              </a:rPr>
              <a:t> chip </a:t>
            </a:r>
            <a:r>
              <a:rPr lang="en-US" sz="1400" i="0" dirty="0" err="1">
                <a:solidFill>
                  <a:srgbClr val="303030"/>
                </a:solidFill>
                <a:effectLst/>
                <a:latin typeface="Google Sans Text"/>
              </a:rPr>
              <a:t>thông</a:t>
            </a:r>
            <a:r>
              <a:rPr lang="en-US" sz="1400" i="0" dirty="0">
                <a:solidFill>
                  <a:srgbClr val="303030"/>
                </a:solidFill>
                <a:effectLst/>
                <a:latin typeface="Google Sans Text"/>
              </a:rPr>
              <a:t> tin</a:t>
            </a:r>
            <a:r>
              <a:rPr lang="en-US" sz="1400" dirty="0"/>
              <a:t>. </a:t>
            </a:r>
            <a:r>
              <a:rPr lang="en-US" sz="1400" dirty="0" err="1">
                <a:solidFill>
                  <a:srgbClr val="303030"/>
                </a:solidFill>
                <a:latin typeface="Google Sans Text"/>
              </a:rPr>
              <a:t>t</a:t>
            </a:r>
            <a:r>
              <a:rPr lang="en-US" sz="1400" i="0" dirty="0" err="1">
                <a:solidFill>
                  <a:srgbClr val="303030"/>
                </a:solidFill>
                <a:effectLst/>
                <a:latin typeface="Google Sans Text"/>
              </a:rPr>
              <a:t>ỷ</a:t>
            </a:r>
            <a:r>
              <a:rPr lang="en-US" sz="1400" i="0" dirty="0">
                <a:solidFill>
                  <a:srgbClr val="303030"/>
                </a:solidFill>
                <a:effectLst/>
                <a:latin typeface="Google Sans Text"/>
              </a:rPr>
              <a:t> </a:t>
            </a:r>
            <a:r>
              <a:rPr lang="en-US" sz="1400" i="0" dirty="0" err="1">
                <a:solidFill>
                  <a:srgbClr val="303030"/>
                </a:solidFill>
                <a:effectLst/>
                <a:latin typeface="Google Sans Text"/>
              </a:rPr>
              <a:t>lệ</a:t>
            </a:r>
            <a:r>
              <a:rPr lang="en-US" sz="1400" i="0" dirty="0">
                <a:solidFill>
                  <a:srgbClr val="303030"/>
                </a:solidFill>
                <a:effectLst/>
                <a:latin typeface="Google Sans Text"/>
              </a:rPr>
              <a:t> </a:t>
            </a:r>
            <a:r>
              <a:rPr lang="en-US" sz="1400" i="0" dirty="0" err="1">
                <a:solidFill>
                  <a:srgbClr val="303030"/>
                </a:solidFill>
                <a:effectLst/>
                <a:latin typeface="Google Sans Text"/>
              </a:rPr>
              <a:t>giữa</a:t>
            </a:r>
            <a:r>
              <a:rPr lang="en-US" sz="1400" i="0" dirty="0">
                <a:solidFill>
                  <a:srgbClr val="303030"/>
                </a:solidFill>
                <a:effectLst/>
                <a:latin typeface="Google Sans Text"/>
              </a:rPr>
              <a:t> </a:t>
            </a:r>
            <a:r>
              <a:rPr lang="en-US" sz="1400" i="0" dirty="0" err="1">
                <a:solidFill>
                  <a:srgbClr val="303030"/>
                </a:solidFill>
                <a:effectLst/>
                <a:latin typeface="Google Sans Text"/>
              </a:rPr>
              <a:t>tốc</a:t>
            </a:r>
            <a:r>
              <a:rPr lang="en-US" sz="1400" i="0" dirty="0">
                <a:solidFill>
                  <a:srgbClr val="303030"/>
                </a:solidFill>
                <a:effectLst/>
                <a:latin typeface="Google Sans Text"/>
              </a:rPr>
              <a:t> </a:t>
            </a:r>
            <a:r>
              <a:rPr lang="en-US" sz="1400" i="0" dirty="0" err="1">
                <a:solidFill>
                  <a:srgbClr val="303030"/>
                </a:solidFill>
                <a:effectLst/>
                <a:latin typeface="Google Sans Text"/>
              </a:rPr>
              <a:t>độ</a:t>
            </a:r>
            <a:r>
              <a:rPr lang="en-US" sz="1400" i="0" dirty="0">
                <a:solidFill>
                  <a:srgbClr val="303030"/>
                </a:solidFill>
                <a:effectLst/>
                <a:latin typeface="Google Sans Text"/>
              </a:rPr>
              <a:t> chip </a:t>
            </a:r>
            <a:r>
              <a:rPr lang="en-US" sz="1400" i="0" dirty="0" err="1">
                <a:solidFill>
                  <a:srgbClr val="303030"/>
                </a:solidFill>
                <a:effectLst/>
                <a:latin typeface="Google Sans Text"/>
              </a:rPr>
              <a:t>và</a:t>
            </a:r>
            <a:r>
              <a:rPr lang="en-US" sz="1400" i="0" dirty="0">
                <a:solidFill>
                  <a:srgbClr val="303030"/>
                </a:solidFill>
                <a:effectLst/>
                <a:latin typeface="Google Sans Text"/>
              </a:rPr>
              <a:t> </a:t>
            </a:r>
            <a:r>
              <a:rPr lang="en-US" sz="1400" i="0" dirty="0" err="1">
                <a:solidFill>
                  <a:srgbClr val="303030"/>
                </a:solidFill>
                <a:effectLst/>
                <a:latin typeface="Google Sans Text"/>
              </a:rPr>
              <a:t>tốc</a:t>
            </a:r>
            <a:r>
              <a:rPr lang="en-US" sz="1400" i="0" dirty="0">
                <a:solidFill>
                  <a:srgbClr val="303030"/>
                </a:solidFill>
                <a:effectLst/>
                <a:latin typeface="Google Sans Text"/>
              </a:rPr>
              <a:t> </a:t>
            </a:r>
            <a:r>
              <a:rPr lang="en-US" sz="1400" i="0" dirty="0" err="1">
                <a:solidFill>
                  <a:srgbClr val="303030"/>
                </a:solidFill>
                <a:effectLst/>
                <a:latin typeface="Google Sans Text"/>
              </a:rPr>
              <a:t>độ</a:t>
            </a:r>
            <a:r>
              <a:rPr lang="en-US" sz="1400" i="0" dirty="0">
                <a:solidFill>
                  <a:srgbClr val="303030"/>
                </a:solidFill>
                <a:effectLst/>
                <a:latin typeface="Google Sans Text"/>
              </a:rPr>
              <a:t> </a:t>
            </a:r>
            <a:r>
              <a:rPr lang="en-US" sz="1400" i="0" dirty="0" err="1">
                <a:solidFill>
                  <a:srgbClr val="303030"/>
                </a:solidFill>
                <a:effectLst/>
                <a:latin typeface="Google Sans Text"/>
              </a:rPr>
              <a:t>ký</a:t>
            </a:r>
            <a:r>
              <a:rPr lang="en-US" sz="1400" i="0" dirty="0">
                <a:solidFill>
                  <a:srgbClr val="303030"/>
                </a:solidFill>
                <a:effectLst/>
                <a:latin typeface="Google Sans Text"/>
              </a:rPr>
              <a:t> </a:t>
            </a:r>
            <a:r>
              <a:rPr lang="en-US" sz="1400" i="0" dirty="0" err="1">
                <a:solidFill>
                  <a:srgbClr val="303030"/>
                </a:solidFill>
                <a:effectLst/>
                <a:latin typeface="Google Sans Text"/>
              </a:rPr>
              <a:t>hiệu</a:t>
            </a:r>
            <a:r>
              <a:rPr lang="en-US" sz="1400" i="0" dirty="0">
                <a:solidFill>
                  <a:srgbClr val="303030"/>
                </a:solidFill>
                <a:effectLst/>
                <a:latin typeface="Google Sans Text"/>
              </a:rPr>
              <a:t> </a:t>
            </a:r>
            <a:r>
              <a:rPr lang="en-US" sz="1400" i="0" dirty="0" err="1">
                <a:solidFill>
                  <a:srgbClr val="303030"/>
                </a:solidFill>
                <a:effectLst/>
                <a:latin typeface="Google Sans Text"/>
              </a:rPr>
              <a:t>chính</a:t>
            </a:r>
            <a:r>
              <a:rPr lang="en-US" sz="1400" i="0" dirty="0">
                <a:solidFill>
                  <a:srgbClr val="303030"/>
                </a:solidFill>
                <a:effectLst/>
                <a:latin typeface="Google Sans Text"/>
              </a:rPr>
              <a:t> </a:t>
            </a:r>
            <a:r>
              <a:rPr lang="en-US" sz="1400" i="0" dirty="0" err="1">
                <a:solidFill>
                  <a:srgbClr val="303030"/>
                </a:solidFill>
                <a:effectLst/>
                <a:latin typeface="Google Sans Text"/>
              </a:rPr>
              <a:t>là</a:t>
            </a:r>
            <a:r>
              <a:rPr lang="en-US" sz="1400" i="0" dirty="0">
                <a:solidFill>
                  <a:srgbClr val="303030"/>
                </a:solidFill>
                <a:effectLst/>
                <a:latin typeface="Google Sans Text"/>
              </a:rPr>
              <a:t> </a:t>
            </a:r>
            <a:r>
              <a:rPr lang="en-US" sz="1400" i="0" dirty="0" err="1">
                <a:solidFill>
                  <a:srgbClr val="303030"/>
                </a:solidFill>
                <a:effectLst/>
                <a:latin typeface="Google Sans Text"/>
              </a:rPr>
              <a:t>hệ</a:t>
            </a:r>
            <a:r>
              <a:rPr lang="en-US" sz="1400" i="0" dirty="0">
                <a:solidFill>
                  <a:srgbClr val="303030"/>
                </a:solidFill>
                <a:effectLst/>
                <a:latin typeface="Google Sans Text"/>
              </a:rPr>
              <a:t> </a:t>
            </a:r>
            <a:r>
              <a:rPr lang="en-US" sz="1400" i="0" dirty="0" err="1">
                <a:solidFill>
                  <a:srgbClr val="303030"/>
                </a:solidFill>
                <a:effectLst/>
                <a:latin typeface="Google Sans Text"/>
              </a:rPr>
              <a:t>số</a:t>
            </a:r>
            <a:r>
              <a:rPr lang="en-US" sz="1400" i="0" dirty="0">
                <a:solidFill>
                  <a:srgbClr val="303030"/>
                </a:solidFill>
                <a:effectLst/>
                <a:latin typeface="Google Sans Text"/>
              </a:rPr>
              <a:t> </a:t>
            </a:r>
            <a:r>
              <a:rPr lang="en-US" sz="1400" i="0" dirty="0" err="1">
                <a:solidFill>
                  <a:srgbClr val="303030"/>
                </a:solidFill>
                <a:effectLst/>
                <a:latin typeface="Google Sans Text"/>
              </a:rPr>
              <a:t>trải</a:t>
            </a:r>
            <a:r>
              <a:rPr lang="en-US" sz="1400" i="0" dirty="0">
                <a:solidFill>
                  <a:srgbClr val="303030"/>
                </a:solidFill>
                <a:effectLst/>
                <a:latin typeface="Google Sans Text"/>
              </a:rPr>
              <a:t> </a:t>
            </a:r>
            <a:r>
              <a:rPr lang="en-US" sz="1400" i="0" dirty="0" err="1">
                <a:solidFill>
                  <a:srgbClr val="303030"/>
                </a:solidFill>
                <a:effectLst/>
                <a:latin typeface="Google Sans Text"/>
              </a:rPr>
              <a:t>phổ</a:t>
            </a:r>
            <a:endParaRPr lang="en-US" sz="1400" dirty="0">
              <a:solidFill>
                <a:srgbClr val="303030"/>
              </a:solidFill>
              <a:latin typeface="Google Sans Text"/>
            </a:endParaRPr>
          </a:p>
          <a:p>
            <a:r>
              <a:rPr lang="en-US" sz="1400" dirty="0">
                <a:solidFill>
                  <a:srgbClr val="303030"/>
                </a:solidFill>
                <a:latin typeface="Google Sans Text"/>
              </a:rPr>
              <a:t>SF=6~12, SF </a:t>
            </a:r>
            <a:r>
              <a:rPr lang="en-US" sz="1400" dirty="0" err="1">
                <a:solidFill>
                  <a:srgbClr val="303030"/>
                </a:solidFill>
                <a:latin typeface="Google Sans Text"/>
              </a:rPr>
              <a:t>càng</a:t>
            </a:r>
            <a:r>
              <a:rPr lang="en-US" sz="1400" dirty="0">
                <a:solidFill>
                  <a:srgbClr val="303030"/>
                </a:solidFill>
                <a:latin typeface="Google Sans Text"/>
              </a:rPr>
              <a:t> </a:t>
            </a:r>
            <a:r>
              <a:rPr lang="en-US" sz="1400" dirty="0" err="1">
                <a:solidFill>
                  <a:srgbClr val="303030"/>
                </a:solidFill>
                <a:latin typeface="Google Sans Text"/>
              </a:rPr>
              <a:t>cao</a:t>
            </a:r>
            <a:r>
              <a:rPr lang="en-US" sz="1400" dirty="0">
                <a:solidFill>
                  <a:srgbClr val="303030"/>
                </a:solidFill>
                <a:latin typeface="Google Sans Text"/>
              </a:rPr>
              <a:t>, </a:t>
            </a:r>
            <a:r>
              <a:rPr lang="en-US" sz="1400" dirty="0" err="1">
                <a:solidFill>
                  <a:srgbClr val="303030"/>
                </a:solidFill>
                <a:latin typeface="Google Sans Text"/>
              </a:rPr>
              <a:t>tốc</a:t>
            </a:r>
            <a:r>
              <a:rPr lang="en-US" sz="1400" dirty="0">
                <a:solidFill>
                  <a:srgbClr val="303030"/>
                </a:solidFill>
                <a:latin typeface="Google Sans Text"/>
              </a:rPr>
              <a:t> </a:t>
            </a:r>
            <a:r>
              <a:rPr lang="en-US" sz="1400" dirty="0" err="1">
                <a:solidFill>
                  <a:srgbClr val="303030"/>
                </a:solidFill>
                <a:latin typeface="Google Sans Text"/>
              </a:rPr>
              <a:t>độ</a:t>
            </a:r>
            <a:r>
              <a:rPr lang="en-US" sz="1400" dirty="0">
                <a:solidFill>
                  <a:srgbClr val="303030"/>
                </a:solidFill>
                <a:latin typeface="Google Sans Text"/>
              </a:rPr>
              <a:t> </a:t>
            </a:r>
            <a:r>
              <a:rPr lang="en-US" sz="1400" dirty="0" err="1">
                <a:solidFill>
                  <a:srgbClr val="303030"/>
                </a:solidFill>
                <a:latin typeface="Google Sans Text"/>
              </a:rPr>
              <a:t>truyền</a:t>
            </a:r>
            <a:r>
              <a:rPr lang="en-US" sz="1400" dirty="0">
                <a:solidFill>
                  <a:srgbClr val="303030"/>
                </a:solidFill>
                <a:latin typeface="Google Sans Text"/>
              </a:rPr>
              <a:t> </a:t>
            </a:r>
            <a:r>
              <a:rPr lang="en-US" sz="1400" dirty="0" err="1">
                <a:solidFill>
                  <a:srgbClr val="303030"/>
                </a:solidFill>
                <a:latin typeface="Google Sans Text"/>
              </a:rPr>
              <a:t>càng</a:t>
            </a:r>
            <a:r>
              <a:rPr lang="en-US" sz="1400" dirty="0">
                <a:solidFill>
                  <a:srgbClr val="303030"/>
                </a:solidFill>
                <a:latin typeface="Google Sans Text"/>
              </a:rPr>
              <a:t> </a:t>
            </a:r>
            <a:r>
              <a:rPr lang="en-US" sz="1400" dirty="0" err="1">
                <a:solidFill>
                  <a:srgbClr val="303030"/>
                </a:solidFill>
                <a:latin typeface="Google Sans Text"/>
              </a:rPr>
              <a:t>giảm</a:t>
            </a:r>
            <a:r>
              <a:rPr lang="en-US" sz="1400" dirty="0">
                <a:solidFill>
                  <a:srgbClr val="303030"/>
                </a:solidFill>
                <a:latin typeface="Google Sans Text"/>
              </a:rPr>
              <a:t>, </a:t>
            </a:r>
            <a:r>
              <a:rPr lang="en-US" sz="1400" dirty="0" err="1">
                <a:solidFill>
                  <a:srgbClr val="303030"/>
                </a:solidFill>
                <a:latin typeface="Google Sans Text"/>
              </a:rPr>
              <a:t>bù</a:t>
            </a:r>
            <a:r>
              <a:rPr lang="en-US" sz="1400" dirty="0">
                <a:solidFill>
                  <a:srgbClr val="303030"/>
                </a:solidFill>
                <a:latin typeface="Google Sans Text"/>
              </a:rPr>
              <a:t> </a:t>
            </a:r>
            <a:r>
              <a:rPr lang="en-US" sz="1400" dirty="0" err="1">
                <a:solidFill>
                  <a:srgbClr val="303030"/>
                </a:solidFill>
                <a:latin typeface="Google Sans Text"/>
              </a:rPr>
              <a:t>lại</a:t>
            </a:r>
            <a:r>
              <a:rPr lang="en-US" sz="1400" dirty="0">
                <a:solidFill>
                  <a:srgbClr val="303030"/>
                </a:solidFill>
                <a:latin typeface="Google Sans Text"/>
              </a:rPr>
              <a:t> </a:t>
            </a:r>
            <a:r>
              <a:rPr lang="en-US" sz="1400" dirty="0" err="1">
                <a:solidFill>
                  <a:srgbClr val="303030"/>
                </a:solidFill>
                <a:latin typeface="Google Sans Text"/>
              </a:rPr>
              <a:t>khoảng</a:t>
            </a:r>
            <a:r>
              <a:rPr lang="en-US" sz="1400" dirty="0">
                <a:solidFill>
                  <a:srgbClr val="303030"/>
                </a:solidFill>
                <a:latin typeface="Google Sans Text"/>
              </a:rPr>
              <a:t> </a:t>
            </a:r>
            <a:r>
              <a:rPr lang="en-US" sz="1400" dirty="0" err="1">
                <a:solidFill>
                  <a:srgbClr val="303030"/>
                </a:solidFill>
                <a:latin typeface="Google Sans Text"/>
              </a:rPr>
              <a:t>cách</a:t>
            </a:r>
            <a:r>
              <a:rPr lang="en-US" sz="1400" dirty="0">
                <a:solidFill>
                  <a:srgbClr val="303030"/>
                </a:solidFill>
                <a:latin typeface="Google Sans Text"/>
              </a:rPr>
              <a:t> </a:t>
            </a:r>
            <a:r>
              <a:rPr lang="en-US" sz="1400" dirty="0" err="1">
                <a:solidFill>
                  <a:srgbClr val="303030"/>
                </a:solidFill>
                <a:latin typeface="Google Sans Text"/>
              </a:rPr>
              <a:t>truyền</a:t>
            </a:r>
            <a:r>
              <a:rPr lang="en-US" sz="1400" dirty="0">
                <a:solidFill>
                  <a:srgbClr val="303030"/>
                </a:solidFill>
                <a:latin typeface="Google Sans Text"/>
              </a:rPr>
              <a:t> xa do SNR </a:t>
            </a:r>
            <a:r>
              <a:rPr lang="en-US" sz="1400" dirty="0" err="1">
                <a:solidFill>
                  <a:srgbClr val="303030"/>
                </a:solidFill>
                <a:latin typeface="Google Sans Text"/>
              </a:rPr>
              <a:t>giảm</a:t>
            </a:r>
            <a:endParaRPr lang="en-US" sz="1400" dirty="0">
              <a:solidFill>
                <a:srgbClr val="303030"/>
              </a:solidFill>
              <a:latin typeface="Google Sans Text"/>
            </a:endParaRPr>
          </a:p>
          <a:p>
            <a:r>
              <a:rPr lang="en-US" sz="1400" dirty="0">
                <a:solidFill>
                  <a:srgbClr val="303030"/>
                </a:solidFill>
                <a:latin typeface="Google Sans Text"/>
              </a:rPr>
              <a:t>	3.1.1.2. Coding rate </a:t>
            </a:r>
          </a:p>
          <a:p>
            <a:r>
              <a:rPr lang="en-US" sz="1400" dirty="0" err="1">
                <a:solidFill>
                  <a:srgbClr val="303030"/>
                </a:solidFill>
                <a:latin typeface="Google Sans Text"/>
              </a:rPr>
              <a:t>Thêm</a:t>
            </a:r>
            <a:r>
              <a:rPr lang="en-US" sz="1400" dirty="0">
                <a:solidFill>
                  <a:srgbClr val="303030"/>
                </a:solidFill>
                <a:latin typeface="Google Sans Text"/>
              </a:rPr>
              <a:t> </a:t>
            </a:r>
            <a:r>
              <a:rPr lang="en-US" sz="1400" dirty="0" err="1">
                <a:solidFill>
                  <a:srgbClr val="303030"/>
                </a:solidFill>
                <a:latin typeface="Google Sans Text"/>
              </a:rPr>
              <a:t>các</a:t>
            </a:r>
            <a:r>
              <a:rPr lang="en-US" sz="1400" dirty="0">
                <a:solidFill>
                  <a:srgbClr val="303030"/>
                </a:solidFill>
                <a:latin typeface="Google Sans Text"/>
              </a:rPr>
              <a:t> bit </a:t>
            </a:r>
            <a:r>
              <a:rPr lang="en-US" sz="1400" dirty="0" err="1">
                <a:solidFill>
                  <a:srgbClr val="303030"/>
                </a:solidFill>
                <a:latin typeface="Google Sans Text"/>
              </a:rPr>
              <a:t>sửa</a:t>
            </a:r>
            <a:r>
              <a:rPr lang="en-US" sz="1400" dirty="0">
                <a:solidFill>
                  <a:srgbClr val="303030"/>
                </a:solidFill>
                <a:latin typeface="Google Sans Text"/>
              </a:rPr>
              <a:t> </a:t>
            </a:r>
            <a:r>
              <a:rPr lang="en-US" sz="1400" dirty="0" err="1">
                <a:solidFill>
                  <a:srgbClr val="303030"/>
                </a:solidFill>
                <a:latin typeface="Google Sans Text"/>
              </a:rPr>
              <a:t>lỗi</a:t>
            </a:r>
            <a:r>
              <a:rPr lang="en-US" sz="1400" dirty="0">
                <a:solidFill>
                  <a:srgbClr val="303030"/>
                </a:solidFill>
                <a:latin typeface="Google Sans Text"/>
              </a:rPr>
              <a:t> FEC</a:t>
            </a:r>
          </a:p>
          <a:p>
            <a:r>
              <a:rPr lang="en-US" sz="1400" dirty="0">
                <a:solidFill>
                  <a:srgbClr val="303030"/>
                </a:solidFill>
                <a:latin typeface="Google Sans Text"/>
              </a:rPr>
              <a:t>	3.1.1.3. Signal bandwidth kHz</a:t>
            </a:r>
            <a:endParaRPr lang="en-US" sz="1400" dirty="0"/>
          </a:p>
          <a:p>
            <a:r>
              <a:rPr lang="en-US" sz="1400" dirty="0" err="1"/>
              <a:t>Tăng</a:t>
            </a:r>
            <a:r>
              <a:rPr lang="en-US" sz="1400" dirty="0"/>
              <a:t> </a:t>
            </a:r>
            <a:r>
              <a:rPr lang="en-US" sz="1400" dirty="0" err="1"/>
              <a:t>tốc</a:t>
            </a:r>
            <a:r>
              <a:rPr lang="en-US" sz="1400" dirty="0"/>
              <a:t> </a:t>
            </a:r>
            <a:r>
              <a:rPr lang="en-US" sz="1400" dirty="0" err="1"/>
              <a:t>độ</a:t>
            </a:r>
            <a:r>
              <a:rPr lang="en-US" sz="1400" dirty="0"/>
              <a:t> </a:t>
            </a:r>
            <a:r>
              <a:rPr lang="en-US" sz="1400" dirty="0" err="1"/>
              <a:t>truyền</a:t>
            </a:r>
            <a:r>
              <a:rPr lang="en-US" sz="1400" dirty="0"/>
              <a:t> </a:t>
            </a:r>
            <a:r>
              <a:rPr lang="en-US" sz="1400" dirty="0" err="1"/>
              <a:t>và</a:t>
            </a:r>
            <a:r>
              <a:rPr lang="en-US" sz="1400" dirty="0"/>
              <a:t> </a:t>
            </a:r>
            <a:r>
              <a:rPr lang="en-US" sz="1400" dirty="0" err="1"/>
              <a:t>giảm</a:t>
            </a:r>
            <a:r>
              <a:rPr lang="en-US" sz="1400" dirty="0"/>
              <a:t> </a:t>
            </a:r>
            <a:r>
              <a:rPr lang="en-US" sz="1400" dirty="0" err="1"/>
              <a:t>độ</a:t>
            </a:r>
            <a:r>
              <a:rPr lang="en-US" sz="1400" dirty="0"/>
              <a:t> </a:t>
            </a:r>
            <a:r>
              <a:rPr lang="en-US" sz="1400" dirty="0" err="1"/>
              <a:t>nhạy</a:t>
            </a:r>
            <a:r>
              <a:rPr lang="en-US" sz="1400" dirty="0"/>
              <a:t> </a:t>
            </a:r>
            <a:r>
              <a:rPr lang="en-US" sz="1400" dirty="0" err="1"/>
              <a:t>thu</a:t>
            </a:r>
            <a:endParaRPr lang="en-US" sz="1400" dirty="0"/>
          </a:p>
          <a:p>
            <a:r>
              <a:rPr lang="en-US" sz="1400" dirty="0" err="1"/>
              <a:t>Mối</a:t>
            </a:r>
            <a:r>
              <a:rPr lang="en-US" sz="1400" dirty="0"/>
              <a:t> </a:t>
            </a:r>
            <a:r>
              <a:rPr lang="en-US" sz="1400" dirty="0" err="1"/>
              <a:t>liên</a:t>
            </a:r>
            <a:r>
              <a:rPr lang="en-US" sz="1400" dirty="0"/>
              <a:t> </a:t>
            </a:r>
            <a:r>
              <a:rPr lang="en-US" sz="1400" dirty="0" err="1"/>
              <a:t>hệ</a:t>
            </a:r>
            <a:r>
              <a:rPr lang="en-US" sz="1400" dirty="0"/>
              <a:t> </a:t>
            </a:r>
            <a:r>
              <a:rPr lang="en-US" sz="1400" dirty="0" err="1"/>
              <a:t>giữa</a:t>
            </a:r>
            <a:r>
              <a:rPr lang="en-US" sz="1400" dirty="0"/>
              <a:t> SF, CR, FEC</a:t>
            </a:r>
          </a:p>
          <a:p>
            <a:endParaRPr lang="en-US" sz="1400" dirty="0"/>
          </a:p>
          <a:p>
            <a:r>
              <a:rPr lang="en-US" sz="1400" dirty="0" err="1"/>
              <a:t>Ngoài</a:t>
            </a:r>
            <a:r>
              <a:rPr lang="en-US" sz="1400" dirty="0"/>
              <a:t> 3 </a:t>
            </a:r>
            <a:r>
              <a:rPr lang="en-US" sz="1400" dirty="0" err="1"/>
              <a:t>thông</a:t>
            </a:r>
            <a:r>
              <a:rPr lang="en-US" sz="1400" dirty="0"/>
              <a:t> </a:t>
            </a:r>
            <a:r>
              <a:rPr lang="en-US" sz="1400" dirty="0" err="1"/>
              <a:t>số</a:t>
            </a:r>
            <a:r>
              <a:rPr lang="en-US" sz="1400" dirty="0"/>
              <a:t> </a:t>
            </a:r>
            <a:r>
              <a:rPr lang="en-US" sz="1400" dirty="0" err="1"/>
              <a:t>kể</a:t>
            </a:r>
            <a:r>
              <a:rPr lang="en-US" sz="1400" dirty="0"/>
              <a:t> </a:t>
            </a:r>
            <a:r>
              <a:rPr lang="en-US" sz="1400" dirty="0" err="1"/>
              <a:t>trên</a:t>
            </a:r>
            <a:r>
              <a:rPr lang="en-US" sz="1400" dirty="0"/>
              <a:t>, </a:t>
            </a:r>
            <a:r>
              <a:rPr lang="en-US" sz="1400" dirty="0" err="1"/>
              <a:t>các</a:t>
            </a:r>
            <a:r>
              <a:rPr lang="en-US" sz="1400" dirty="0"/>
              <a:t> </a:t>
            </a:r>
            <a:r>
              <a:rPr lang="en-US" sz="1400" dirty="0" err="1"/>
              <a:t>thông</a:t>
            </a:r>
            <a:r>
              <a:rPr lang="en-US" sz="1400" dirty="0"/>
              <a:t> </a:t>
            </a:r>
            <a:r>
              <a:rPr lang="en-US" sz="1400" dirty="0" err="1"/>
              <a:t>số</a:t>
            </a:r>
            <a:r>
              <a:rPr lang="en-US" sz="1400" dirty="0"/>
              <a:t> </a:t>
            </a:r>
            <a:r>
              <a:rPr lang="en-US" sz="1400" dirty="0" err="1"/>
              <a:t>như</a:t>
            </a:r>
            <a:r>
              <a:rPr lang="en-US" sz="1400" dirty="0"/>
              <a:t> </a:t>
            </a:r>
            <a:r>
              <a:rPr lang="en-US" sz="1400" dirty="0" err="1"/>
              <a:t>tần</a:t>
            </a:r>
            <a:r>
              <a:rPr lang="en-US" sz="1400" dirty="0"/>
              <a:t> </a:t>
            </a:r>
            <a:r>
              <a:rPr lang="en-US" sz="1400" dirty="0" err="1"/>
              <a:t>số</a:t>
            </a:r>
            <a:r>
              <a:rPr lang="en-US" sz="1400" dirty="0"/>
              <a:t>, </a:t>
            </a:r>
            <a:r>
              <a:rPr lang="en-US" sz="1400" dirty="0" err="1"/>
              <a:t>công</a:t>
            </a:r>
            <a:r>
              <a:rPr lang="en-US" sz="1400" dirty="0"/>
              <a:t> </a:t>
            </a:r>
            <a:r>
              <a:rPr lang="en-US" sz="1400" dirty="0" err="1"/>
              <a:t>suất</a:t>
            </a:r>
            <a:r>
              <a:rPr lang="en-US" sz="1400" dirty="0"/>
              <a:t> </a:t>
            </a:r>
            <a:r>
              <a:rPr lang="en-US" sz="1400" dirty="0" err="1"/>
              <a:t>phát</a:t>
            </a:r>
            <a:r>
              <a:rPr lang="en-US" sz="1400" dirty="0"/>
              <a:t> </a:t>
            </a:r>
            <a:r>
              <a:rPr lang="en-US" sz="1400" dirty="0" err="1"/>
              <a:t>cũng</a:t>
            </a:r>
            <a:r>
              <a:rPr lang="en-US" sz="1400" dirty="0"/>
              <a:t> </a:t>
            </a:r>
            <a:r>
              <a:rPr lang="en-US" sz="1400" dirty="0" err="1"/>
              <a:t>cần</a:t>
            </a:r>
            <a:r>
              <a:rPr lang="en-US" sz="1400" dirty="0"/>
              <a:t> </a:t>
            </a:r>
            <a:r>
              <a:rPr lang="en-US" sz="1400" dirty="0" err="1"/>
              <a:t>được</a:t>
            </a:r>
            <a:r>
              <a:rPr lang="en-US" sz="1400" dirty="0"/>
              <a:t> </a:t>
            </a:r>
            <a:r>
              <a:rPr lang="en-US" sz="1400" dirty="0" err="1"/>
              <a:t>cấu</a:t>
            </a:r>
            <a:r>
              <a:rPr lang="en-US" sz="1400" dirty="0"/>
              <a:t> </a:t>
            </a:r>
            <a:r>
              <a:rPr lang="en-US" sz="1400" dirty="0" err="1"/>
              <a:t>hình</a:t>
            </a:r>
            <a:endParaRPr lang="en-US" sz="1400" dirty="0"/>
          </a:p>
          <a:p>
            <a:endParaRPr lang="en-US" sz="1400" dirty="0"/>
          </a:p>
        </p:txBody>
      </p:sp>
      <p:pic>
        <p:nvPicPr>
          <p:cNvPr id="7" name="Picture 6">
            <a:extLst>
              <a:ext uri="{FF2B5EF4-FFF2-40B4-BE49-F238E27FC236}">
                <a16:creationId xmlns:a16="http://schemas.microsoft.com/office/drawing/2014/main" id="{96FE4215-1B8F-5497-2019-829FD9E044C1}"/>
              </a:ext>
            </a:extLst>
          </p:cNvPr>
          <p:cNvPicPr>
            <a:picLocks noChangeAspect="1"/>
          </p:cNvPicPr>
          <p:nvPr/>
        </p:nvPicPr>
        <p:blipFill>
          <a:blip r:embed="rId2"/>
          <a:stretch>
            <a:fillRect/>
          </a:stretch>
        </p:blipFill>
        <p:spPr>
          <a:xfrm>
            <a:off x="5759531" y="2888528"/>
            <a:ext cx="2215704" cy="937554"/>
          </a:xfrm>
          <a:prstGeom prst="rect">
            <a:avLst/>
          </a:prstGeom>
        </p:spPr>
      </p:pic>
      <p:pic>
        <p:nvPicPr>
          <p:cNvPr id="10" name="Picture 9">
            <a:extLst>
              <a:ext uri="{FF2B5EF4-FFF2-40B4-BE49-F238E27FC236}">
                <a16:creationId xmlns:a16="http://schemas.microsoft.com/office/drawing/2014/main" id="{E9808A88-3807-26BE-5980-F168B56DAD76}"/>
              </a:ext>
            </a:extLst>
          </p:cNvPr>
          <p:cNvPicPr>
            <a:picLocks noChangeAspect="1"/>
          </p:cNvPicPr>
          <p:nvPr/>
        </p:nvPicPr>
        <p:blipFill>
          <a:blip r:embed="rId3"/>
          <a:stretch>
            <a:fillRect/>
          </a:stretch>
        </p:blipFill>
        <p:spPr>
          <a:xfrm>
            <a:off x="3689414" y="2903449"/>
            <a:ext cx="1095528" cy="647790"/>
          </a:xfrm>
          <a:prstGeom prst="rect">
            <a:avLst/>
          </a:prstGeom>
        </p:spPr>
      </p:pic>
    </p:spTree>
    <p:extLst>
      <p:ext uri="{BB962C8B-B14F-4D97-AF65-F5344CB8AC3E}">
        <p14:creationId xmlns:p14="http://schemas.microsoft.com/office/powerpoint/2010/main" val="1870504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4" name="TextBox 3">
            <a:extLst>
              <a:ext uri="{FF2B5EF4-FFF2-40B4-BE49-F238E27FC236}">
                <a16:creationId xmlns:a16="http://schemas.microsoft.com/office/drawing/2014/main" id="{90E03B29-F170-7930-E966-08D3B2BF1052}"/>
              </a:ext>
            </a:extLst>
          </p:cNvPr>
          <p:cNvSpPr txBox="1"/>
          <p:nvPr/>
        </p:nvSpPr>
        <p:spPr>
          <a:xfrm>
            <a:off x="466494" y="1007497"/>
            <a:ext cx="3930142" cy="3754874"/>
          </a:xfrm>
          <a:prstGeom prst="rect">
            <a:avLst/>
          </a:prstGeom>
          <a:noFill/>
        </p:spPr>
        <p:txBody>
          <a:bodyPr wrap="square" rtlCol="0">
            <a:spAutoFit/>
          </a:bodyPr>
          <a:lstStyle/>
          <a:p>
            <a:r>
              <a:rPr lang="en-US" sz="1400" dirty="0"/>
              <a:t>3.2 </a:t>
            </a:r>
            <a:r>
              <a:rPr lang="en-US" sz="1400" dirty="0" err="1"/>
              <a:t>Khung</a:t>
            </a:r>
            <a:r>
              <a:rPr lang="en-US" sz="1400" dirty="0"/>
              <a:t> </a:t>
            </a:r>
            <a:r>
              <a:rPr lang="en-US" sz="1400" dirty="0" err="1"/>
              <a:t>truyền</a:t>
            </a:r>
            <a:r>
              <a:rPr lang="en-US" sz="1400" dirty="0"/>
              <a:t> tin</a:t>
            </a:r>
          </a:p>
          <a:p>
            <a:r>
              <a:rPr lang="en-US" sz="1400" dirty="0" err="1"/>
              <a:t>Khung</a:t>
            </a:r>
            <a:r>
              <a:rPr lang="en-US" sz="1400" dirty="0"/>
              <a:t> </a:t>
            </a:r>
            <a:r>
              <a:rPr lang="en-US" sz="1400" dirty="0" err="1"/>
              <a:t>bản</a:t>
            </a:r>
            <a:r>
              <a:rPr lang="en-US" sz="1400" dirty="0"/>
              <a:t> tin explicit:</a:t>
            </a:r>
          </a:p>
          <a:p>
            <a:r>
              <a:rPr lang="en-US" sz="1400" dirty="0"/>
              <a:t>Preamble : </a:t>
            </a:r>
            <a:r>
              <a:rPr lang="en-US" sz="1400" dirty="0" err="1"/>
              <a:t>đồng</a:t>
            </a:r>
            <a:r>
              <a:rPr lang="en-US" sz="1400" dirty="0"/>
              <a:t> </a:t>
            </a:r>
            <a:r>
              <a:rPr lang="en-US" sz="1400" dirty="0" err="1"/>
              <a:t>bộ</a:t>
            </a:r>
            <a:r>
              <a:rPr lang="en-US" sz="1400" dirty="0"/>
              <a:t> </a:t>
            </a:r>
            <a:r>
              <a:rPr lang="en-US" sz="1400" dirty="0" err="1"/>
              <a:t>tín</a:t>
            </a:r>
            <a:r>
              <a:rPr lang="en-US" sz="1400" dirty="0"/>
              <a:t> </a:t>
            </a:r>
            <a:r>
              <a:rPr lang="en-US" sz="1400" dirty="0" err="1"/>
              <a:t>hiệu</a:t>
            </a:r>
            <a:r>
              <a:rPr lang="en-US" sz="1400" dirty="0"/>
              <a:t>, </a:t>
            </a:r>
            <a:r>
              <a:rPr lang="en-US" sz="1400" dirty="0" err="1"/>
              <a:t>có</a:t>
            </a:r>
            <a:r>
              <a:rPr lang="en-US" sz="1400" dirty="0"/>
              <a:t> </a:t>
            </a:r>
            <a:r>
              <a:rPr lang="en-US" sz="1400" dirty="0" err="1"/>
              <a:t>thể</a:t>
            </a:r>
            <a:r>
              <a:rPr lang="en-US" sz="1400" dirty="0"/>
              <a:t> </a:t>
            </a:r>
            <a:r>
              <a:rPr lang="en-US" sz="1400" dirty="0" err="1"/>
              <a:t>thay</a:t>
            </a:r>
            <a:r>
              <a:rPr lang="en-US" sz="1400" dirty="0"/>
              <a:t> </a:t>
            </a:r>
            <a:r>
              <a:rPr lang="en-US" sz="1400" dirty="0" err="1"/>
              <a:t>đổi</a:t>
            </a:r>
            <a:r>
              <a:rPr lang="en-US" sz="1400" dirty="0"/>
              <a:t> </a:t>
            </a:r>
            <a:r>
              <a:rPr lang="en-US" sz="1400" dirty="0" err="1"/>
              <a:t>độ</a:t>
            </a:r>
            <a:r>
              <a:rPr lang="en-US" sz="1400" dirty="0"/>
              <a:t> </a:t>
            </a:r>
            <a:r>
              <a:rPr lang="en-US" sz="1400" dirty="0" err="1"/>
              <a:t>dài</a:t>
            </a:r>
            <a:r>
              <a:rPr lang="en-US" sz="1400" dirty="0"/>
              <a:t> </a:t>
            </a:r>
          </a:p>
          <a:p>
            <a:r>
              <a:rPr lang="en-US" sz="1400" dirty="0" err="1"/>
              <a:t>từ</a:t>
            </a:r>
            <a:r>
              <a:rPr lang="en-US" sz="1400" dirty="0"/>
              <a:t> 6+4 ~ 65535+4</a:t>
            </a:r>
          </a:p>
          <a:p>
            <a:r>
              <a:rPr lang="en-US" sz="1400" dirty="0"/>
              <a:t>Header: </a:t>
            </a:r>
            <a:r>
              <a:rPr lang="en-US" sz="1400" dirty="0" err="1"/>
              <a:t>chứa</a:t>
            </a:r>
            <a:r>
              <a:rPr lang="en-US" sz="1400" dirty="0"/>
              <a:t> </a:t>
            </a:r>
            <a:r>
              <a:rPr lang="en-US" sz="1400" dirty="0" err="1"/>
              <a:t>dữ</a:t>
            </a:r>
            <a:r>
              <a:rPr lang="en-US" sz="1400" dirty="0"/>
              <a:t> </a:t>
            </a:r>
            <a:r>
              <a:rPr lang="en-US" sz="1400" dirty="0" err="1"/>
              <a:t>liệu</a:t>
            </a:r>
            <a:r>
              <a:rPr lang="en-US" sz="1400" dirty="0"/>
              <a:t> </a:t>
            </a:r>
            <a:r>
              <a:rPr lang="en-US" sz="1400" dirty="0" err="1"/>
              <a:t>về</a:t>
            </a:r>
            <a:r>
              <a:rPr lang="en-US" sz="1400" dirty="0"/>
              <a:t> </a:t>
            </a:r>
            <a:r>
              <a:rPr lang="en-US" sz="1400" dirty="0" err="1"/>
              <a:t>độ</a:t>
            </a:r>
            <a:r>
              <a:rPr lang="en-US" sz="1400" dirty="0"/>
              <a:t> </a:t>
            </a:r>
            <a:r>
              <a:rPr lang="en-US" sz="1400" dirty="0" err="1"/>
              <a:t>dài</a:t>
            </a:r>
            <a:r>
              <a:rPr lang="en-US" sz="1400" dirty="0"/>
              <a:t> payload (byte), </a:t>
            </a:r>
            <a:r>
              <a:rPr lang="en-US" sz="1400" dirty="0" err="1"/>
              <a:t>CR,có</a:t>
            </a:r>
            <a:r>
              <a:rPr lang="en-US" sz="1400" dirty="0"/>
              <a:t> dung CRC hay ko</a:t>
            </a:r>
          </a:p>
          <a:p>
            <a:r>
              <a:rPr lang="en-US" sz="1400" dirty="0"/>
              <a:t>Payload: </a:t>
            </a:r>
            <a:r>
              <a:rPr lang="en-US" sz="1400" dirty="0" err="1"/>
              <a:t>chứa</a:t>
            </a:r>
            <a:r>
              <a:rPr lang="en-US" sz="1400" dirty="0"/>
              <a:t> </a:t>
            </a:r>
            <a:r>
              <a:rPr lang="en-US" sz="1400" dirty="0" err="1"/>
              <a:t>dữ</a:t>
            </a:r>
            <a:r>
              <a:rPr lang="en-US" sz="1400" dirty="0"/>
              <a:t> </a:t>
            </a:r>
            <a:r>
              <a:rPr lang="en-US" sz="1400" dirty="0" err="1"/>
              <a:t>liệu</a:t>
            </a:r>
            <a:r>
              <a:rPr lang="en-US" sz="1400" dirty="0"/>
              <a:t> </a:t>
            </a:r>
            <a:r>
              <a:rPr lang="en-US" sz="1400" dirty="0" err="1"/>
              <a:t>truyền</a:t>
            </a:r>
            <a:r>
              <a:rPr lang="en-US" sz="1400" dirty="0"/>
              <a:t> </a:t>
            </a:r>
            <a:r>
              <a:rPr lang="en-US" sz="1400" dirty="0" err="1"/>
              <a:t>đi</a:t>
            </a:r>
            <a:endParaRPr lang="en-US" sz="1400" dirty="0"/>
          </a:p>
          <a:p>
            <a:r>
              <a:rPr lang="en-US" sz="1400" dirty="0" err="1"/>
              <a:t>Cách</a:t>
            </a:r>
            <a:r>
              <a:rPr lang="en-US" sz="1400" dirty="0"/>
              <a:t> </a:t>
            </a:r>
            <a:r>
              <a:rPr lang="en-US" sz="1400" dirty="0" err="1"/>
              <a:t>cấu</a:t>
            </a:r>
            <a:r>
              <a:rPr lang="en-US" sz="1400" dirty="0"/>
              <a:t> </a:t>
            </a:r>
            <a:r>
              <a:rPr lang="en-US" sz="1400" dirty="0" err="1"/>
              <a:t>hình</a:t>
            </a:r>
            <a:r>
              <a:rPr lang="en-US" sz="1400" dirty="0"/>
              <a:t> </a:t>
            </a:r>
            <a:r>
              <a:rPr lang="en-US" sz="1400" dirty="0" err="1"/>
              <a:t>và</a:t>
            </a:r>
            <a:r>
              <a:rPr lang="en-US" sz="1400" dirty="0"/>
              <a:t> </a:t>
            </a:r>
            <a:r>
              <a:rPr lang="en-US" sz="1400" dirty="0" err="1"/>
              <a:t>kiểm</a:t>
            </a:r>
            <a:r>
              <a:rPr lang="en-US" sz="1400" dirty="0"/>
              <a:t> </a:t>
            </a:r>
            <a:r>
              <a:rPr lang="en-US" sz="1400" dirty="0" err="1"/>
              <a:t>tra</a:t>
            </a:r>
            <a:r>
              <a:rPr lang="en-US" sz="1400" dirty="0"/>
              <a:t> CRC (</a:t>
            </a:r>
            <a:r>
              <a:rPr lang="en-US" sz="1400" dirty="0" err="1"/>
              <a:t>trang</a:t>
            </a:r>
            <a:r>
              <a:rPr lang="en-US" sz="1400" dirty="0"/>
              <a:t> 30)</a:t>
            </a:r>
          </a:p>
          <a:p>
            <a:endParaRPr lang="en-US" sz="1400" dirty="0"/>
          </a:p>
          <a:p>
            <a:r>
              <a:rPr lang="en-US" sz="1400" dirty="0"/>
              <a:t>3.3 time on air</a:t>
            </a:r>
          </a:p>
          <a:p>
            <a:r>
              <a:rPr lang="en-US" sz="1400" dirty="0" err="1"/>
              <a:t>Tính</a:t>
            </a:r>
            <a:r>
              <a:rPr lang="en-US" sz="1400" dirty="0"/>
              <a:t> </a:t>
            </a:r>
            <a:r>
              <a:rPr lang="en-US" sz="1400" dirty="0" err="1"/>
              <a:t>toán</a:t>
            </a:r>
            <a:r>
              <a:rPr lang="en-US" sz="1400" dirty="0"/>
              <a:t> </a:t>
            </a:r>
            <a:r>
              <a:rPr lang="en-US" sz="1400" dirty="0" err="1"/>
              <a:t>khoảng</a:t>
            </a:r>
            <a:r>
              <a:rPr lang="en-US" sz="1400" dirty="0"/>
              <a:t> </a:t>
            </a:r>
            <a:r>
              <a:rPr lang="en-US" sz="1400" dirty="0" err="1"/>
              <a:t>thời</a:t>
            </a:r>
            <a:r>
              <a:rPr lang="en-US" sz="1400" dirty="0"/>
              <a:t> </a:t>
            </a:r>
            <a:r>
              <a:rPr lang="en-US" sz="1400" dirty="0" err="1"/>
              <a:t>gian</a:t>
            </a:r>
            <a:r>
              <a:rPr lang="en-US" sz="1400" dirty="0"/>
              <a:t> </a:t>
            </a:r>
            <a:r>
              <a:rPr lang="en-US" sz="1400" dirty="0" err="1"/>
              <a:t>truyền</a:t>
            </a:r>
            <a:r>
              <a:rPr lang="en-US" sz="1400" dirty="0"/>
              <a:t> 1 </a:t>
            </a:r>
            <a:r>
              <a:rPr lang="en-US" sz="1400" dirty="0" err="1"/>
              <a:t>bản</a:t>
            </a:r>
            <a:r>
              <a:rPr lang="en-US" sz="1400" dirty="0"/>
              <a:t> tin</a:t>
            </a:r>
          </a:p>
          <a:p>
            <a:endParaRPr lang="en-US" sz="1400" dirty="0"/>
          </a:p>
          <a:p>
            <a:endParaRPr lang="en-US" sz="1400" dirty="0"/>
          </a:p>
          <a:p>
            <a:endParaRPr lang="en-US" sz="1400" dirty="0"/>
          </a:p>
          <a:p>
            <a:endParaRPr lang="en-US" sz="1400" dirty="0"/>
          </a:p>
          <a:p>
            <a:r>
              <a:rPr lang="en-US" sz="1400" dirty="0"/>
              <a:t>3.4 </a:t>
            </a:r>
            <a:r>
              <a:rPr lang="en-US" sz="1400" dirty="0" err="1"/>
              <a:t>chế</a:t>
            </a:r>
            <a:r>
              <a:rPr lang="en-US" sz="1400" dirty="0"/>
              <a:t> </a:t>
            </a:r>
            <a:r>
              <a:rPr lang="en-US" sz="1400" dirty="0" err="1"/>
              <a:t>độ</a:t>
            </a:r>
            <a:r>
              <a:rPr lang="en-US" sz="1400" dirty="0"/>
              <a:t> </a:t>
            </a:r>
            <a:r>
              <a:rPr lang="en-US" sz="1400" dirty="0" err="1"/>
              <a:t>lowdata</a:t>
            </a:r>
            <a:r>
              <a:rPr lang="en-US" sz="1400" dirty="0"/>
              <a:t> rate</a:t>
            </a:r>
          </a:p>
          <a:p>
            <a:r>
              <a:rPr lang="en-US" sz="1400" dirty="0" err="1"/>
              <a:t>Cần</a:t>
            </a:r>
            <a:r>
              <a:rPr lang="en-US" sz="1400" dirty="0"/>
              <a:t> </a:t>
            </a:r>
            <a:r>
              <a:rPr lang="en-US" sz="1400" dirty="0" err="1"/>
              <a:t>cấu</a:t>
            </a:r>
            <a:r>
              <a:rPr lang="en-US" sz="1400" dirty="0"/>
              <a:t> </a:t>
            </a:r>
            <a:r>
              <a:rPr lang="en-US" sz="1400" dirty="0" err="1"/>
              <a:t>hình</a:t>
            </a:r>
            <a:r>
              <a:rPr lang="en-US" sz="1400" dirty="0"/>
              <a:t> </a:t>
            </a:r>
            <a:r>
              <a:rPr lang="en-US" sz="1400" dirty="0" err="1"/>
              <a:t>khi</a:t>
            </a:r>
            <a:r>
              <a:rPr lang="en-US" sz="1400" dirty="0"/>
              <a:t> Ts&gt;16ms</a:t>
            </a:r>
          </a:p>
        </p:txBody>
      </p:sp>
      <p:pic>
        <p:nvPicPr>
          <p:cNvPr id="8" name="Picture 7">
            <a:extLst>
              <a:ext uri="{FF2B5EF4-FFF2-40B4-BE49-F238E27FC236}">
                <a16:creationId xmlns:a16="http://schemas.microsoft.com/office/drawing/2014/main" id="{F6975934-1E5D-AD9E-A310-38388FE00DA7}"/>
              </a:ext>
            </a:extLst>
          </p:cNvPr>
          <p:cNvPicPr>
            <a:picLocks noChangeAspect="1"/>
          </p:cNvPicPr>
          <p:nvPr/>
        </p:nvPicPr>
        <p:blipFill>
          <a:blip r:embed="rId2"/>
          <a:stretch>
            <a:fillRect/>
          </a:stretch>
        </p:blipFill>
        <p:spPr>
          <a:xfrm>
            <a:off x="4334005" y="1007497"/>
            <a:ext cx="4426034" cy="1400407"/>
          </a:xfrm>
          <a:prstGeom prst="rect">
            <a:avLst/>
          </a:prstGeom>
        </p:spPr>
      </p:pic>
      <p:pic>
        <p:nvPicPr>
          <p:cNvPr id="11" name="Picture 10">
            <a:extLst>
              <a:ext uri="{FF2B5EF4-FFF2-40B4-BE49-F238E27FC236}">
                <a16:creationId xmlns:a16="http://schemas.microsoft.com/office/drawing/2014/main" id="{075F71AB-1B73-EE5A-57FE-C349558D5B56}"/>
              </a:ext>
            </a:extLst>
          </p:cNvPr>
          <p:cNvPicPr>
            <a:picLocks noChangeAspect="1"/>
          </p:cNvPicPr>
          <p:nvPr/>
        </p:nvPicPr>
        <p:blipFill>
          <a:blip r:embed="rId3"/>
          <a:stretch>
            <a:fillRect/>
          </a:stretch>
        </p:blipFill>
        <p:spPr>
          <a:xfrm>
            <a:off x="4440429" y="2462974"/>
            <a:ext cx="3770336" cy="3000160"/>
          </a:xfrm>
          <a:prstGeom prst="rect">
            <a:avLst/>
          </a:prstGeom>
        </p:spPr>
      </p:pic>
      <p:pic>
        <p:nvPicPr>
          <p:cNvPr id="13" name="Picture 12">
            <a:extLst>
              <a:ext uri="{FF2B5EF4-FFF2-40B4-BE49-F238E27FC236}">
                <a16:creationId xmlns:a16="http://schemas.microsoft.com/office/drawing/2014/main" id="{1294F52C-14C1-E03B-3AE0-92A540749A87}"/>
              </a:ext>
            </a:extLst>
          </p:cNvPr>
          <p:cNvPicPr>
            <a:picLocks noChangeAspect="1"/>
          </p:cNvPicPr>
          <p:nvPr/>
        </p:nvPicPr>
        <p:blipFill>
          <a:blip r:embed="rId4"/>
          <a:stretch>
            <a:fillRect/>
          </a:stretch>
        </p:blipFill>
        <p:spPr>
          <a:xfrm>
            <a:off x="422701" y="4721510"/>
            <a:ext cx="3973935" cy="681000"/>
          </a:xfrm>
          <a:prstGeom prst="rect">
            <a:avLst/>
          </a:prstGeom>
        </p:spPr>
      </p:pic>
    </p:spTree>
    <p:extLst>
      <p:ext uri="{BB962C8B-B14F-4D97-AF65-F5344CB8AC3E}">
        <p14:creationId xmlns:p14="http://schemas.microsoft.com/office/powerpoint/2010/main" val="122013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pic>
        <p:nvPicPr>
          <p:cNvPr id="7" name="Picture 6">
            <a:extLst>
              <a:ext uri="{FF2B5EF4-FFF2-40B4-BE49-F238E27FC236}">
                <a16:creationId xmlns:a16="http://schemas.microsoft.com/office/drawing/2014/main" id="{0043022D-3A08-6EDF-4CF2-2E62FE3BA2AA}"/>
              </a:ext>
            </a:extLst>
          </p:cNvPr>
          <p:cNvPicPr>
            <a:picLocks noChangeAspect="1"/>
          </p:cNvPicPr>
          <p:nvPr/>
        </p:nvPicPr>
        <p:blipFill>
          <a:blip r:embed="rId2"/>
          <a:stretch>
            <a:fillRect/>
          </a:stretch>
        </p:blipFill>
        <p:spPr>
          <a:xfrm>
            <a:off x="4969714" y="1363264"/>
            <a:ext cx="4174286" cy="2881076"/>
          </a:xfrm>
          <a:prstGeom prst="rect">
            <a:avLst/>
          </a:prstGeom>
        </p:spPr>
      </p:pic>
      <p:sp>
        <p:nvSpPr>
          <p:cNvPr id="9" name="TextBox 8">
            <a:extLst>
              <a:ext uri="{FF2B5EF4-FFF2-40B4-BE49-F238E27FC236}">
                <a16:creationId xmlns:a16="http://schemas.microsoft.com/office/drawing/2014/main" id="{B392743C-32A8-39DA-1B99-A7C7705A989B}"/>
              </a:ext>
            </a:extLst>
          </p:cNvPr>
          <p:cNvSpPr txBox="1"/>
          <p:nvPr/>
        </p:nvSpPr>
        <p:spPr>
          <a:xfrm>
            <a:off x="485283" y="947955"/>
            <a:ext cx="5001117" cy="7017306"/>
          </a:xfrm>
          <a:prstGeom prst="rect">
            <a:avLst/>
          </a:prstGeom>
          <a:noFill/>
        </p:spPr>
        <p:txBody>
          <a:bodyPr wrap="square" rtlCol="0">
            <a:spAutoFit/>
          </a:bodyPr>
          <a:lstStyle/>
          <a:p>
            <a:r>
              <a:rPr lang="en-US" dirty="0"/>
              <a:t>3.5. LoRa FIFO data buffer</a:t>
            </a:r>
          </a:p>
          <a:p>
            <a:r>
              <a:rPr lang="en-US" dirty="0"/>
              <a:t>Dung </a:t>
            </a:r>
            <a:r>
              <a:rPr lang="en-US" dirty="0" err="1"/>
              <a:t>lượng</a:t>
            </a:r>
            <a:r>
              <a:rPr lang="en-US" dirty="0"/>
              <a:t> 256 bytes RAM, data </a:t>
            </a:r>
            <a:r>
              <a:rPr lang="en-US" dirty="0" err="1"/>
              <a:t>truyền</a:t>
            </a:r>
            <a:r>
              <a:rPr lang="en-US" dirty="0"/>
              <a:t> </a:t>
            </a:r>
            <a:r>
              <a:rPr lang="en-US" dirty="0" err="1"/>
              <a:t>và</a:t>
            </a:r>
            <a:r>
              <a:rPr lang="en-US" dirty="0"/>
              <a:t> </a:t>
            </a:r>
            <a:r>
              <a:rPr lang="en-US" dirty="0" err="1"/>
              <a:t>nhận</a:t>
            </a:r>
            <a:r>
              <a:rPr lang="en-US" dirty="0"/>
              <a:t> (payload) </a:t>
            </a:r>
            <a:r>
              <a:rPr lang="en-US" dirty="0" err="1"/>
              <a:t>dùng</a:t>
            </a:r>
            <a:r>
              <a:rPr lang="en-US" dirty="0"/>
              <a:t> </a:t>
            </a:r>
            <a:r>
              <a:rPr lang="en-US" dirty="0" err="1"/>
              <a:t>chung</a:t>
            </a:r>
            <a:r>
              <a:rPr lang="en-US" dirty="0"/>
              <a:t> 1 </a:t>
            </a:r>
            <a:r>
              <a:rPr lang="en-US" dirty="0" err="1"/>
              <a:t>vùng</a:t>
            </a:r>
            <a:r>
              <a:rPr lang="en-US" dirty="0"/>
              <a:t> </a:t>
            </a:r>
            <a:r>
              <a:rPr lang="en-US" dirty="0" err="1"/>
              <a:t>nhớ</a:t>
            </a:r>
            <a:r>
              <a:rPr lang="en-US" dirty="0"/>
              <a:t> </a:t>
            </a:r>
            <a:r>
              <a:rPr lang="en-US" dirty="0" err="1"/>
              <a:t>này</a:t>
            </a:r>
            <a:r>
              <a:rPr lang="en-US" dirty="0"/>
              <a:t>, ko </a:t>
            </a:r>
            <a:r>
              <a:rPr lang="en-US" dirty="0" err="1"/>
              <a:t>truy</a:t>
            </a:r>
            <a:r>
              <a:rPr lang="en-US" dirty="0"/>
              <a:t> </a:t>
            </a:r>
            <a:r>
              <a:rPr lang="en-US" dirty="0" err="1"/>
              <a:t>cập</a:t>
            </a:r>
            <a:r>
              <a:rPr lang="en-US" dirty="0"/>
              <a:t> </a:t>
            </a:r>
            <a:r>
              <a:rPr lang="en-US" dirty="0" err="1"/>
              <a:t>được</a:t>
            </a:r>
            <a:r>
              <a:rPr lang="en-US" dirty="0"/>
              <a:t> ở sleep mode </a:t>
            </a:r>
            <a:r>
              <a:rPr lang="en-US" dirty="0" err="1"/>
              <a:t>và</a:t>
            </a:r>
            <a:r>
              <a:rPr lang="en-US" dirty="0"/>
              <a:t> </a:t>
            </a:r>
            <a:r>
              <a:rPr lang="en-US" dirty="0" err="1"/>
              <a:t>bị</a:t>
            </a:r>
            <a:r>
              <a:rPr lang="en-US" dirty="0"/>
              <a:t> clear </a:t>
            </a:r>
            <a:r>
              <a:rPr lang="en-US" dirty="0" err="1"/>
              <a:t>khi</a:t>
            </a:r>
            <a:r>
              <a:rPr lang="en-US" dirty="0"/>
              <a:t> modem </a:t>
            </a:r>
            <a:r>
              <a:rPr lang="en-US" dirty="0" err="1"/>
              <a:t>vào</a:t>
            </a:r>
            <a:r>
              <a:rPr lang="en-US" dirty="0"/>
              <a:t> sleep mode</a:t>
            </a:r>
          </a:p>
          <a:p>
            <a:r>
              <a:rPr lang="en-US" dirty="0" err="1"/>
              <a:t>Các</a:t>
            </a:r>
            <a:r>
              <a:rPr lang="en-US" dirty="0"/>
              <a:t> </a:t>
            </a:r>
            <a:r>
              <a:rPr lang="en-US" dirty="0" err="1"/>
              <a:t>thanh</a:t>
            </a:r>
            <a:r>
              <a:rPr lang="en-US" dirty="0"/>
              <a:t> </a:t>
            </a:r>
            <a:r>
              <a:rPr lang="en-US" dirty="0" err="1"/>
              <a:t>ghi</a:t>
            </a:r>
            <a:r>
              <a:rPr lang="en-US" dirty="0"/>
              <a:t> </a:t>
            </a:r>
            <a:r>
              <a:rPr lang="en-US" dirty="0" err="1"/>
              <a:t>truy</a:t>
            </a:r>
            <a:r>
              <a:rPr lang="en-US" dirty="0"/>
              <a:t> </a:t>
            </a:r>
            <a:r>
              <a:rPr lang="en-US" dirty="0" err="1"/>
              <a:t>cập</a:t>
            </a:r>
            <a:r>
              <a:rPr lang="en-US" dirty="0"/>
              <a:t> FIFO:</a:t>
            </a:r>
          </a:p>
          <a:p>
            <a:pPr marL="285750" indent="-285750">
              <a:buFont typeface="Wingdings" panose="05000000000000000000" pitchFamily="2" charset="2"/>
              <a:buChar char="Ø"/>
            </a:pPr>
            <a:r>
              <a:rPr lang="en-US" dirty="0" err="1"/>
              <a:t>RegFifoTxBaseAddr</a:t>
            </a:r>
            <a:r>
              <a:rPr lang="en-US" dirty="0"/>
              <a:t>: </a:t>
            </a:r>
            <a:r>
              <a:rPr lang="en-US" dirty="0" err="1"/>
              <a:t>chứa</a:t>
            </a:r>
            <a:r>
              <a:rPr lang="en-US" dirty="0"/>
              <a:t> </a:t>
            </a:r>
            <a:r>
              <a:rPr lang="en-US" dirty="0" err="1"/>
              <a:t>vùng</a:t>
            </a:r>
            <a:r>
              <a:rPr lang="en-US" dirty="0"/>
              <a:t> </a:t>
            </a:r>
            <a:r>
              <a:rPr lang="en-US" dirty="0" err="1"/>
              <a:t>địa</a:t>
            </a:r>
            <a:r>
              <a:rPr lang="en-US" dirty="0"/>
              <a:t> </a:t>
            </a:r>
            <a:r>
              <a:rPr lang="en-US" dirty="0" err="1"/>
              <a:t>chỉ</a:t>
            </a:r>
            <a:r>
              <a:rPr lang="en-US" dirty="0"/>
              <a:t> </a:t>
            </a:r>
            <a:r>
              <a:rPr lang="en-US" dirty="0" err="1"/>
              <a:t>vùng</a:t>
            </a:r>
            <a:r>
              <a:rPr lang="en-US" dirty="0"/>
              <a:t> </a:t>
            </a:r>
            <a:r>
              <a:rPr lang="en-US" dirty="0" err="1"/>
              <a:t>nhớ</a:t>
            </a:r>
            <a:r>
              <a:rPr lang="en-US" dirty="0"/>
              <a:t> </a:t>
            </a:r>
            <a:r>
              <a:rPr lang="en-US" dirty="0" err="1"/>
              <a:t>lưu</a:t>
            </a:r>
            <a:r>
              <a:rPr lang="en-US" dirty="0"/>
              <a:t> </a:t>
            </a:r>
            <a:r>
              <a:rPr lang="en-US" dirty="0" err="1"/>
              <a:t>trữ</a:t>
            </a:r>
            <a:r>
              <a:rPr lang="en-US" dirty="0"/>
              <a:t> data </a:t>
            </a:r>
            <a:r>
              <a:rPr lang="en-US" dirty="0" err="1"/>
              <a:t>truyền</a:t>
            </a:r>
            <a:r>
              <a:rPr lang="en-US" dirty="0"/>
              <a:t> default: 0x80</a:t>
            </a:r>
          </a:p>
          <a:p>
            <a:pPr marL="285750" indent="-285750">
              <a:buFont typeface="Wingdings" panose="05000000000000000000" pitchFamily="2" charset="2"/>
              <a:buChar char="Ø"/>
            </a:pPr>
            <a:r>
              <a:rPr lang="en-US" dirty="0" err="1"/>
              <a:t>RegFifoRxBaseAddr</a:t>
            </a:r>
            <a:r>
              <a:rPr lang="en-US" dirty="0"/>
              <a:t> : </a:t>
            </a:r>
            <a:r>
              <a:rPr lang="en-US" dirty="0" err="1"/>
              <a:t>chứa</a:t>
            </a:r>
            <a:r>
              <a:rPr lang="en-US" dirty="0"/>
              <a:t> </a:t>
            </a:r>
            <a:r>
              <a:rPr lang="en-US" dirty="0" err="1"/>
              <a:t>địa</a:t>
            </a:r>
            <a:r>
              <a:rPr lang="en-US" dirty="0"/>
              <a:t> </a:t>
            </a:r>
            <a:r>
              <a:rPr lang="en-US" dirty="0" err="1"/>
              <a:t>chỉ</a:t>
            </a:r>
            <a:r>
              <a:rPr lang="en-US" dirty="0"/>
              <a:t> </a:t>
            </a:r>
            <a:r>
              <a:rPr lang="en-US" dirty="0" err="1"/>
              <a:t>vùng</a:t>
            </a:r>
            <a:r>
              <a:rPr lang="en-US" dirty="0"/>
              <a:t> </a:t>
            </a:r>
            <a:r>
              <a:rPr lang="en-US" dirty="0" err="1"/>
              <a:t>nhớ</a:t>
            </a:r>
            <a:r>
              <a:rPr lang="en-US" dirty="0"/>
              <a:t> </a:t>
            </a:r>
            <a:r>
              <a:rPr lang="en-US" dirty="0" err="1"/>
              <a:t>lưu</a:t>
            </a:r>
            <a:r>
              <a:rPr lang="en-US" dirty="0"/>
              <a:t> </a:t>
            </a:r>
            <a:r>
              <a:rPr lang="en-US" dirty="0" err="1"/>
              <a:t>trữ</a:t>
            </a:r>
            <a:r>
              <a:rPr lang="en-US" dirty="0"/>
              <a:t> data </a:t>
            </a:r>
            <a:r>
              <a:rPr lang="en-US" dirty="0" err="1"/>
              <a:t>nhận</a:t>
            </a:r>
            <a:r>
              <a:rPr lang="en-US" dirty="0"/>
              <a:t> default: 0x00</a:t>
            </a:r>
          </a:p>
          <a:p>
            <a:pPr marL="285750" indent="-285750">
              <a:buFont typeface="Wingdings" panose="05000000000000000000" pitchFamily="2" charset="2"/>
              <a:buChar char="Ø"/>
            </a:pPr>
            <a:r>
              <a:rPr lang="en-US" dirty="0" err="1"/>
              <a:t>RegFifoAddrPtr</a:t>
            </a:r>
            <a:r>
              <a:rPr lang="en-US" dirty="0"/>
              <a:t> : </a:t>
            </a:r>
            <a:r>
              <a:rPr lang="en-US" dirty="0" err="1"/>
              <a:t>chứa</a:t>
            </a:r>
            <a:r>
              <a:rPr lang="en-US" dirty="0"/>
              <a:t> </a:t>
            </a:r>
            <a:r>
              <a:rPr lang="en-US" dirty="0" err="1"/>
              <a:t>địa</a:t>
            </a:r>
            <a:r>
              <a:rPr lang="en-US" dirty="0"/>
              <a:t> </a:t>
            </a:r>
            <a:r>
              <a:rPr lang="en-US" dirty="0" err="1"/>
              <a:t>chỉ</a:t>
            </a:r>
            <a:r>
              <a:rPr lang="en-US" dirty="0"/>
              <a:t> ô </a:t>
            </a:r>
            <a:r>
              <a:rPr lang="en-US" dirty="0" err="1"/>
              <a:t>nhớ</a:t>
            </a:r>
            <a:r>
              <a:rPr lang="en-US" dirty="0"/>
              <a:t> </a:t>
            </a:r>
            <a:r>
              <a:rPr lang="en-US" dirty="0" err="1"/>
              <a:t>hiện</a:t>
            </a:r>
            <a:r>
              <a:rPr lang="en-US" dirty="0"/>
              <a:t> </a:t>
            </a:r>
            <a:r>
              <a:rPr lang="en-US" dirty="0" err="1"/>
              <a:t>tại</a:t>
            </a:r>
            <a:r>
              <a:rPr lang="en-US" dirty="0"/>
              <a:t> </a:t>
            </a:r>
            <a:r>
              <a:rPr lang="en-US" dirty="0" err="1"/>
              <a:t>để</a:t>
            </a:r>
            <a:r>
              <a:rPr lang="en-US" dirty="0"/>
              <a:t> </a:t>
            </a:r>
            <a:r>
              <a:rPr lang="en-US" dirty="0" err="1"/>
              <a:t>thao</a:t>
            </a:r>
            <a:r>
              <a:rPr lang="en-US" dirty="0"/>
              <a:t> </a:t>
            </a:r>
            <a:r>
              <a:rPr lang="en-US" dirty="0" err="1"/>
              <a:t>thác</a:t>
            </a:r>
            <a:r>
              <a:rPr lang="en-US" dirty="0"/>
              <a:t> w/r</a:t>
            </a:r>
          </a:p>
          <a:p>
            <a:pPr marL="285750" indent="-285750">
              <a:buFont typeface="Wingdings" panose="05000000000000000000" pitchFamily="2" charset="2"/>
              <a:buChar char="Ø"/>
            </a:pPr>
            <a:r>
              <a:rPr lang="en-US" dirty="0" err="1"/>
              <a:t>RegRxNbBytes</a:t>
            </a:r>
            <a:r>
              <a:rPr lang="en-US" dirty="0"/>
              <a:t> : </a:t>
            </a:r>
            <a:r>
              <a:rPr lang="en-US" dirty="0" err="1"/>
              <a:t>kích</a:t>
            </a:r>
            <a:r>
              <a:rPr lang="en-US" dirty="0"/>
              <a:t> </a:t>
            </a:r>
            <a:r>
              <a:rPr lang="en-US" dirty="0" err="1"/>
              <a:t>thước</a:t>
            </a:r>
            <a:r>
              <a:rPr lang="en-US" dirty="0"/>
              <a:t> </a:t>
            </a:r>
            <a:r>
              <a:rPr lang="en-US" dirty="0" err="1"/>
              <a:t>vùng</a:t>
            </a:r>
            <a:r>
              <a:rPr lang="en-US" dirty="0"/>
              <a:t> </a:t>
            </a:r>
            <a:r>
              <a:rPr lang="en-US" dirty="0" err="1"/>
              <a:t>nhớ</a:t>
            </a:r>
            <a:r>
              <a:rPr lang="en-US" dirty="0"/>
              <a:t> </a:t>
            </a:r>
            <a:r>
              <a:rPr lang="en-US" dirty="0" err="1"/>
              <a:t>cần</a:t>
            </a:r>
            <a:r>
              <a:rPr lang="en-US" dirty="0"/>
              <a:t> </a:t>
            </a:r>
            <a:r>
              <a:rPr lang="en-US" dirty="0" err="1"/>
              <a:t>để</a:t>
            </a:r>
            <a:r>
              <a:rPr lang="en-US" dirty="0"/>
              <a:t> </a:t>
            </a:r>
            <a:r>
              <a:rPr lang="en-US" dirty="0" err="1"/>
              <a:t>lưu</a:t>
            </a:r>
            <a:r>
              <a:rPr lang="en-US" dirty="0"/>
              <a:t> </a:t>
            </a:r>
            <a:r>
              <a:rPr lang="en-US" dirty="0" err="1"/>
              <a:t>trữ</a:t>
            </a:r>
            <a:r>
              <a:rPr lang="en-US" dirty="0"/>
              <a:t> data </a:t>
            </a:r>
            <a:r>
              <a:rPr lang="en-US" dirty="0" err="1"/>
              <a:t>nếu</a:t>
            </a:r>
            <a:r>
              <a:rPr lang="en-US" dirty="0"/>
              <a:t> </a:t>
            </a:r>
            <a:r>
              <a:rPr lang="en-US" dirty="0" err="1"/>
              <a:t>nhận</a:t>
            </a:r>
            <a:r>
              <a:rPr lang="en-US" dirty="0"/>
              <a:t> </a:t>
            </a:r>
            <a:r>
              <a:rPr lang="en-US" dirty="0" err="1"/>
              <a:t>thành</a:t>
            </a:r>
            <a:r>
              <a:rPr lang="en-US" dirty="0"/>
              <a:t> </a:t>
            </a:r>
            <a:r>
              <a:rPr lang="en-US" dirty="0" err="1"/>
              <a:t>công</a:t>
            </a:r>
            <a:endParaRPr lang="en-US" dirty="0"/>
          </a:p>
          <a:p>
            <a:pPr marL="285750" indent="-285750">
              <a:buFont typeface="Wingdings" panose="05000000000000000000" pitchFamily="2" charset="2"/>
              <a:buChar char="Ø"/>
            </a:pPr>
            <a:r>
              <a:rPr lang="en-US" dirty="0" err="1"/>
              <a:t>RegPayloadLength</a:t>
            </a:r>
            <a:r>
              <a:rPr lang="en-US" dirty="0"/>
              <a:t> : </a:t>
            </a:r>
            <a:r>
              <a:rPr lang="en-US" dirty="0" err="1"/>
              <a:t>kích</a:t>
            </a:r>
            <a:r>
              <a:rPr lang="en-US" dirty="0"/>
              <a:t> </a:t>
            </a:r>
            <a:r>
              <a:rPr lang="en-US" dirty="0" err="1"/>
              <a:t>thước</a:t>
            </a:r>
            <a:r>
              <a:rPr lang="en-US" dirty="0"/>
              <a:t> </a:t>
            </a:r>
            <a:r>
              <a:rPr lang="en-US" dirty="0" err="1"/>
              <a:t>vùng</a:t>
            </a:r>
            <a:r>
              <a:rPr lang="en-US" dirty="0"/>
              <a:t> </a:t>
            </a:r>
            <a:r>
              <a:rPr lang="en-US" dirty="0" err="1"/>
              <a:t>nhớ</a:t>
            </a:r>
            <a:r>
              <a:rPr lang="en-US" dirty="0"/>
              <a:t> </a:t>
            </a:r>
            <a:r>
              <a:rPr lang="en-US" dirty="0" err="1"/>
              <a:t>cần</a:t>
            </a:r>
            <a:r>
              <a:rPr lang="en-US" dirty="0"/>
              <a:t> </a:t>
            </a:r>
            <a:r>
              <a:rPr lang="en-US" dirty="0" err="1"/>
              <a:t>để</a:t>
            </a:r>
            <a:r>
              <a:rPr lang="en-US" dirty="0"/>
              <a:t> </a:t>
            </a:r>
            <a:r>
              <a:rPr lang="en-US" dirty="0" err="1"/>
              <a:t>lưu</a:t>
            </a:r>
            <a:r>
              <a:rPr lang="en-US" dirty="0"/>
              <a:t> </a:t>
            </a:r>
            <a:r>
              <a:rPr lang="en-US" dirty="0" err="1"/>
              <a:t>trữ</a:t>
            </a:r>
            <a:r>
              <a:rPr lang="en-US" dirty="0"/>
              <a:t> data </a:t>
            </a:r>
            <a:r>
              <a:rPr lang="en-US" dirty="0" err="1"/>
              <a:t>truyền</a:t>
            </a:r>
            <a:endParaRPr lang="en-US" dirty="0"/>
          </a:p>
          <a:p>
            <a:pPr marL="285750" indent="-285750">
              <a:buFont typeface="Wingdings" panose="05000000000000000000" pitchFamily="2" charset="2"/>
              <a:buChar char="Ø"/>
            </a:pPr>
            <a:r>
              <a:rPr lang="en-US" dirty="0" err="1"/>
              <a:t>RegFifoRxCurrentAddr</a:t>
            </a:r>
            <a:r>
              <a:rPr lang="en-US" dirty="0"/>
              <a:t> : </a:t>
            </a:r>
            <a:r>
              <a:rPr lang="en-US" dirty="0" err="1"/>
              <a:t>chứa</a:t>
            </a:r>
            <a:r>
              <a:rPr lang="en-US" dirty="0"/>
              <a:t> </a:t>
            </a:r>
            <a:r>
              <a:rPr lang="en-US" dirty="0" err="1"/>
              <a:t>địa</a:t>
            </a:r>
            <a:r>
              <a:rPr lang="en-US" dirty="0"/>
              <a:t> </a:t>
            </a:r>
            <a:r>
              <a:rPr lang="en-US" dirty="0" err="1"/>
              <a:t>chỉ</a:t>
            </a:r>
            <a:r>
              <a:rPr lang="en-US" dirty="0"/>
              <a:t> </a:t>
            </a:r>
            <a:r>
              <a:rPr lang="en-US" dirty="0" err="1"/>
              <a:t>của</a:t>
            </a:r>
            <a:r>
              <a:rPr lang="en-US" dirty="0"/>
              <a:t> </a:t>
            </a:r>
            <a:r>
              <a:rPr lang="en-US" dirty="0" err="1"/>
              <a:t>gói</a:t>
            </a:r>
            <a:r>
              <a:rPr lang="en-US" dirty="0"/>
              <a:t> tin </a:t>
            </a:r>
            <a:r>
              <a:rPr lang="en-US" dirty="0" err="1"/>
              <a:t>cuối</a:t>
            </a:r>
            <a:r>
              <a:rPr lang="en-US" dirty="0"/>
              <a:t> </a:t>
            </a:r>
            <a:r>
              <a:rPr lang="en-US" dirty="0" err="1"/>
              <a:t>cùng</a:t>
            </a:r>
            <a:endParaRPr lang="en-US" dirty="0"/>
          </a:p>
          <a:p>
            <a:pPr marL="285750" indent="-285750">
              <a:buFont typeface="Wingdings" panose="05000000000000000000" pitchFamily="2" charset="2"/>
              <a:buChar char="Ø"/>
            </a:pPr>
            <a:r>
              <a:rPr lang="en-US" dirty="0" err="1"/>
              <a:t>RegFiFo</a:t>
            </a:r>
            <a:r>
              <a:rPr lang="en-US" dirty="0"/>
              <a:t>: </a:t>
            </a:r>
            <a:r>
              <a:rPr lang="en-US" dirty="0" err="1"/>
              <a:t>điều</a:t>
            </a:r>
            <a:r>
              <a:rPr lang="en-US" dirty="0"/>
              <a:t> </a:t>
            </a:r>
            <a:r>
              <a:rPr lang="en-US" dirty="0" err="1"/>
              <a:t>khiển</a:t>
            </a:r>
            <a:r>
              <a:rPr lang="en-US" dirty="0"/>
              <a:t> </a:t>
            </a:r>
            <a:r>
              <a:rPr lang="en-US" dirty="0" err="1"/>
              <a:t>đọc</a:t>
            </a:r>
            <a:r>
              <a:rPr lang="en-US" dirty="0"/>
              <a:t> </a:t>
            </a:r>
            <a:r>
              <a:rPr lang="en-US" dirty="0" err="1"/>
              <a:t>ghi</a:t>
            </a:r>
            <a:r>
              <a:rPr lang="en-US" dirty="0"/>
              <a:t> FIFO </a:t>
            </a:r>
            <a:r>
              <a:rPr lang="en-US" dirty="0" err="1"/>
              <a:t>thông</a:t>
            </a:r>
            <a:r>
              <a:rPr lang="en-US" dirty="0"/>
              <a:t> qua SPI</a:t>
            </a:r>
            <a:br>
              <a:rPr lang="en-US" dirty="0"/>
            </a:br>
            <a:endParaRPr lang="en-US" dirty="0"/>
          </a:p>
          <a:p>
            <a:br>
              <a:rPr lang="en-US" dirty="0"/>
            </a:br>
            <a:endParaRPr lang="en-US" dirty="0"/>
          </a:p>
          <a:p>
            <a:endParaRPr lang="en-US" dirty="0"/>
          </a:p>
          <a:p>
            <a:br>
              <a:rPr lang="en-US" dirty="0"/>
            </a:br>
            <a:endParaRPr lang="en-US" dirty="0"/>
          </a:p>
        </p:txBody>
      </p:sp>
    </p:spTree>
    <p:extLst>
      <p:ext uri="{BB962C8B-B14F-4D97-AF65-F5344CB8AC3E}">
        <p14:creationId xmlns:p14="http://schemas.microsoft.com/office/powerpoint/2010/main" val="1952592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dirty="0"/>
              <a:t>III. </a:t>
            </a:r>
            <a:r>
              <a:rPr lang="en-US" dirty="0"/>
              <a:t>C</a:t>
            </a:r>
            <a:r>
              <a:rPr lang="vi-VN" dirty="0"/>
              <a:t>ấu hình các thông số của LoRa</a:t>
            </a:r>
            <a:endParaRPr lang="en-US" dirty="0"/>
          </a:p>
        </p:txBody>
      </p:sp>
      <p:sp>
        <p:nvSpPr>
          <p:cNvPr id="9" name="TextBox 8">
            <a:extLst>
              <a:ext uri="{FF2B5EF4-FFF2-40B4-BE49-F238E27FC236}">
                <a16:creationId xmlns:a16="http://schemas.microsoft.com/office/drawing/2014/main" id="{B392743C-32A8-39DA-1B99-A7C7705A989B}"/>
              </a:ext>
            </a:extLst>
          </p:cNvPr>
          <p:cNvSpPr txBox="1"/>
          <p:nvPr/>
        </p:nvSpPr>
        <p:spPr>
          <a:xfrm>
            <a:off x="591963" y="1008915"/>
            <a:ext cx="7005177" cy="3262432"/>
          </a:xfrm>
          <a:prstGeom prst="rect">
            <a:avLst/>
          </a:prstGeom>
          <a:noFill/>
        </p:spPr>
        <p:txBody>
          <a:bodyPr wrap="square" rtlCol="0">
            <a:spAutoFit/>
          </a:bodyPr>
          <a:lstStyle/>
          <a:p>
            <a:r>
              <a:rPr lang="en-US" sz="1400" dirty="0"/>
              <a:t>3.6. </a:t>
            </a:r>
            <a:r>
              <a:rPr lang="en-US" sz="1400" dirty="0" err="1"/>
              <a:t>Ngắt</a:t>
            </a:r>
            <a:endParaRPr lang="en-US" sz="1400" dirty="0"/>
          </a:p>
          <a:p>
            <a:r>
              <a:rPr lang="en-US" sz="1400" dirty="0" err="1"/>
              <a:t>Các</a:t>
            </a:r>
            <a:r>
              <a:rPr lang="en-US" sz="1400" dirty="0"/>
              <a:t> </a:t>
            </a:r>
            <a:r>
              <a:rPr lang="en-US" sz="1400" dirty="0" err="1"/>
              <a:t>thanh</a:t>
            </a:r>
            <a:r>
              <a:rPr lang="en-US" sz="1400" dirty="0"/>
              <a:t> </a:t>
            </a:r>
            <a:r>
              <a:rPr lang="en-US" sz="1400" dirty="0" err="1"/>
              <a:t>ghi</a:t>
            </a:r>
            <a:r>
              <a:rPr lang="en-US" sz="1400" dirty="0"/>
              <a:t> </a:t>
            </a:r>
            <a:r>
              <a:rPr lang="en-US" sz="1400" dirty="0" err="1"/>
              <a:t>điều</a:t>
            </a:r>
            <a:r>
              <a:rPr lang="en-US" sz="1400" dirty="0"/>
              <a:t> </a:t>
            </a:r>
            <a:r>
              <a:rPr lang="en-US" sz="1400" dirty="0" err="1"/>
              <a:t>khiển</a:t>
            </a:r>
            <a:r>
              <a:rPr lang="en-US" sz="1400" dirty="0"/>
              <a:t> </a:t>
            </a:r>
            <a:r>
              <a:rPr lang="en-US" sz="1400" dirty="0" err="1"/>
              <a:t>cờ</a:t>
            </a:r>
            <a:r>
              <a:rPr lang="en-US" sz="1400" dirty="0"/>
              <a:t> </a:t>
            </a:r>
            <a:r>
              <a:rPr lang="en-US" sz="1400" dirty="0" err="1"/>
              <a:t>ngắt</a:t>
            </a:r>
            <a:r>
              <a:rPr lang="en-US" sz="1400" dirty="0"/>
              <a:t> </a:t>
            </a:r>
          </a:p>
          <a:p>
            <a:r>
              <a:rPr lang="en-US" sz="1400" dirty="0"/>
              <a:t>- </a:t>
            </a:r>
            <a:r>
              <a:rPr lang="en-US" sz="1400" b="0" i="1" dirty="0" err="1">
                <a:solidFill>
                  <a:srgbClr val="000000"/>
                </a:solidFill>
                <a:effectLst/>
                <a:latin typeface="Arial" panose="020B0604020202020204" pitchFamily="34" charset="0"/>
              </a:rPr>
              <a:t>RegIrqFlagsMask</a:t>
            </a:r>
            <a:r>
              <a:rPr lang="en-US" sz="1400" dirty="0"/>
              <a:t> : set bit 1 </a:t>
            </a:r>
            <a:r>
              <a:rPr lang="en-US" sz="1400" dirty="0" err="1"/>
              <a:t>nếu</a:t>
            </a:r>
            <a:r>
              <a:rPr lang="en-US" sz="1400" dirty="0"/>
              <a:t> </a:t>
            </a:r>
            <a:r>
              <a:rPr lang="en-US" sz="1400" dirty="0" err="1"/>
              <a:t>muốn</a:t>
            </a:r>
            <a:r>
              <a:rPr lang="en-US" sz="1400" dirty="0"/>
              <a:t> </a:t>
            </a:r>
            <a:r>
              <a:rPr lang="en-US" sz="1400" dirty="0" err="1"/>
              <a:t>che</a:t>
            </a:r>
            <a:r>
              <a:rPr lang="en-US" sz="1400" dirty="0"/>
              <a:t> </a:t>
            </a:r>
            <a:r>
              <a:rPr lang="en-US" sz="1400" dirty="0" err="1"/>
              <a:t>ngắt</a:t>
            </a:r>
            <a:r>
              <a:rPr lang="en-US" sz="1400" dirty="0"/>
              <a:t> (</a:t>
            </a:r>
            <a:r>
              <a:rPr lang="en-US" sz="1400" dirty="0" err="1"/>
              <a:t>bỏ</a:t>
            </a:r>
            <a:r>
              <a:rPr lang="en-US" sz="1400" dirty="0"/>
              <a:t> qua </a:t>
            </a:r>
            <a:r>
              <a:rPr lang="en-US" sz="1400" dirty="0" err="1"/>
              <a:t>ngắt</a:t>
            </a:r>
            <a:r>
              <a:rPr lang="en-US" sz="1400" dirty="0"/>
              <a:t>)</a:t>
            </a:r>
            <a:br>
              <a:rPr lang="en-US" sz="1400" dirty="0"/>
            </a:br>
            <a:r>
              <a:rPr lang="en-US" sz="1400" dirty="0"/>
              <a:t>- </a:t>
            </a:r>
            <a:r>
              <a:rPr lang="en-US" sz="1400" b="0" i="1" dirty="0" err="1">
                <a:solidFill>
                  <a:srgbClr val="000000"/>
                </a:solidFill>
                <a:effectLst/>
                <a:latin typeface="Arial" panose="020B0604020202020204" pitchFamily="34" charset="0"/>
              </a:rPr>
              <a:t>RegIrqFlags</a:t>
            </a:r>
            <a:r>
              <a:rPr lang="en-US" sz="1400" b="0" i="1" dirty="0">
                <a:solidFill>
                  <a:srgbClr val="000000"/>
                </a:solidFill>
                <a:effectLst/>
                <a:latin typeface="Arial" panose="020B0604020202020204" pitchFamily="34" charset="0"/>
              </a:rPr>
              <a:t> : </a:t>
            </a:r>
            <a:r>
              <a:rPr lang="en-US" sz="1400" b="0" i="1" dirty="0" err="1">
                <a:solidFill>
                  <a:srgbClr val="000000"/>
                </a:solidFill>
                <a:effectLst/>
                <a:latin typeface="Arial" panose="020B0604020202020204" pitchFamily="34" charset="0"/>
              </a:rPr>
              <a:t>chế</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độ</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truy</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cập</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là</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rc</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đọc</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và</a:t>
            </a:r>
            <a:r>
              <a:rPr lang="en-US" sz="1400" b="0" i="1" dirty="0">
                <a:solidFill>
                  <a:srgbClr val="000000"/>
                </a:solidFill>
                <a:effectLst/>
                <a:latin typeface="Arial" panose="020B0604020202020204" pitchFamily="34" charset="0"/>
              </a:rPr>
              <a:t> clear), set 1 </a:t>
            </a:r>
            <a:r>
              <a:rPr lang="en-US" sz="1400" b="0" i="1" dirty="0" err="1">
                <a:solidFill>
                  <a:srgbClr val="000000"/>
                </a:solidFill>
                <a:effectLst/>
                <a:latin typeface="Arial" panose="020B0604020202020204" pitchFamily="34" charset="0"/>
              </a:rPr>
              <a:t>tức</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là</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ngắt</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đã</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kích</a:t>
            </a:r>
            <a:r>
              <a:rPr lang="en-US" sz="1400" b="0" i="1" dirty="0">
                <a:solidFill>
                  <a:srgbClr val="000000"/>
                </a:solidFill>
                <a:effectLst/>
                <a:latin typeface="Arial" panose="020B0604020202020204" pitchFamily="34" charset="0"/>
              </a:rPr>
              <a:t> </a:t>
            </a:r>
            <a:r>
              <a:rPr lang="en-US" sz="1400" b="0" i="1" dirty="0" err="1">
                <a:solidFill>
                  <a:srgbClr val="000000"/>
                </a:solidFill>
                <a:effectLst/>
                <a:latin typeface="Arial" panose="020B0604020202020204" pitchFamily="34" charset="0"/>
              </a:rPr>
              <a:t>hoạt</a:t>
            </a:r>
            <a:r>
              <a:rPr lang="en-US" sz="1400" i="1" dirty="0">
                <a:solidFill>
                  <a:srgbClr val="000000"/>
                </a:solidFill>
                <a:latin typeface="Arial" panose="020B0604020202020204" pitchFamily="34" charset="0"/>
              </a:rPr>
              <a:t>, </a:t>
            </a:r>
            <a:r>
              <a:rPr lang="en-US" sz="1400" i="1" dirty="0" err="1">
                <a:solidFill>
                  <a:srgbClr val="000000"/>
                </a:solidFill>
                <a:latin typeface="Arial" panose="020B0604020202020204" pitchFamily="34" charset="0"/>
              </a:rPr>
              <a:t>ghi</a:t>
            </a:r>
            <a:r>
              <a:rPr lang="en-US" sz="1400" i="1" dirty="0">
                <a:solidFill>
                  <a:srgbClr val="000000"/>
                </a:solidFill>
                <a:latin typeface="Arial" panose="020B0604020202020204" pitchFamily="34" charset="0"/>
              </a:rPr>
              <a:t> 1 </a:t>
            </a:r>
            <a:r>
              <a:rPr lang="en-US" sz="1400" i="1" dirty="0" err="1">
                <a:solidFill>
                  <a:srgbClr val="000000"/>
                </a:solidFill>
                <a:latin typeface="Arial" panose="020B0604020202020204" pitchFamily="34" charset="0"/>
              </a:rPr>
              <a:t>để</a:t>
            </a:r>
            <a:r>
              <a:rPr lang="en-US" sz="1400" i="1" dirty="0">
                <a:solidFill>
                  <a:srgbClr val="000000"/>
                </a:solidFill>
                <a:latin typeface="Arial" panose="020B0604020202020204" pitchFamily="34" charset="0"/>
              </a:rPr>
              <a:t> clear</a:t>
            </a:r>
            <a:br>
              <a:rPr lang="en-US" sz="1400" dirty="0"/>
            </a:br>
            <a:r>
              <a:rPr lang="en-US" sz="1400" dirty="0"/>
              <a:t> 3.7. </a:t>
            </a:r>
            <a:r>
              <a:rPr lang="en-US" sz="1400" dirty="0" err="1"/>
              <a:t>Các</a:t>
            </a:r>
            <a:r>
              <a:rPr lang="en-US" sz="1400" dirty="0"/>
              <a:t> </a:t>
            </a:r>
            <a:r>
              <a:rPr lang="en-US" sz="1400" dirty="0" err="1"/>
              <a:t>chân</a:t>
            </a:r>
            <a:r>
              <a:rPr lang="en-US" sz="1400" dirty="0"/>
              <a:t> IO</a:t>
            </a:r>
            <a:br>
              <a:rPr lang="en-US" sz="1400" dirty="0"/>
            </a:br>
            <a:r>
              <a:rPr lang="en-US" sz="1400" dirty="0" err="1"/>
              <a:t>Cấu</a:t>
            </a:r>
            <a:r>
              <a:rPr lang="en-US" sz="1400" dirty="0"/>
              <a:t> </a:t>
            </a:r>
            <a:r>
              <a:rPr lang="en-US" sz="1400" dirty="0" err="1"/>
              <a:t>hình</a:t>
            </a:r>
            <a:r>
              <a:rPr lang="en-US" sz="1400" dirty="0"/>
              <a:t> </a:t>
            </a:r>
            <a:r>
              <a:rPr lang="en-US" sz="1400" dirty="0" err="1"/>
              <a:t>thông</a:t>
            </a:r>
            <a:r>
              <a:rPr lang="en-US" sz="1400" dirty="0"/>
              <a:t> qua 2 </a:t>
            </a:r>
            <a:r>
              <a:rPr lang="en-US" sz="1400" dirty="0" err="1"/>
              <a:t>thanh</a:t>
            </a:r>
            <a:r>
              <a:rPr lang="en-US" sz="1400" dirty="0"/>
              <a:t> </a:t>
            </a:r>
            <a:r>
              <a:rPr lang="en-US" sz="1400" dirty="0" err="1"/>
              <a:t>ghi</a:t>
            </a:r>
            <a:r>
              <a:rPr lang="en-US" sz="1400" dirty="0"/>
              <a:t> </a:t>
            </a:r>
            <a:r>
              <a:rPr lang="en-US" sz="1400" b="0" i="1" dirty="0">
                <a:solidFill>
                  <a:srgbClr val="000000"/>
                </a:solidFill>
                <a:effectLst/>
                <a:latin typeface="Arial" panose="020B0604020202020204" pitchFamily="34" charset="0"/>
              </a:rPr>
              <a:t>RegDioMapping1 </a:t>
            </a:r>
            <a:r>
              <a:rPr lang="en-US" sz="1400" b="0" i="0" dirty="0">
                <a:solidFill>
                  <a:srgbClr val="000000"/>
                </a:solidFill>
                <a:effectLst/>
                <a:latin typeface="Arial" panose="020B0604020202020204" pitchFamily="34" charset="0"/>
              </a:rPr>
              <a:t>and </a:t>
            </a:r>
            <a:r>
              <a:rPr lang="en-US" sz="1400" b="0" i="1" dirty="0">
                <a:solidFill>
                  <a:srgbClr val="000000"/>
                </a:solidFill>
                <a:effectLst/>
                <a:latin typeface="Arial" panose="020B0604020202020204" pitchFamily="34" charset="0"/>
              </a:rPr>
              <a:t>RegDioMapping2</a:t>
            </a:r>
            <a:r>
              <a:rPr lang="en-US" sz="1400" dirty="0"/>
              <a:t> </a:t>
            </a:r>
            <a:br>
              <a:rPr lang="en-US" dirty="0"/>
            </a:br>
            <a:endParaRPr lang="en-US" dirty="0"/>
          </a:p>
          <a:p>
            <a:br>
              <a:rPr lang="en-US" dirty="0"/>
            </a:br>
            <a:endParaRPr lang="en-US" dirty="0"/>
          </a:p>
          <a:p>
            <a:endParaRPr lang="en-US" dirty="0"/>
          </a:p>
          <a:p>
            <a:br>
              <a:rPr lang="en-US" dirty="0"/>
            </a:br>
            <a:endParaRPr lang="en-US" dirty="0"/>
          </a:p>
        </p:txBody>
      </p:sp>
      <p:pic>
        <p:nvPicPr>
          <p:cNvPr id="5" name="Picture 4">
            <a:extLst>
              <a:ext uri="{FF2B5EF4-FFF2-40B4-BE49-F238E27FC236}">
                <a16:creationId xmlns:a16="http://schemas.microsoft.com/office/drawing/2014/main" id="{4F9EE712-8302-9C67-0B00-9E2D552F4185}"/>
              </a:ext>
            </a:extLst>
          </p:cNvPr>
          <p:cNvPicPr>
            <a:picLocks noChangeAspect="1"/>
          </p:cNvPicPr>
          <p:nvPr/>
        </p:nvPicPr>
        <p:blipFill>
          <a:blip r:embed="rId2"/>
          <a:stretch>
            <a:fillRect/>
          </a:stretch>
        </p:blipFill>
        <p:spPr>
          <a:xfrm>
            <a:off x="470043" y="3082546"/>
            <a:ext cx="7729077" cy="1721287"/>
          </a:xfrm>
          <a:prstGeom prst="rect">
            <a:avLst/>
          </a:prstGeom>
        </p:spPr>
      </p:pic>
      <p:sp>
        <p:nvSpPr>
          <p:cNvPr id="6" name="TextBox 5">
            <a:extLst>
              <a:ext uri="{FF2B5EF4-FFF2-40B4-BE49-F238E27FC236}">
                <a16:creationId xmlns:a16="http://schemas.microsoft.com/office/drawing/2014/main" id="{DD80180F-BFB0-114F-1EF4-480BD703875A}"/>
              </a:ext>
            </a:extLst>
          </p:cNvPr>
          <p:cNvSpPr txBox="1"/>
          <p:nvPr/>
        </p:nvSpPr>
        <p:spPr>
          <a:xfrm>
            <a:off x="591963" y="2527418"/>
            <a:ext cx="6060297" cy="1415772"/>
          </a:xfrm>
          <a:prstGeom prst="rect">
            <a:avLst/>
          </a:prstGeom>
          <a:noFill/>
        </p:spPr>
        <p:txBody>
          <a:bodyPr wrap="square" rtlCol="0">
            <a:spAutoFit/>
          </a:bodyPr>
          <a:lstStyle/>
          <a:p>
            <a:r>
              <a:rPr lang="en-US" sz="1400" dirty="0" err="1"/>
              <a:t>Thường</a:t>
            </a:r>
            <a:r>
              <a:rPr lang="en-US" sz="1400" dirty="0"/>
              <a:t> </a:t>
            </a:r>
            <a:r>
              <a:rPr lang="en-US" sz="1400" dirty="0" err="1"/>
              <a:t>sử</a:t>
            </a:r>
            <a:r>
              <a:rPr lang="en-US" sz="1400" dirty="0"/>
              <a:t> </a:t>
            </a:r>
            <a:r>
              <a:rPr lang="en-US" sz="1400" dirty="0" err="1"/>
              <a:t>dụng</a:t>
            </a:r>
            <a:r>
              <a:rPr lang="en-US" sz="1400" dirty="0"/>
              <a:t> DIO0 </a:t>
            </a:r>
            <a:r>
              <a:rPr lang="en-US" sz="1400" dirty="0" err="1"/>
              <a:t>để</a:t>
            </a:r>
            <a:r>
              <a:rPr lang="en-US" sz="1400" dirty="0"/>
              <a:t> </a:t>
            </a:r>
            <a:r>
              <a:rPr lang="en-US" sz="1400" dirty="0" err="1"/>
              <a:t>sinh</a:t>
            </a:r>
            <a:r>
              <a:rPr lang="en-US" sz="1400" dirty="0"/>
              <a:t> </a:t>
            </a:r>
            <a:r>
              <a:rPr lang="en-US" sz="1400" dirty="0" err="1"/>
              <a:t>ngắt</a:t>
            </a:r>
            <a:r>
              <a:rPr lang="en-US" sz="1400" dirty="0"/>
              <a:t> (</a:t>
            </a:r>
            <a:r>
              <a:rPr lang="en-US" sz="1400" dirty="0" err="1"/>
              <a:t>cạnh</a:t>
            </a:r>
            <a:r>
              <a:rPr lang="en-US" sz="1400" dirty="0"/>
              <a:t> </a:t>
            </a:r>
            <a:r>
              <a:rPr lang="en-US" sz="1400" dirty="0" err="1"/>
              <a:t>lên</a:t>
            </a:r>
            <a:r>
              <a:rPr lang="en-US" sz="1400" dirty="0"/>
              <a:t>) </a:t>
            </a:r>
            <a:r>
              <a:rPr lang="en-US" sz="1400" dirty="0" err="1"/>
              <a:t>báo</a:t>
            </a:r>
            <a:r>
              <a:rPr lang="en-US" sz="1400" dirty="0"/>
              <a:t> </a:t>
            </a:r>
            <a:r>
              <a:rPr lang="en-US" sz="1400" dirty="0" err="1"/>
              <a:t>RxDone</a:t>
            </a:r>
            <a:br>
              <a:rPr lang="en-US" dirty="0"/>
            </a:br>
            <a:endParaRPr lang="en-US" dirty="0"/>
          </a:p>
          <a:p>
            <a:endParaRPr lang="en-US" dirty="0"/>
          </a:p>
          <a:p>
            <a:br>
              <a:rPr lang="en-US" dirty="0"/>
            </a:br>
            <a:endParaRPr lang="en-US" dirty="0"/>
          </a:p>
        </p:txBody>
      </p:sp>
      <p:sp>
        <p:nvSpPr>
          <p:cNvPr id="7" name="TextBox 6">
            <a:extLst>
              <a:ext uri="{FF2B5EF4-FFF2-40B4-BE49-F238E27FC236}">
                <a16:creationId xmlns:a16="http://schemas.microsoft.com/office/drawing/2014/main" id="{862C9007-2EE2-B00D-48FD-111A5F33963B}"/>
              </a:ext>
            </a:extLst>
          </p:cNvPr>
          <p:cNvSpPr txBox="1"/>
          <p:nvPr/>
        </p:nvSpPr>
        <p:spPr>
          <a:xfrm>
            <a:off x="1069411" y="4723363"/>
            <a:ext cx="7005177" cy="381642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t>3.8. </a:t>
            </a:r>
            <a:r>
              <a:rPr lang="en-US" altLang="en-US" sz="1400" dirty="0" err="1"/>
              <a:t>kiểm</a:t>
            </a:r>
            <a:r>
              <a:rPr lang="en-US" altLang="en-US" sz="1400" dirty="0"/>
              <a:t> </a:t>
            </a:r>
            <a:r>
              <a:rPr lang="en-US" altLang="en-US" sz="1400" dirty="0" err="1"/>
              <a:t>tra</a:t>
            </a:r>
            <a:r>
              <a:rPr lang="en-US" altLang="en-US" sz="1400" dirty="0"/>
              <a:t> CRC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t>- </a:t>
            </a:r>
            <a:r>
              <a:rPr lang="vi-VN" altLang="en-US" sz="1400" dirty="0"/>
              <a:t>RxPayloadCrcOn trong thanh ghi RegModemConfig1. </a:t>
            </a:r>
            <a:endParaRPr lang="en-US" altLang="en-US" sz="1400"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t>- </a:t>
            </a:r>
            <a:r>
              <a:rPr lang="vi-VN" altLang="en-US" sz="1400" dirty="0"/>
              <a:t>Ở phía máy thu, kiểm tra bit CrcOnPayload trong thanh ghi</a:t>
            </a:r>
            <a:r>
              <a:rPr lang="en-US" altLang="en-US" sz="1400" dirty="0"/>
              <a:t> </a:t>
            </a:r>
            <a:r>
              <a:rPr lang="vi-VN" altLang="en-US" sz="1400" dirty="0"/>
              <a:t>RegHopChannel. Nếu bit CrcOnPayload có giá trị là '1', kiểm tra cờ ngắt PayloadCrcError để đảm bảo CRC hợp lệ. Nếu bit CrcOnPayload có giá trị là '0', điều đó có nghĩa là không có CRC trên dữ liệu và do đó cờ ngắt PayloadCrcError sẽ không được kích hoạt ngay cả khi dữ liệu có lỗi.</a:t>
            </a:r>
          </a:p>
          <a:p>
            <a:pPr marL="0" marR="0" lvl="0" indent="0" algn="l" defTabSz="914400" rtl="0" eaLnBrk="0" fontAlgn="base" latinLnBrk="0" hangingPunct="0">
              <a:lnSpc>
                <a:spcPct val="100000"/>
              </a:lnSpc>
              <a:spcBef>
                <a:spcPct val="0"/>
              </a:spcBef>
              <a:spcAft>
                <a:spcPct val="0"/>
              </a:spcAft>
              <a:buClrTx/>
              <a:buSzTx/>
              <a:buFontTx/>
              <a:buNone/>
              <a:tabLst/>
            </a:pPr>
            <a:br>
              <a:rPr kumimoji="0" lang="vi-VN" altLang="en-US" sz="400" b="0" i="0" u="none" strike="noStrike" cap="none" normalizeH="0" baseline="0" dirty="0">
                <a:ln>
                  <a:noFill/>
                </a:ln>
                <a:solidFill>
                  <a:schemeClr val="tx1"/>
                </a:solidFill>
                <a:effectLst/>
              </a:rPr>
            </a:br>
            <a:endParaRPr kumimoji="0" lang="vi-VN" altLang="en-US" sz="1400" b="0" i="0" u="none" strike="noStrike" cap="none" normalizeH="0" baseline="0" dirty="0">
              <a:ln>
                <a:noFill/>
              </a:ln>
              <a:solidFill>
                <a:schemeClr val="tx1"/>
              </a:solidFill>
              <a:effectLst/>
              <a:latin typeface="Arial" panose="020B0604020202020204" pitchFamily="34" charset="0"/>
            </a:endParaRPr>
          </a:p>
          <a:p>
            <a:br>
              <a:rPr lang="en-US" dirty="0"/>
            </a:br>
            <a:endParaRPr lang="en-US" dirty="0"/>
          </a:p>
          <a:p>
            <a:br>
              <a:rPr lang="en-US" dirty="0"/>
            </a:br>
            <a:endParaRPr lang="en-US" dirty="0"/>
          </a:p>
          <a:p>
            <a:endParaRPr lang="en-US" dirty="0"/>
          </a:p>
          <a:p>
            <a:br>
              <a:rPr lang="en-US" dirty="0"/>
            </a:br>
            <a:endParaRPr lang="en-US" dirty="0"/>
          </a:p>
        </p:txBody>
      </p:sp>
      <p:sp>
        <p:nvSpPr>
          <p:cNvPr id="8" name="Rectangle 2">
            <a:extLst>
              <a:ext uri="{FF2B5EF4-FFF2-40B4-BE49-F238E27FC236}">
                <a16:creationId xmlns:a16="http://schemas.microsoft.com/office/drawing/2014/main" id="{65637371-5CF6-6A7C-714D-FBF9D4C09849}"/>
              </a:ext>
            </a:extLst>
          </p:cNvPr>
          <p:cNvSpPr>
            <a:spLocks noChangeArrowheads="1"/>
          </p:cNvSpPr>
          <p:nvPr/>
        </p:nvSpPr>
        <p:spPr bwMode="auto">
          <a:xfrm>
            <a:off x="0" y="90100"/>
            <a:ext cx="65" cy="27699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1494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4" name="TextBox 3">
            <a:extLst>
              <a:ext uri="{FF2B5EF4-FFF2-40B4-BE49-F238E27FC236}">
                <a16:creationId xmlns:a16="http://schemas.microsoft.com/office/drawing/2014/main" id="{D10389A3-12AB-E942-A907-7F4061D6D7FC}"/>
              </a:ext>
            </a:extLst>
          </p:cNvPr>
          <p:cNvSpPr txBox="1"/>
          <p:nvPr/>
        </p:nvSpPr>
        <p:spPr>
          <a:xfrm>
            <a:off x="797701" y="920440"/>
            <a:ext cx="7807041" cy="4832092"/>
          </a:xfrm>
          <a:prstGeom prst="rect">
            <a:avLst/>
          </a:prstGeom>
          <a:noFill/>
        </p:spPr>
        <p:txBody>
          <a:bodyPr wrap="square" rtlCol="0">
            <a:spAutoFit/>
          </a:bodyPr>
          <a:lstStyle/>
          <a:p>
            <a:r>
              <a:rPr lang="en-US" sz="1400" dirty="0"/>
              <a:t>3.9  </a:t>
            </a:r>
            <a:r>
              <a:rPr lang="en-US" sz="1400" dirty="0" err="1"/>
              <a:t>Các</a:t>
            </a:r>
            <a:r>
              <a:rPr lang="en-US" sz="1400" dirty="0"/>
              <a:t> </a:t>
            </a:r>
            <a:r>
              <a:rPr lang="en-US" sz="1400" dirty="0" err="1"/>
              <a:t>chế</a:t>
            </a:r>
            <a:r>
              <a:rPr lang="en-US" sz="1400" dirty="0"/>
              <a:t> </a:t>
            </a:r>
            <a:r>
              <a:rPr lang="en-US" sz="1400" dirty="0" err="1"/>
              <a:t>độ</a:t>
            </a:r>
            <a:r>
              <a:rPr lang="en-US" sz="1400" dirty="0"/>
              <a:t> </a:t>
            </a:r>
            <a:r>
              <a:rPr lang="en-US" sz="1400" dirty="0" err="1"/>
              <a:t>truy</a:t>
            </a:r>
            <a:r>
              <a:rPr lang="en-US" sz="1400" dirty="0"/>
              <a:t> </a:t>
            </a:r>
            <a:r>
              <a:rPr lang="en-US" sz="1400" dirty="0" err="1"/>
              <a:t>cập</a:t>
            </a:r>
            <a:r>
              <a:rPr lang="en-US" sz="1400" dirty="0"/>
              <a:t> qua SPI</a:t>
            </a:r>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r>
              <a:rPr lang="en-US" sz="1400" dirty="0" err="1"/>
              <a:t>việc</a:t>
            </a:r>
            <a:r>
              <a:rPr lang="en-US" sz="1400" dirty="0"/>
              <a:t> </a:t>
            </a:r>
            <a:r>
              <a:rPr lang="en-US" sz="1400" dirty="0" err="1"/>
              <a:t>điều</a:t>
            </a:r>
            <a:r>
              <a:rPr lang="en-US" sz="1400" dirty="0"/>
              <a:t> </a:t>
            </a:r>
            <a:r>
              <a:rPr lang="en-US" sz="1400" dirty="0" err="1"/>
              <a:t>khiển</a:t>
            </a:r>
            <a:r>
              <a:rPr lang="en-US" sz="1400" dirty="0"/>
              <a:t> module LoRa </a:t>
            </a:r>
            <a:r>
              <a:rPr lang="en-US" sz="1400" dirty="0" err="1"/>
              <a:t>thông</a:t>
            </a:r>
            <a:r>
              <a:rPr lang="en-US" sz="1400" dirty="0"/>
              <a:t> qua </a:t>
            </a:r>
            <a:r>
              <a:rPr lang="en-US" sz="1400" dirty="0" err="1"/>
              <a:t>việc</a:t>
            </a:r>
            <a:r>
              <a:rPr lang="en-US" sz="1400" dirty="0"/>
              <a:t> </a:t>
            </a:r>
            <a:r>
              <a:rPr lang="en-US" sz="1400" dirty="0" err="1"/>
              <a:t>cấu</a:t>
            </a:r>
            <a:r>
              <a:rPr lang="en-US" sz="1400" dirty="0"/>
              <a:t> </a:t>
            </a:r>
            <a:r>
              <a:rPr lang="en-US" sz="1400" dirty="0" err="1"/>
              <a:t>hình</a:t>
            </a:r>
            <a:r>
              <a:rPr lang="en-US" sz="1400" dirty="0"/>
              <a:t> </a:t>
            </a:r>
            <a:r>
              <a:rPr lang="en-US" sz="1400" dirty="0" err="1"/>
              <a:t>các</a:t>
            </a:r>
            <a:r>
              <a:rPr lang="en-US" sz="1400" dirty="0"/>
              <a:t> </a:t>
            </a:r>
            <a:r>
              <a:rPr lang="en-US" sz="1400" dirty="0" err="1"/>
              <a:t>thanh</a:t>
            </a:r>
            <a:r>
              <a:rPr lang="en-US" sz="1400" dirty="0"/>
              <a:t> </a:t>
            </a:r>
            <a:r>
              <a:rPr lang="en-US" sz="1400" dirty="0" err="1"/>
              <a:t>ghi</a:t>
            </a:r>
            <a:r>
              <a:rPr lang="en-US" sz="1400" dirty="0"/>
              <a:t>, </a:t>
            </a:r>
            <a:r>
              <a:rPr lang="en-US" sz="1400" dirty="0" err="1"/>
              <a:t>có</a:t>
            </a:r>
            <a:r>
              <a:rPr lang="en-US" sz="1400" dirty="0"/>
              <a:t> 3 </a:t>
            </a:r>
            <a:r>
              <a:rPr lang="en-US" sz="1400" dirty="0" err="1"/>
              <a:t>chế</a:t>
            </a:r>
            <a:r>
              <a:rPr lang="en-US" sz="1400" dirty="0"/>
              <a:t> </a:t>
            </a:r>
            <a:r>
              <a:rPr lang="en-US" sz="1400" dirty="0" err="1"/>
              <a:t>độ</a:t>
            </a:r>
            <a:r>
              <a:rPr lang="en-US" sz="1400" dirty="0"/>
              <a:t> </a:t>
            </a:r>
            <a:r>
              <a:rPr lang="en-US" sz="1400" dirty="0" err="1"/>
              <a:t>truy</a:t>
            </a:r>
            <a:r>
              <a:rPr lang="en-US" sz="1400" dirty="0"/>
              <a:t> </a:t>
            </a:r>
            <a:r>
              <a:rPr lang="en-US" sz="1400" dirty="0" err="1"/>
              <a:t>cập</a:t>
            </a:r>
            <a:r>
              <a:rPr lang="en-US" sz="1400" dirty="0"/>
              <a:t> </a:t>
            </a:r>
            <a:r>
              <a:rPr lang="en-US" sz="1400" dirty="0" err="1"/>
              <a:t>là</a:t>
            </a:r>
            <a:r>
              <a:rPr lang="en-US" sz="1400" dirty="0"/>
              <a:t> Single, Burst, FIFO</a:t>
            </a:r>
          </a:p>
          <a:p>
            <a:pPr marL="285750" indent="-285750">
              <a:buFont typeface="Wingdings" panose="05000000000000000000" pitchFamily="2" charset="2"/>
              <a:buChar char="q"/>
            </a:pPr>
            <a:r>
              <a:rPr lang="en-US" sz="1400" dirty="0" err="1"/>
              <a:t>Quá</a:t>
            </a:r>
            <a:r>
              <a:rPr lang="en-US" sz="1400" dirty="0"/>
              <a:t> </a:t>
            </a:r>
            <a:r>
              <a:rPr lang="en-US" sz="1400" dirty="0" err="1"/>
              <a:t>trình</a:t>
            </a:r>
            <a:r>
              <a:rPr lang="en-US" sz="1400" dirty="0"/>
              <a:t> </a:t>
            </a:r>
            <a:r>
              <a:rPr lang="en-US" sz="1400" dirty="0" err="1"/>
              <a:t>giao</a:t>
            </a:r>
            <a:r>
              <a:rPr lang="en-US" sz="1400" dirty="0"/>
              <a:t> </a:t>
            </a:r>
            <a:r>
              <a:rPr lang="en-US" sz="1400" dirty="0" err="1"/>
              <a:t>tiếp</a:t>
            </a:r>
            <a:r>
              <a:rPr lang="en-US" sz="1400" dirty="0"/>
              <a:t>:</a:t>
            </a:r>
          </a:p>
          <a:p>
            <a:pPr marL="800100" lvl="1" indent="-342900">
              <a:buFont typeface="+mj-lt"/>
              <a:buAutoNum type="arabicParenR"/>
            </a:pPr>
            <a:r>
              <a:rPr lang="en-US" sz="1400" dirty="0"/>
              <a:t>NSS </a:t>
            </a:r>
            <a:r>
              <a:rPr lang="en-US" sz="1400" dirty="0" err="1"/>
              <a:t>được</a:t>
            </a:r>
            <a:r>
              <a:rPr lang="en-US" sz="1400" dirty="0"/>
              <a:t> </a:t>
            </a:r>
            <a:r>
              <a:rPr lang="en-US" sz="1400" dirty="0" err="1"/>
              <a:t>kéo</a:t>
            </a:r>
            <a:r>
              <a:rPr lang="en-US" sz="1400" dirty="0"/>
              <a:t> </a:t>
            </a:r>
            <a:r>
              <a:rPr lang="en-US" sz="1400" dirty="0" err="1"/>
              <a:t>từ</a:t>
            </a:r>
            <a:r>
              <a:rPr lang="en-US" sz="1400" dirty="0"/>
              <a:t> </a:t>
            </a:r>
            <a:r>
              <a:rPr lang="en-US" sz="1400" dirty="0" err="1"/>
              <a:t>mức</a:t>
            </a:r>
            <a:r>
              <a:rPr lang="en-US" sz="1400" dirty="0"/>
              <a:t> </a:t>
            </a:r>
            <a:r>
              <a:rPr lang="en-US" sz="1400" dirty="0" err="1"/>
              <a:t>cao</a:t>
            </a:r>
            <a:r>
              <a:rPr lang="en-US" sz="1400" dirty="0"/>
              <a:t> </a:t>
            </a:r>
            <a:r>
              <a:rPr lang="en-US" sz="1400" dirty="0" err="1"/>
              <a:t>xuống</a:t>
            </a:r>
            <a:r>
              <a:rPr lang="en-US" sz="1400" dirty="0"/>
              <a:t> low </a:t>
            </a:r>
            <a:r>
              <a:rPr lang="en-US" sz="1400" dirty="0" err="1"/>
              <a:t>để</a:t>
            </a:r>
            <a:r>
              <a:rPr lang="en-US" sz="1400" dirty="0"/>
              <a:t> </a:t>
            </a:r>
            <a:r>
              <a:rPr lang="en-US" sz="1400" dirty="0" err="1"/>
              <a:t>bắt</a:t>
            </a:r>
            <a:r>
              <a:rPr lang="en-US" sz="1400" dirty="0"/>
              <a:t> </a:t>
            </a:r>
            <a:r>
              <a:rPr lang="en-US" sz="1400" dirty="0" err="1"/>
              <a:t>đầu</a:t>
            </a:r>
            <a:r>
              <a:rPr lang="en-US" sz="1400" dirty="0"/>
              <a:t> </a:t>
            </a:r>
            <a:r>
              <a:rPr lang="en-US" sz="1400" dirty="0" err="1"/>
              <a:t>truyền</a:t>
            </a:r>
            <a:r>
              <a:rPr lang="en-US" sz="1400" dirty="0"/>
              <a:t>, </a:t>
            </a:r>
            <a:r>
              <a:rPr lang="en-US" sz="1400" dirty="0" err="1"/>
              <a:t>giữ</a:t>
            </a:r>
            <a:r>
              <a:rPr lang="en-US" sz="1400" dirty="0"/>
              <a:t> low </a:t>
            </a:r>
            <a:r>
              <a:rPr lang="en-US" sz="1400" dirty="0" err="1"/>
              <a:t>đến</a:t>
            </a:r>
            <a:r>
              <a:rPr lang="en-US" sz="1400" dirty="0"/>
              <a:t> </a:t>
            </a:r>
            <a:r>
              <a:rPr lang="en-US" sz="1400" dirty="0" err="1"/>
              <a:t>hết</a:t>
            </a:r>
            <a:r>
              <a:rPr lang="en-US" sz="1400" dirty="0"/>
              <a:t> byte </a:t>
            </a:r>
            <a:r>
              <a:rPr lang="en-US" sz="1400" dirty="0" err="1"/>
              <a:t>cuối</a:t>
            </a:r>
            <a:r>
              <a:rPr lang="en-US" sz="1400" dirty="0"/>
              <a:t> </a:t>
            </a:r>
            <a:r>
              <a:rPr lang="en-US" sz="1400" dirty="0" err="1"/>
              <a:t>cùng</a:t>
            </a:r>
            <a:r>
              <a:rPr lang="en-US" sz="1400" dirty="0"/>
              <a:t> </a:t>
            </a:r>
            <a:r>
              <a:rPr lang="en-US" sz="1400" dirty="0" err="1"/>
              <a:t>được</a:t>
            </a:r>
            <a:r>
              <a:rPr lang="en-US" sz="1400" dirty="0"/>
              <a:t> </a:t>
            </a:r>
            <a:r>
              <a:rPr lang="en-US" sz="1400" dirty="0" err="1"/>
              <a:t>truyền</a:t>
            </a:r>
            <a:r>
              <a:rPr lang="en-US" sz="1400" dirty="0"/>
              <a:t> </a:t>
            </a:r>
            <a:r>
              <a:rPr lang="en-US" sz="1400" dirty="0" err="1"/>
              <a:t>đi</a:t>
            </a:r>
            <a:endParaRPr lang="en-US" sz="1400" dirty="0"/>
          </a:p>
          <a:p>
            <a:pPr marL="800100" lvl="1" indent="-342900">
              <a:buFont typeface="+mj-lt"/>
              <a:buAutoNum type="arabicParenR"/>
            </a:pPr>
            <a:r>
              <a:rPr lang="en-US" sz="1400" dirty="0"/>
              <a:t>Byte </a:t>
            </a:r>
            <a:r>
              <a:rPr lang="en-US" sz="1400" dirty="0" err="1"/>
              <a:t>đầu</a:t>
            </a:r>
            <a:r>
              <a:rPr lang="en-US" sz="1400" dirty="0"/>
              <a:t> </a:t>
            </a:r>
            <a:r>
              <a:rPr lang="en-US" sz="1400" dirty="0" err="1"/>
              <a:t>tiên</a:t>
            </a:r>
            <a:r>
              <a:rPr lang="en-US" sz="1400" dirty="0"/>
              <a:t> </a:t>
            </a:r>
            <a:r>
              <a:rPr lang="en-US" sz="1400" dirty="0" err="1"/>
              <a:t>là</a:t>
            </a:r>
            <a:r>
              <a:rPr lang="en-US" sz="1400" dirty="0"/>
              <a:t> 1 bit w/r(1/0) </a:t>
            </a:r>
            <a:r>
              <a:rPr lang="en-US" sz="1400" dirty="0" err="1"/>
              <a:t>và</a:t>
            </a:r>
            <a:r>
              <a:rPr lang="en-US" sz="1400" dirty="0"/>
              <a:t> 7 bit </a:t>
            </a:r>
            <a:r>
              <a:rPr lang="en-US" sz="1400" dirty="0" err="1"/>
              <a:t>địa</a:t>
            </a:r>
            <a:r>
              <a:rPr lang="en-US" sz="1400" dirty="0"/>
              <a:t> </a:t>
            </a:r>
            <a:r>
              <a:rPr lang="en-US" sz="1400" dirty="0" err="1"/>
              <a:t>chỉ</a:t>
            </a:r>
            <a:r>
              <a:rPr lang="en-US" sz="1400" dirty="0"/>
              <a:t> </a:t>
            </a:r>
            <a:r>
              <a:rPr lang="en-US" sz="1400" dirty="0" err="1"/>
              <a:t>thanh</a:t>
            </a:r>
            <a:r>
              <a:rPr lang="en-US" sz="1400" dirty="0"/>
              <a:t> </a:t>
            </a:r>
            <a:r>
              <a:rPr lang="en-US" sz="1400" dirty="0" err="1"/>
              <a:t>ghi</a:t>
            </a:r>
            <a:endParaRPr lang="en-US" sz="1400" dirty="0"/>
          </a:p>
          <a:p>
            <a:pPr marL="800100" lvl="1" indent="-342900">
              <a:buFont typeface="+mj-lt"/>
              <a:buAutoNum type="arabicParenR"/>
            </a:pPr>
            <a:r>
              <a:rPr lang="en-US" sz="1400" dirty="0" err="1"/>
              <a:t>Các</a:t>
            </a:r>
            <a:r>
              <a:rPr lang="en-US" sz="1400" dirty="0"/>
              <a:t> byte </a:t>
            </a:r>
            <a:r>
              <a:rPr lang="en-US" sz="1400" dirty="0" err="1"/>
              <a:t>tiếp</a:t>
            </a:r>
            <a:r>
              <a:rPr lang="en-US" sz="1400" dirty="0"/>
              <a:t> </a:t>
            </a:r>
            <a:r>
              <a:rPr lang="en-US" sz="1400" dirty="0" err="1"/>
              <a:t>theo</a:t>
            </a:r>
            <a:r>
              <a:rPr lang="en-US" sz="1400" dirty="0"/>
              <a:t> </a:t>
            </a:r>
            <a:r>
              <a:rPr lang="en-US" sz="1400" dirty="0" err="1"/>
              <a:t>là</a:t>
            </a:r>
            <a:r>
              <a:rPr lang="en-US" sz="1400" dirty="0"/>
              <a:t> byte </a:t>
            </a:r>
            <a:r>
              <a:rPr lang="en-US" sz="1400" dirty="0" err="1"/>
              <a:t>dữ</a:t>
            </a:r>
            <a:r>
              <a:rPr lang="en-US" sz="1400" dirty="0"/>
              <a:t> </a:t>
            </a:r>
            <a:r>
              <a:rPr lang="en-US" sz="1400" dirty="0" err="1"/>
              <a:t>liệu</a:t>
            </a:r>
            <a:r>
              <a:rPr lang="en-US" sz="1400" dirty="0"/>
              <a:t>, </a:t>
            </a:r>
            <a:r>
              <a:rPr lang="en-US" sz="1400" dirty="0" err="1"/>
              <a:t>kể</a:t>
            </a:r>
            <a:r>
              <a:rPr lang="en-US" sz="1400" dirty="0"/>
              <a:t> </a:t>
            </a:r>
            <a:r>
              <a:rPr lang="en-US" sz="1400" dirty="0" err="1"/>
              <a:t>cả</a:t>
            </a:r>
            <a:r>
              <a:rPr lang="en-US" sz="1400" dirty="0"/>
              <a:t> </a:t>
            </a:r>
            <a:r>
              <a:rPr lang="en-US" sz="1400" dirty="0" err="1"/>
              <a:t>là</a:t>
            </a:r>
            <a:r>
              <a:rPr lang="en-US" sz="1400" dirty="0"/>
              <a:t> </a:t>
            </a:r>
            <a:r>
              <a:rPr lang="en-US" sz="1400" dirty="0" err="1"/>
              <a:t>dữ</a:t>
            </a:r>
            <a:r>
              <a:rPr lang="en-US" sz="1400" dirty="0"/>
              <a:t> </a:t>
            </a:r>
            <a:r>
              <a:rPr lang="en-US" sz="1400" dirty="0" err="1"/>
              <a:t>liệu</a:t>
            </a:r>
            <a:r>
              <a:rPr lang="en-US" sz="1400" dirty="0"/>
              <a:t> MOSI (</a:t>
            </a:r>
            <a:r>
              <a:rPr lang="en-US" sz="1400" dirty="0" err="1"/>
              <a:t>ghi</a:t>
            </a:r>
            <a:r>
              <a:rPr lang="en-US" sz="1400" dirty="0"/>
              <a:t>) hay MISO (</a:t>
            </a:r>
            <a:r>
              <a:rPr lang="en-US" sz="1400" dirty="0" err="1"/>
              <a:t>đọc</a:t>
            </a:r>
            <a:r>
              <a:rPr lang="en-US" sz="1400" dirty="0"/>
              <a:t>)</a:t>
            </a:r>
          </a:p>
          <a:p>
            <a:pPr marL="800100" lvl="1" indent="-342900">
              <a:buFont typeface="+mj-lt"/>
              <a:buAutoNum type="arabicParenR"/>
            </a:pPr>
            <a:r>
              <a:rPr lang="en-US" sz="1400" dirty="0"/>
              <a:t>NSS </a:t>
            </a:r>
            <a:r>
              <a:rPr lang="en-US" sz="1400" dirty="0" err="1"/>
              <a:t>lên</a:t>
            </a:r>
            <a:r>
              <a:rPr lang="en-US" sz="1400" dirty="0"/>
              <a:t> </a:t>
            </a:r>
            <a:r>
              <a:rPr lang="en-US" sz="1400" dirty="0" err="1"/>
              <a:t>cao</a:t>
            </a:r>
            <a:r>
              <a:rPr lang="en-US" sz="1400" dirty="0"/>
              <a:t> </a:t>
            </a:r>
            <a:r>
              <a:rPr lang="en-US" sz="1400" dirty="0" err="1"/>
              <a:t>khi</a:t>
            </a:r>
            <a:r>
              <a:rPr lang="en-US" sz="1400" dirty="0"/>
              <a:t> </a:t>
            </a:r>
            <a:r>
              <a:rPr lang="en-US" sz="1400" dirty="0" err="1"/>
              <a:t>kết</a:t>
            </a:r>
            <a:r>
              <a:rPr lang="en-US" sz="1400" dirty="0"/>
              <a:t> </a:t>
            </a:r>
            <a:r>
              <a:rPr lang="en-US" sz="1400" dirty="0" err="1"/>
              <a:t>thúc</a:t>
            </a:r>
            <a:r>
              <a:rPr lang="en-US" sz="1400" dirty="0"/>
              <a:t> </a:t>
            </a:r>
            <a:r>
              <a:rPr lang="en-US" sz="1400" dirty="0" err="1"/>
              <a:t>quá</a:t>
            </a:r>
            <a:r>
              <a:rPr lang="en-US" sz="1400" dirty="0"/>
              <a:t> </a:t>
            </a:r>
            <a:r>
              <a:rPr lang="en-US" sz="1400" dirty="0" err="1"/>
              <a:t>trình</a:t>
            </a:r>
            <a:r>
              <a:rPr lang="en-US" sz="1400" dirty="0"/>
              <a:t> </a:t>
            </a:r>
            <a:r>
              <a:rPr lang="en-US" sz="1400" dirty="0" err="1"/>
              <a:t>đọc</a:t>
            </a:r>
            <a:r>
              <a:rPr lang="en-US" sz="1400" dirty="0"/>
              <a:t>/</a:t>
            </a:r>
            <a:r>
              <a:rPr lang="en-US" sz="1400" dirty="0" err="1"/>
              <a:t>ghi</a:t>
            </a:r>
            <a:endParaRPr lang="en-US" sz="1400" dirty="0"/>
          </a:p>
          <a:p>
            <a:pPr marL="285750" indent="-285750">
              <a:buFont typeface="Wingdings" panose="05000000000000000000" pitchFamily="2" charset="2"/>
              <a:buChar char="q"/>
            </a:pPr>
            <a:r>
              <a:rPr lang="en-US" sz="1400" dirty="0"/>
              <a:t>Burst: </a:t>
            </a:r>
            <a:r>
              <a:rPr lang="en-US" sz="1400" dirty="0" err="1"/>
              <a:t>ghi</a:t>
            </a:r>
            <a:r>
              <a:rPr lang="en-US" sz="1400" dirty="0"/>
              <a:t>/ </a:t>
            </a:r>
            <a:r>
              <a:rPr lang="en-US" sz="1400" dirty="0" err="1"/>
              <a:t>đọc</a:t>
            </a:r>
            <a:r>
              <a:rPr lang="en-US" sz="1400" dirty="0"/>
              <a:t> 1 </a:t>
            </a:r>
            <a:r>
              <a:rPr lang="en-US" sz="1400" dirty="0" err="1"/>
              <a:t>loạt</a:t>
            </a:r>
            <a:r>
              <a:rPr lang="en-US" sz="1400" dirty="0"/>
              <a:t> </a:t>
            </a:r>
            <a:r>
              <a:rPr lang="en-US" sz="1400" dirty="0" err="1"/>
              <a:t>thanh</a:t>
            </a:r>
            <a:r>
              <a:rPr lang="en-US" sz="1400" dirty="0"/>
              <a:t> </a:t>
            </a:r>
            <a:r>
              <a:rPr lang="en-US" sz="1400" dirty="0" err="1"/>
              <a:t>ghi</a:t>
            </a:r>
            <a:r>
              <a:rPr lang="en-US" sz="1400" dirty="0"/>
              <a:t> </a:t>
            </a:r>
            <a:r>
              <a:rPr lang="en-US" sz="1400" dirty="0" err="1"/>
              <a:t>với</a:t>
            </a:r>
            <a:r>
              <a:rPr lang="en-US" sz="1400" dirty="0"/>
              <a:t> </a:t>
            </a:r>
            <a:r>
              <a:rPr lang="en-US" sz="1400" dirty="0" err="1"/>
              <a:t>địa</a:t>
            </a:r>
            <a:r>
              <a:rPr lang="en-US" sz="1400" dirty="0"/>
              <a:t> </a:t>
            </a:r>
            <a:r>
              <a:rPr lang="en-US" sz="1400" dirty="0" err="1"/>
              <a:t>chỉ</a:t>
            </a:r>
            <a:r>
              <a:rPr lang="en-US" sz="1400" dirty="0"/>
              <a:t> </a:t>
            </a:r>
            <a:r>
              <a:rPr lang="en-US" sz="1400" dirty="0" err="1"/>
              <a:t>tự</a:t>
            </a:r>
            <a:r>
              <a:rPr lang="en-US" sz="1400" dirty="0"/>
              <a:t> </a:t>
            </a:r>
            <a:r>
              <a:rPr lang="en-US" sz="1400" dirty="0" err="1"/>
              <a:t>động</a:t>
            </a:r>
            <a:r>
              <a:rPr lang="en-US" sz="1400" dirty="0"/>
              <a:t> </a:t>
            </a:r>
            <a:r>
              <a:rPr lang="en-US" sz="1400" dirty="0" err="1"/>
              <a:t>tăng</a:t>
            </a:r>
            <a:r>
              <a:rPr lang="en-US" sz="1400" dirty="0"/>
              <a:t>, </a:t>
            </a:r>
            <a:r>
              <a:rPr lang="en-US" sz="1400" dirty="0" err="1"/>
              <a:t>địa</a:t>
            </a:r>
            <a:r>
              <a:rPr lang="en-US" sz="1400" dirty="0"/>
              <a:t> </a:t>
            </a:r>
            <a:r>
              <a:rPr lang="en-US" sz="1400" dirty="0" err="1"/>
              <a:t>chỉ</a:t>
            </a:r>
            <a:r>
              <a:rPr lang="en-US" sz="1400" dirty="0"/>
              <a:t> </a:t>
            </a:r>
            <a:r>
              <a:rPr lang="en-US" sz="1400" dirty="0" err="1"/>
              <a:t>thanh</a:t>
            </a:r>
            <a:r>
              <a:rPr lang="en-US" sz="1400" dirty="0"/>
              <a:t> </a:t>
            </a:r>
            <a:r>
              <a:rPr lang="en-US" sz="1400" dirty="0" err="1"/>
              <a:t>ghi</a:t>
            </a:r>
            <a:r>
              <a:rPr lang="en-US" sz="1400" dirty="0"/>
              <a:t> </a:t>
            </a:r>
            <a:r>
              <a:rPr lang="en-US" sz="1400" dirty="0" err="1"/>
              <a:t>khác</a:t>
            </a:r>
            <a:r>
              <a:rPr lang="en-US" sz="1400" dirty="0"/>
              <a:t> </a:t>
            </a:r>
            <a:r>
              <a:rPr lang="en-US" sz="1400" dirty="0" err="1"/>
              <a:t>RegFiFo</a:t>
            </a:r>
            <a:endParaRPr lang="en-US" sz="1400" dirty="0"/>
          </a:p>
          <a:p>
            <a:pPr marL="285750" indent="-285750">
              <a:buFont typeface="Wingdings" panose="05000000000000000000" pitchFamily="2" charset="2"/>
              <a:buChar char="q"/>
            </a:pPr>
            <a:r>
              <a:rPr lang="en-US" sz="1400" dirty="0" err="1"/>
              <a:t>Chế</a:t>
            </a:r>
            <a:r>
              <a:rPr lang="en-US" sz="1400" dirty="0"/>
              <a:t> </a:t>
            </a:r>
            <a:r>
              <a:rPr lang="en-US" sz="1400" dirty="0" err="1"/>
              <a:t>độ</a:t>
            </a:r>
            <a:r>
              <a:rPr lang="en-US" sz="1400" dirty="0"/>
              <a:t> FIFO </a:t>
            </a:r>
            <a:r>
              <a:rPr lang="en-US" sz="1400" dirty="0" err="1"/>
              <a:t>truy</a:t>
            </a:r>
            <a:r>
              <a:rPr lang="en-US" sz="1400" dirty="0"/>
              <a:t> </a:t>
            </a:r>
            <a:r>
              <a:rPr lang="en-US" sz="1400" dirty="0" err="1"/>
              <a:t>cập</a:t>
            </a:r>
            <a:r>
              <a:rPr lang="en-US" sz="1400" dirty="0"/>
              <a:t> </a:t>
            </a:r>
            <a:r>
              <a:rPr lang="en-US" sz="1400" dirty="0" err="1"/>
              <a:t>tới</a:t>
            </a:r>
            <a:r>
              <a:rPr lang="en-US" sz="1400" dirty="0"/>
              <a:t> </a:t>
            </a:r>
            <a:r>
              <a:rPr lang="en-US" sz="1400" dirty="0" err="1"/>
              <a:t>vùng</a:t>
            </a:r>
            <a:r>
              <a:rPr lang="en-US" sz="1400" dirty="0"/>
              <a:t> </a:t>
            </a:r>
            <a:r>
              <a:rPr lang="en-US" sz="1400" dirty="0" err="1"/>
              <a:t>databuffer</a:t>
            </a:r>
            <a:r>
              <a:rPr lang="en-US" sz="1400" dirty="0"/>
              <a:t> </a:t>
            </a:r>
            <a:r>
              <a:rPr lang="en-US" sz="1400" dirty="0" err="1"/>
              <a:t>với</a:t>
            </a:r>
            <a:r>
              <a:rPr lang="en-US" sz="1400" dirty="0"/>
              <a:t> </a:t>
            </a:r>
            <a:r>
              <a:rPr lang="en-US" sz="1400" dirty="0" err="1"/>
              <a:t>địa</a:t>
            </a:r>
            <a:r>
              <a:rPr lang="en-US" sz="1400" dirty="0"/>
              <a:t> </a:t>
            </a:r>
            <a:r>
              <a:rPr lang="en-US" sz="1400" dirty="0" err="1"/>
              <a:t>chỉ</a:t>
            </a:r>
            <a:r>
              <a:rPr lang="en-US" sz="1400" dirty="0"/>
              <a:t> </a:t>
            </a:r>
            <a:r>
              <a:rPr lang="en-US" sz="1400" dirty="0" err="1"/>
              <a:t>thanh</a:t>
            </a:r>
            <a:r>
              <a:rPr lang="en-US" sz="1400" dirty="0"/>
              <a:t> </a:t>
            </a:r>
            <a:r>
              <a:rPr lang="en-US" sz="1400" dirty="0" err="1"/>
              <a:t>ghi</a:t>
            </a:r>
            <a:r>
              <a:rPr lang="en-US" sz="1400" dirty="0"/>
              <a:t> </a:t>
            </a:r>
            <a:r>
              <a:rPr lang="en-US" sz="1400" dirty="0" err="1"/>
              <a:t>là</a:t>
            </a:r>
            <a:r>
              <a:rPr lang="en-US" sz="1400" dirty="0"/>
              <a:t> </a:t>
            </a:r>
            <a:r>
              <a:rPr lang="en-US" sz="1400" dirty="0" err="1"/>
              <a:t>RegFiFo</a:t>
            </a:r>
            <a:endParaRPr lang="en-US" sz="1400" dirty="0"/>
          </a:p>
          <a:p>
            <a:pPr marL="285750" indent="-285750">
              <a:buFontTx/>
              <a:buChar char="-"/>
            </a:pPr>
            <a:endParaRPr lang="en-US" sz="1400" dirty="0"/>
          </a:p>
        </p:txBody>
      </p:sp>
      <p:pic>
        <p:nvPicPr>
          <p:cNvPr id="10" name="Picture 9">
            <a:extLst>
              <a:ext uri="{FF2B5EF4-FFF2-40B4-BE49-F238E27FC236}">
                <a16:creationId xmlns:a16="http://schemas.microsoft.com/office/drawing/2014/main" id="{0906A4C2-393D-49E1-E7E9-CFD7AC6BD5FC}"/>
              </a:ext>
            </a:extLst>
          </p:cNvPr>
          <p:cNvPicPr>
            <a:picLocks noChangeAspect="1"/>
          </p:cNvPicPr>
          <p:nvPr/>
        </p:nvPicPr>
        <p:blipFill>
          <a:blip r:embed="rId2"/>
          <a:stretch>
            <a:fillRect/>
          </a:stretch>
        </p:blipFill>
        <p:spPr>
          <a:xfrm>
            <a:off x="1312298" y="1322140"/>
            <a:ext cx="6263745" cy="1672519"/>
          </a:xfrm>
          <a:prstGeom prst="rect">
            <a:avLst/>
          </a:prstGeom>
        </p:spPr>
      </p:pic>
    </p:spTree>
    <p:extLst>
      <p:ext uri="{BB962C8B-B14F-4D97-AF65-F5344CB8AC3E}">
        <p14:creationId xmlns:p14="http://schemas.microsoft.com/office/powerpoint/2010/main" val="2354257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4" name="TextBox 3">
            <a:extLst>
              <a:ext uri="{FF2B5EF4-FFF2-40B4-BE49-F238E27FC236}">
                <a16:creationId xmlns:a16="http://schemas.microsoft.com/office/drawing/2014/main" id="{C23DBD83-0ED5-38E9-7D5C-A90AE5FB6084}"/>
              </a:ext>
            </a:extLst>
          </p:cNvPr>
          <p:cNvSpPr txBox="1"/>
          <p:nvPr/>
        </p:nvSpPr>
        <p:spPr>
          <a:xfrm>
            <a:off x="370983" y="1092746"/>
            <a:ext cx="5001117" cy="4308872"/>
          </a:xfrm>
          <a:prstGeom prst="rect">
            <a:avLst/>
          </a:prstGeom>
          <a:noFill/>
        </p:spPr>
        <p:txBody>
          <a:bodyPr wrap="square" rtlCol="0">
            <a:spAutoFit/>
          </a:bodyPr>
          <a:lstStyle/>
          <a:p>
            <a:r>
              <a:rPr lang="en-US" sz="1400" dirty="0"/>
              <a:t>3.10</a:t>
            </a:r>
            <a:r>
              <a:rPr lang="vi-VN" sz="1400" dirty="0"/>
              <a:t> Cấu hình SPI</a:t>
            </a:r>
            <a:endParaRPr lang="en-US" sz="1400" dirty="0"/>
          </a:p>
          <a:p>
            <a:r>
              <a:rPr lang="en-US" sz="1400" dirty="0" err="1"/>
              <a:t>Lựa</a:t>
            </a:r>
            <a:r>
              <a:rPr lang="en-US" sz="1400" dirty="0"/>
              <a:t> chon VĐK stm32f102c8t6</a:t>
            </a:r>
          </a:p>
          <a:p>
            <a:r>
              <a:rPr lang="en-US" sz="1400" dirty="0"/>
              <a:t>VĐK </a:t>
            </a:r>
            <a:r>
              <a:rPr lang="en-US" sz="1400" dirty="0" err="1"/>
              <a:t>có</a:t>
            </a:r>
            <a:r>
              <a:rPr lang="en-US" sz="1400" dirty="0"/>
              <a:t> </a:t>
            </a:r>
            <a:r>
              <a:rPr lang="en-US" sz="1400" dirty="0" err="1"/>
              <a:t>hỗ</a:t>
            </a:r>
            <a:r>
              <a:rPr lang="en-US" sz="1400" dirty="0"/>
              <a:t> </a:t>
            </a:r>
            <a:r>
              <a:rPr lang="en-US" sz="1400" dirty="0" err="1"/>
              <a:t>trợ</a:t>
            </a:r>
            <a:r>
              <a:rPr lang="en-US" sz="1400" dirty="0"/>
              <a:t> 2 </a:t>
            </a:r>
            <a:r>
              <a:rPr lang="en-US" sz="1400" dirty="0" err="1"/>
              <a:t>bộ</a:t>
            </a:r>
            <a:r>
              <a:rPr lang="en-US" sz="1400" dirty="0"/>
              <a:t> SPI, I2C, ADC,…, </a:t>
            </a:r>
            <a:r>
              <a:rPr lang="en-US" sz="1400" dirty="0" err="1"/>
              <a:t>xung</a:t>
            </a:r>
            <a:r>
              <a:rPr lang="en-US" sz="1400" dirty="0"/>
              <a:t> </a:t>
            </a:r>
            <a:r>
              <a:rPr lang="en-US" sz="1400" dirty="0" err="1"/>
              <a:t>nhịp</a:t>
            </a:r>
            <a:r>
              <a:rPr lang="en-US" sz="1400" dirty="0"/>
              <a:t> </a:t>
            </a:r>
            <a:r>
              <a:rPr lang="en-US" sz="1400" dirty="0" err="1"/>
              <a:t>lên</a:t>
            </a:r>
            <a:r>
              <a:rPr lang="en-US" sz="1400" dirty="0"/>
              <a:t> </a:t>
            </a:r>
            <a:r>
              <a:rPr lang="en-US" sz="1400" dirty="0" err="1"/>
              <a:t>tới</a:t>
            </a:r>
            <a:r>
              <a:rPr lang="en-US" sz="1400" dirty="0"/>
              <a:t> 72MHz</a:t>
            </a:r>
          </a:p>
          <a:p>
            <a:endParaRPr lang="vi-VN" sz="1400" dirty="0"/>
          </a:p>
          <a:p>
            <a:r>
              <a:rPr lang="vi-VN" sz="1400" dirty="0"/>
              <a:t>Ra02 hỗ trợ giao thức SPI song công</a:t>
            </a:r>
            <a:r>
              <a:rPr lang="en-US" sz="1400" dirty="0"/>
              <a:t>, </a:t>
            </a:r>
            <a:r>
              <a:rPr lang="en-US" sz="1400" dirty="0" err="1"/>
              <a:t>với</a:t>
            </a:r>
            <a:r>
              <a:rPr lang="en-US" sz="1400" dirty="0"/>
              <a:t> </a:t>
            </a:r>
            <a:r>
              <a:rPr lang="en-US" sz="1400" b="0" i="0" dirty="0">
                <a:solidFill>
                  <a:srgbClr val="000000"/>
                </a:solidFill>
                <a:effectLst/>
              </a:rPr>
              <a:t>CPOL = 0 and CPHA = 0, MSB first</a:t>
            </a:r>
            <a:br>
              <a:rPr lang="en-US" sz="1400" dirty="0"/>
            </a:br>
            <a:r>
              <a:rPr lang="vi-VN" sz="1400" dirty="0"/>
              <a:t>Cấu hình các thông số</a:t>
            </a:r>
            <a:r>
              <a:rPr lang="en-US" sz="1400" dirty="0"/>
              <a:t> SPI </a:t>
            </a:r>
            <a:r>
              <a:rPr lang="en-US" sz="1400" dirty="0" err="1"/>
              <a:t>cho</a:t>
            </a:r>
            <a:r>
              <a:rPr lang="en-US" sz="1400" dirty="0"/>
              <a:t> VĐK</a:t>
            </a:r>
            <a:r>
              <a:rPr lang="vi-VN" sz="1400" dirty="0"/>
              <a:t> như hình</a:t>
            </a:r>
            <a:endParaRPr lang="en-US" sz="1400" dirty="0"/>
          </a:p>
          <a:p>
            <a:endParaRPr lang="en-US" sz="1400" dirty="0"/>
          </a:p>
          <a:p>
            <a:r>
              <a:rPr lang="en-US" sz="1400" dirty="0" err="1"/>
              <a:t>Các</a:t>
            </a:r>
            <a:r>
              <a:rPr lang="en-US" sz="1400" dirty="0"/>
              <a:t> </a:t>
            </a:r>
            <a:r>
              <a:rPr lang="en-US" sz="1400" dirty="0" err="1"/>
              <a:t>hàm</a:t>
            </a:r>
            <a:r>
              <a:rPr lang="en-US" sz="1400" dirty="0"/>
              <a:t> </a:t>
            </a:r>
            <a:r>
              <a:rPr lang="en-US" sz="1400" dirty="0" err="1"/>
              <a:t>chính</a:t>
            </a:r>
            <a:r>
              <a:rPr lang="en-US" sz="1400" dirty="0"/>
              <a:t>:</a:t>
            </a:r>
          </a:p>
          <a:p>
            <a:r>
              <a:rPr lang="en-US" sz="1400" dirty="0"/>
              <a:t> </a:t>
            </a:r>
          </a:p>
          <a:p>
            <a:r>
              <a:rPr lang="en-US" sz="1000" dirty="0" err="1">
                <a:solidFill>
                  <a:srgbClr val="005032"/>
                </a:solidFill>
                <a:effectLst/>
                <a:latin typeface="Consolas" panose="020B0609020204030204" pitchFamily="49" charset="0"/>
              </a:rPr>
              <a:t>HAL_StatusTypeDef</a:t>
            </a:r>
            <a:r>
              <a:rPr lang="en-US" sz="1000" dirty="0">
                <a:solidFill>
                  <a:srgbClr val="000000"/>
                </a:solidFill>
                <a:effectLst/>
                <a:latin typeface="Consolas" panose="020B0609020204030204" pitchFamily="49" charset="0"/>
              </a:rPr>
              <a:t> </a:t>
            </a:r>
            <a:r>
              <a:rPr lang="en-US" sz="1000" b="1" dirty="0" err="1">
                <a:solidFill>
                  <a:srgbClr val="000000"/>
                </a:solidFill>
                <a:effectLst/>
                <a:latin typeface="Consolas" panose="020B0609020204030204" pitchFamily="49" charset="0"/>
              </a:rPr>
              <a:t>HAL_SPI_Transmit</a:t>
            </a:r>
            <a:r>
              <a:rPr lang="en-US" sz="1000" dirty="0">
                <a:solidFill>
                  <a:srgbClr val="000000"/>
                </a:solidFill>
                <a:effectLst/>
                <a:latin typeface="Consolas" panose="020B0609020204030204" pitchFamily="49" charset="0"/>
              </a:rPr>
              <a:t>(</a:t>
            </a:r>
            <a:r>
              <a:rPr lang="en-US" sz="1000" dirty="0" err="1">
                <a:solidFill>
                  <a:srgbClr val="005032"/>
                </a:solidFill>
                <a:effectLst/>
                <a:latin typeface="Consolas" panose="020B0609020204030204" pitchFamily="49" charset="0"/>
              </a:rPr>
              <a:t>SPI_HandleTypeDef</a:t>
            </a:r>
            <a:r>
              <a:rPr lang="en-US" sz="1000" dirty="0">
                <a:solidFill>
                  <a:srgbClr val="000000"/>
                </a:solidFill>
                <a:effectLst/>
                <a:latin typeface="Consolas" panose="020B0609020204030204" pitchFamily="49" charset="0"/>
              </a:rPr>
              <a:t> *</a:t>
            </a:r>
            <a:r>
              <a:rPr lang="en-US" sz="1000" dirty="0" err="1">
                <a:solidFill>
                  <a:srgbClr val="000000"/>
                </a:solidFill>
                <a:effectLst/>
                <a:latin typeface="Consolas" panose="020B0609020204030204" pitchFamily="49" charset="0"/>
              </a:rPr>
              <a:t>hspi</a:t>
            </a:r>
            <a:r>
              <a:rPr lang="en-US" sz="1000" dirty="0">
                <a:solidFill>
                  <a:srgbClr val="000000"/>
                </a:solidFill>
                <a:effectLst/>
                <a:latin typeface="Consolas" panose="020B0609020204030204" pitchFamily="49" charset="0"/>
              </a:rPr>
              <a:t>, </a:t>
            </a:r>
            <a:r>
              <a:rPr lang="en-US" sz="1000" b="1" dirty="0">
                <a:solidFill>
                  <a:srgbClr val="7F0055"/>
                </a:solidFill>
                <a:effectLst/>
                <a:latin typeface="Consolas" panose="020B0609020204030204" pitchFamily="49" charset="0"/>
              </a:rPr>
              <a:t>const</a:t>
            </a:r>
            <a:r>
              <a:rPr lang="en-US" sz="1000" dirty="0">
                <a:solidFill>
                  <a:srgbClr val="000000"/>
                </a:solidFill>
                <a:effectLst/>
                <a:latin typeface="Consolas" panose="020B0609020204030204" pitchFamily="49" charset="0"/>
              </a:rPr>
              <a:t> </a:t>
            </a:r>
            <a:r>
              <a:rPr lang="en-US" sz="1000" dirty="0">
                <a:solidFill>
                  <a:srgbClr val="005032"/>
                </a:solidFill>
                <a:effectLst/>
                <a:latin typeface="Consolas" panose="020B0609020204030204" pitchFamily="49" charset="0"/>
              </a:rPr>
              <a:t>uint8_t</a:t>
            </a:r>
            <a:r>
              <a:rPr lang="en-US" sz="1000" dirty="0">
                <a:solidFill>
                  <a:srgbClr val="000000"/>
                </a:solidFill>
                <a:effectLst/>
                <a:latin typeface="Consolas" panose="020B0609020204030204" pitchFamily="49" charset="0"/>
              </a:rPr>
              <a:t> *</a:t>
            </a:r>
            <a:r>
              <a:rPr lang="en-US" sz="1000" dirty="0" err="1">
                <a:solidFill>
                  <a:srgbClr val="000000"/>
                </a:solidFill>
                <a:effectLst/>
                <a:latin typeface="Consolas" panose="020B0609020204030204" pitchFamily="49" charset="0"/>
              </a:rPr>
              <a:t>pData</a:t>
            </a:r>
            <a:r>
              <a:rPr lang="en-US" sz="1000" dirty="0">
                <a:solidFill>
                  <a:srgbClr val="000000"/>
                </a:solidFill>
                <a:effectLst/>
                <a:latin typeface="Consolas" panose="020B0609020204030204" pitchFamily="49" charset="0"/>
              </a:rPr>
              <a:t>, </a:t>
            </a:r>
            <a:r>
              <a:rPr lang="en-US" sz="1000" dirty="0">
                <a:solidFill>
                  <a:srgbClr val="005032"/>
                </a:solidFill>
                <a:effectLst/>
                <a:latin typeface="Consolas" panose="020B0609020204030204" pitchFamily="49" charset="0"/>
              </a:rPr>
              <a:t>uint16_t</a:t>
            </a:r>
            <a:r>
              <a:rPr lang="en-US" sz="1000" dirty="0">
                <a:solidFill>
                  <a:srgbClr val="000000"/>
                </a:solidFill>
                <a:effectLst/>
                <a:latin typeface="Consolas" panose="020B0609020204030204" pitchFamily="49" charset="0"/>
              </a:rPr>
              <a:t> Size, </a:t>
            </a:r>
            <a:r>
              <a:rPr lang="en-US" sz="1000" dirty="0">
                <a:solidFill>
                  <a:srgbClr val="005032"/>
                </a:solidFill>
                <a:effectLst/>
                <a:latin typeface="Consolas" panose="020B0609020204030204" pitchFamily="49" charset="0"/>
              </a:rPr>
              <a:t>uint32_t</a:t>
            </a:r>
            <a:r>
              <a:rPr lang="en-US" sz="1000" dirty="0">
                <a:solidFill>
                  <a:srgbClr val="000000"/>
                </a:solidFill>
                <a:effectLst/>
                <a:latin typeface="Consolas" panose="020B0609020204030204" pitchFamily="49" charset="0"/>
              </a:rPr>
              <a:t> </a:t>
            </a:r>
            <a:r>
              <a:rPr lang="en-US" sz="1000" u="sng" dirty="0">
                <a:solidFill>
                  <a:srgbClr val="0066CC"/>
                </a:solidFill>
                <a:effectLst/>
                <a:latin typeface="Consolas" panose="020B0609020204030204" pitchFamily="49" charset="0"/>
              </a:rPr>
              <a:t>Timeout</a:t>
            </a:r>
            <a:r>
              <a:rPr lang="en-US" sz="1000" dirty="0">
                <a:solidFill>
                  <a:srgbClr val="000000"/>
                </a:solidFill>
                <a:effectLst/>
                <a:latin typeface="Consolas" panose="020B0609020204030204" pitchFamily="49" charset="0"/>
              </a:rPr>
              <a:t>)</a:t>
            </a:r>
          </a:p>
          <a:p>
            <a:endParaRPr lang="en-US" sz="1000" dirty="0">
              <a:solidFill>
                <a:srgbClr val="005032"/>
              </a:solidFill>
              <a:effectLst/>
              <a:latin typeface="Consolas" panose="020B0609020204030204" pitchFamily="49" charset="0"/>
            </a:endParaRPr>
          </a:p>
          <a:p>
            <a:r>
              <a:rPr lang="en-US" sz="1000" dirty="0" err="1">
                <a:solidFill>
                  <a:srgbClr val="005032"/>
                </a:solidFill>
                <a:effectLst/>
                <a:latin typeface="Consolas" panose="020B0609020204030204" pitchFamily="49" charset="0"/>
              </a:rPr>
              <a:t>HAL_StatusTypeDef</a:t>
            </a:r>
            <a:r>
              <a:rPr lang="en-US" sz="1000" dirty="0">
                <a:solidFill>
                  <a:srgbClr val="000000"/>
                </a:solidFill>
                <a:effectLst/>
                <a:latin typeface="Consolas" panose="020B0609020204030204" pitchFamily="49" charset="0"/>
              </a:rPr>
              <a:t> </a:t>
            </a:r>
            <a:r>
              <a:rPr lang="en-US" sz="1000" b="1" dirty="0">
                <a:solidFill>
                  <a:srgbClr val="000000"/>
                </a:solidFill>
                <a:effectLst/>
                <a:latin typeface="Consolas" panose="020B0609020204030204" pitchFamily="49" charset="0"/>
              </a:rPr>
              <a:t>HAL_SPI_Receive</a:t>
            </a:r>
            <a:r>
              <a:rPr lang="en-US" sz="1000" dirty="0">
                <a:solidFill>
                  <a:srgbClr val="000000"/>
                </a:solidFill>
                <a:effectLst/>
                <a:latin typeface="Consolas" panose="020B0609020204030204" pitchFamily="49" charset="0"/>
              </a:rPr>
              <a:t>(</a:t>
            </a:r>
            <a:r>
              <a:rPr lang="en-US" sz="1000" dirty="0">
                <a:solidFill>
                  <a:srgbClr val="005032"/>
                </a:solidFill>
                <a:effectLst/>
                <a:latin typeface="Consolas" panose="020B0609020204030204" pitchFamily="49" charset="0"/>
              </a:rPr>
              <a:t>SPI_HandleTypeDef</a:t>
            </a:r>
            <a:r>
              <a:rPr lang="en-US" sz="1000" dirty="0">
                <a:solidFill>
                  <a:srgbClr val="000000"/>
                </a:solidFill>
                <a:effectLst/>
                <a:latin typeface="Consolas" panose="020B0609020204030204" pitchFamily="49" charset="0"/>
              </a:rPr>
              <a:t> *</a:t>
            </a:r>
            <a:r>
              <a:rPr lang="en-US" sz="1000" dirty="0" err="1">
                <a:solidFill>
                  <a:srgbClr val="000000"/>
                </a:solidFill>
                <a:effectLst/>
                <a:latin typeface="Consolas" panose="020B0609020204030204" pitchFamily="49" charset="0"/>
              </a:rPr>
              <a:t>hspi</a:t>
            </a:r>
            <a:r>
              <a:rPr lang="en-US" sz="1000" dirty="0">
                <a:solidFill>
                  <a:srgbClr val="000000"/>
                </a:solidFill>
                <a:effectLst/>
                <a:latin typeface="Consolas" panose="020B0609020204030204" pitchFamily="49" charset="0"/>
              </a:rPr>
              <a:t>, </a:t>
            </a:r>
            <a:r>
              <a:rPr lang="en-US" sz="1000" dirty="0">
                <a:solidFill>
                  <a:srgbClr val="005032"/>
                </a:solidFill>
                <a:effectLst/>
                <a:latin typeface="Consolas" panose="020B0609020204030204" pitchFamily="49" charset="0"/>
              </a:rPr>
              <a:t>uint8_t</a:t>
            </a:r>
            <a:r>
              <a:rPr lang="en-US" sz="1000" dirty="0">
                <a:solidFill>
                  <a:srgbClr val="000000"/>
                </a:solidFill>
                <a:effectLst/>
                <a:latin typeface="Consolas" panose="020B0609020204030204" pitchFamily="49" charset="0"/>
              </a:rPr>
              <a:t> *</a:t>
            </a:r>
            <a:r>
              <a:rPr lang="en-US" sz="1000" dirty="0" err="1">
                <a:solidFill>
                  <a:srgbClr val="000000"/>
                </a:solidFill>
                <a:effectLst/>
                <a:latin typeface="Consolas" panose="020B0609020204030204" pitchFamily="49" charset="0"/>
              </a:rPr>
              <a:t>pData</a:t>
            </a:r>
            <a:r>
              <a:rPr lang="en-US" sz="1000" dirty="0">
                <a:solidFill>
                  <a:srgbClr val="000000"/>
                </a:solidFill>
                <a:effectLst/>
                <a:latin typeface="Consolas" panose="020B0609020204030204" pitchFamily="49" charset="0"/>
              </a:rPr>
              <a:t>, </a:t>
            </a:r>
            <a:r>
              <a:rPr lang="en-US" sz="1000" dirty="0">
                <a:solidFill>
                  <a:srgbClr val="005032"/>
                </a:solidFill>
                <a:effectLst/>
                <a:latin typeface="Consolas" panose="020B0609020204030204" pitchFamily="49" charset="0"/>
              </a:rPr>
              <a:t>uint16_t</a:t>
            </a:r>
            <a:r>
              <a:rPr lang="en-US" sz="1000" dirty="0">
                <a:solidFill>
                  <a:srgbClr val="000000"/>
                </a:solidFill>
                <a:effectLst/>
                <a:latin typeface="Consolas" panose="020B0609020204030204" pitchFamily="49" charset="0"/>
              </a:rPr>
              <a:t> Size, </a:t>
            </a:r>
            <a:r>
              <a:rPr lang="en-US" sz="1000" dirty="0">
                <a:solidFill>
                  <a:srgbClr val="005032"/>
                </a:solidFill>
                <a:effectLst/>
                <a:latin typeface="Consolas" panose="020B0609020204030204" pitchFamily="49" charset="0"/>
              </a:rPr>
              <a:t>uint32_t</a:t>
            </a:r>
            <a:r>
              <a:rPr lang="en-US" sz="1000" dirty="0">
                <a:solidFill>
                  <a:srgbClr val="000000"/>
                </a:solidFill>
                <a:effectLst/>
                <a:latin typeface="Consolas" panose="020B0609020204030204" pitchFamily="49" charset="0"/>
              </a:rPr>
              <a:t> Timeout)</a:t>
            </a:r>
          </a:p>
          <a:p>
            <a:endParaRPr lang="en-US" sz="1200" dirty="0">
              <a:solidFill>
                <a:srgbClr val="000000"/>
              </a:solidFill>
              <a:latin typeface="Consolas" panose="020B0609020204030204" pitchFamily="49" charset="0"/>
            </a:endParaRPr>
          </a:p>
          <a:p>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hspi</a:t>
            </a:r>
            <a:r>
              <a:rPr lang="en-US" sz="1200" dirty="0">
                <a:solidFill>
                  <a:srgbClr val="000000"/>
                </a:solidFill>
                <a:latin typeface="Consolas" panose="020B0609020204030204" pitchFamily="49" charset="0"/>
              </a:rPr>
              <a:t>: con </a:t>
            </a:r>
            <a:r>
              <a:rPr lang="en-US" sz="1200" dirty="0" err="1">
                <a:solidFill>
                  <a:srgbClr val="000000"/>
                </a:solidFill>
                <a:latin typeface="Consolas" panose="020B0609020204030204" pitchFamily="49" charset="0"/>
              </a:rPr>
              <a:t>trỏ</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trỏ</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tới</a:t>
            </a:r>
            <a:r>
              <a:rPr lang="en-US" sz="1200" dirty="0">
                <a:solidFill>
                  <a:srgbClr val="000000"/>
                </a:solidFill>
                <a:latin typeface="Consolas" panose="020B0609020204030204" pitchFamily="49" charset="0"/>
              </a:rPr>
              <a:t> struct </a:t>
            </a:r>
            <a:r>
              <a:rPr lang="en-US" sz="1200" dirty="0" err="1">
                <a:solidFill>
                  <a:srgbClr val="000000"/>
                </a:solidFill>
                <a:latin typeface="Consolas" panose="020B0609020204030204" pitchFamily="49" charset="0"/>
              </a:rPr>
              <a:t>cấu</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hình</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pData</a:t>
            </a:r>
            <a:r>
              <a:rPr lang="en-US" sz="1200" dirty="0">
                <a:solidFill>
                  <a:srgbClr val="000000"/>
                </a:solidFill>
                <a:latin typeface="Consolas" panose="020B0609020204030204" pitchFamily="49" charset="0"/>
              </a:rPr>
              <a:t>: con </a:t>
            </a:r>
            <a:r>
              <a:rPr lang="en-US" sz="1200" dirty="0" err="1">
                <a:solidFill>
                  <a:srgbClr val="000000"/>
                </a:solidFill>
                <a:latin typeface="Consolas" panose="020B0609020204030204" pitchFamily="49" charset="0"/>
              </a:rPr>
              <a:t>trỏ</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trỏ</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tới</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databuff</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Size: </a:t>
            </a:r>
            <a:r>
              <a:rPr lang="en-US" sz="1200" dirty="0" err="1">
                <a:solidFill>
                  <a:srgbClr val="000000"/>
                </a:solidFill>
                <a:latin typeface="Consolas" panose="020B0609020204030204" pitchFamily="49" charset="0"/>
              </a:rPr>
              <a:t>số</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lượng</a:t>
            </a:r>
            <a:r>
              <a:rPr lang="en-US" sz="1200" dirty="0">
                <a:solidFill>
                  <a:srgbClr val="000000"/>
                </a:solidFill>
                <a:latin typeface="Consolas" panose="020B0609020204030204" pitchFamily="49" charset="0"/>
              </a:rPr>
              <a:t> byte </a:t>
            </a:r>
            <a:r>
              <a:rPr lang="en-US" sz="1200" dirty="0" err="1">
                <a:solidFill>
                  <a:srgbClr val="000000"/>
                </a:solidFill>
                <a:latin typeface="Consolas" panose="020B0609020204030204" pitchFamily="49" charset="0"/>
              </a:rPr>
              <a:t>ghi</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đọc</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Timeout</a:t>
            </a:r>
            <a:endParaRPr lang="en-US" sz="1400" dirty="0">
              <a:solidFill>
                <a:srgbClr val="000000"/>
              </a:solidFill>
              <a:latin typeface="Consolas" panose="020B0609020204030204" pitchFamily="49" charset="0"/>
            </a:endParaRPr>
          </a:p>
          <a:p>
            <a:endParaRPr lang="en-US" sz="1200" dirty="0">
              <a:solidFill>
                <a:srgbClr val="000000"/>
              </a:solidFill>
              <a:effectLst/>
              <a:latin typeface="Consolas" panose="020B0609020204030204" pitchFamily="49" charset="0"/>
            </a:endParaRPr>
          </a:p>
        </p:txBody>
      </p:sp>
      <p:pic>
        <p:nvPicPr>
          <p:cNvPr id="6" name="Picture 5">
            <a:extLst>
              <a:ext uri="{FF2B5EF4-FFF2-40B4-BE49-F238E27FC236}">
                <a16:creationId xmlns:a16="http://schemas.microsoft.com/office/drawing/2014/main" id="{F0E050BC-8479-4244-561D-8BF01D0709D7}"/>
              </a:ext>
            </a:extLst>
          </p:cNvPr>
          <p:cNvPicPr>
            <a:picLocks noChangeAspect="1"/>
          </p:cNvPicPr>
          <p:nvPr/>
        </p:nvPicPr>
        <p:blipFill>
          <a:blip r:embed="rId2"/>
          <a:stretch>
            <a:fillRect/>
          </a:stretch>
        </p:blipFill>
        <p:spPr>
          <a:xfrm>
            <a:off x="5818935" y="861060"/>
            <a:ext cx="3105848" cy="4402196"/>
          </a:xfrm>
          <a:prstGeom prst="rect">
            <a:avLst/>
          </a:prstGeom>
        </p:spPr>
      </p:pic>
    </p:spTree>
    <p:extLst>
      <p:ext uri="{BB962C8B-B14F-4D97-AF65-F5344CB8AC3E}">
        <p14:creationId xmlns:p14="http://schemas.microsoft.com/office/powerpoint/2010/main" val="2751358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en-US" dirty="0"/>
              <a:t>IV. </a:t>
            </a:r>
            <a:r>
              <a:rPr lang="en-US" dirty="0" err="1"/>
              <a:t>Quá</a:t>
            </a:r>
            <a:r>
              <a:rPr lang="en-US" dirty="0"/>
              <a:t> </a:t>
            </a:r>
            <a:r>
              <a:rPr lang="en-US" dirty="0" err="1"/>
              <a:t>trình</a:t>
            </a:r>
            <a:r>
              <a:rPr lang="en-US" dirty="0"/>
              <a:t> </a:t>
            </a:r>
            <a:r>
              <a:rPr lang="en-US" dirty="0" err="1"/>
              <a:t>truyền</a:t>
            </a:r>
            <a:r>
              <a:rPr lang="en-US" dirty="0"/>
              <a:t> </a:t>
            </a:r>
            <a:r>
              <a:rPr lang="en-US" dirty="0" err="1"/>
              <a:t>và</a:t>
            </a:r>
            <a:r>
              <a:rPr lang="en-US" dirty="0"/>
              <a:t> </a:t>
            </a:r>
            <a:r>
              <a:rPr lang="en-US" dirty="0" err="1"/>
              <a:t>nhận</a:t>
            </a:r>
            <a:r>
              <a:rPr lang="en-US" dirty="0"/>
              <a:t> </a:t>
            </a:r>
            <a:r>
              <a:rPr lang="en-US" dirty="0" err="1"/>
              <a:t>bản</a:t>
            </a:r>
            <a:r>
              <a:rPr lang="en-US" dirty="0"/>
              <a:t> tin</a:t>
            </a:r>
          </a:p>
        </p:txBody>
      </p:sp>
      <p:pic>
        <p:nvPicPr>
          <p:cNvPr id="5" name="Picture 4">
            <a:extLst>
              <a:ext uri="{FF2B5EF4-FFF2-40B4-BE49-F238E27FC236}">
                <a16:creationId xmlns:a16="http://schemas.microsoft.com/office/drawing/2014/main" id="{B0C9BFC3-0C9B-B4E0-D643-5F16D14D44C7}"/>
              </a:ext>
            </a:extLst>
          </p:cNvPr>
          <p:cNvPicPr>
            <a:picLocks noChangeAspect="1"/>
          </p:cNvPicPr>
          <p:nvPr/>
        </p:nvPicPr>
        <p:blipFill>
          <a:blip r:embed="rId2"/>
          <a:stretch>
            <a:fillRect/>
          </a:stretch>
        </p:blipFill>
        <p:spPr>
          <a:xfrm>
            <a:off x="568717" y="1175672"/>
            <a:ext cx="3736096" cy="4293296"/>
          </a:xfrm>
          <a:prstGeom prst="rect">
            <a:avLst/>
          </a:prstGeom>
        </p:spPr>
      </p:pic>
      <p:pic>
        <p:nvPicPr>
          <p:cNvPr id="8" name="Picture 7">
            <a:extLst>
              <a:ext uri="{FF2B5EF4-FFF2-40B4-BE49-F238E27FC236}">
                <a16:creationId xmlns:a16="http://schemas.microsoft.com/office/drawing/2014/main" id="{29C3777B-3E69-7755-9463-93B078B456E9}"/>
              </a:ext>
            </a:extLst>
          </p:cNvPr>
          <p:cNvPicPr>
            <a:picLocks noChangeAspect="1"/>
          </p:cNvPicPr>
          <p:nvPr/>
        </p:nvPicPr>
        <p:blipFill>
          <a:blip r:embed="rId3"/>
          <a:stretch>
            <a:fillRect/>
          </a:stretch>
        </p:blipFill>
        <p:spPr>
          <a:xfrm>
            <a:off x="4304813" y="1066800"/>
            <a:ext cx="3809083" cy="4724400"/>
          </a:xfrm>
          <a:prstGeom prst="rect">
            <a:avLst/>
          </a:prstGeom>
        </p:spPr>
      </p:pic>
    </p:spTree>
    <p:extLst>
      <p:ext uri="{BB962C8B-B14F-4D97-AF65-F5344CB8AC3E}">
        <p14:creationId xmlns:p14="http://schemas.microsoft.com/office/powerpoint/2010/main" val="3140516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ĐO KIỂM </a:t>
            </a:r>
          </a:p>
        </p:txBody>
      </p:sp>
      <p:pic>
        <p:nvPicPr>
          <p:cNvPr id="7" name="Picture 6">
            <a:extLst>
              <a:ext uri="{FF2B5EF4-FFF2-40B4-BE49-F238E27FC236}">
                <a16:creationId xmlns:a16="http://schemas.microsoft.com/office/drawing/2014/main" id="{99DF97E0-8297-F8ED-5910-77A5232C006F}"/>
              </a:ext>
            </a:extLst>
          </p:cNvPr>
          <p:cNvPicPr>
            <a:picLocks noChangeAspect="1"/>
          </p:cNvPicPr>
          <p:nvPr/>
        </p:nvPicPr>
        <p:blipFill>
          <a:blip r:embed="rId2"/>
          <a:stretch>
            <a:fillRect/>
          </a:stretch>
        </p:blipFill>
        <p:spPr>
          <a:xfrm>
            <a:off x="1177634" y="3229831"/>
            <a:ext cx="6437745" cy="942109"/>
          </a:xfrm>
          <a:prstGeom prst="rect">
            <a:avLst/>
          </a:prstGeom>
        </p:spPr>
      </p:pic>
      <p:sp>
        <p:nvSpPr>
          <p:cNvPr id="8" name="TextBox 7">
            <a:extLst>
              <a:ext uri="{FF2B5EF4-FFF2-40B4-BE49-F238E27FC236}">
                <a16:creationId xmlns:a16="http://schemas.microsoft.com/office/drawing/2014/main" id="{68BA2E57-A512-B112-DCAE-42DB2BB59D30}"/>
              </a:ext>
            </a:extLst>
          </p:cNvPr>
          <p:cNvSpPr txBox="1"/>
          <p:nvPr/>
        </p:nvSpPr>
        <p:spPr>
          <a:xfrm>
            <a:off x="2329092" y="4446478"/>
            <a:ext cx="5001117" cy="461665"/>
          </a:xfrm>
          <a:prstGeom prst="rect">
            <a:avLst/>
          </a:prstGeom>
          <a:noFill/>
        </p:spPr>
        <p:txBody>
          <a:bodyPr wrap="square" rtlCol="0">
            <a:spAutoFit/>
          </a:bodyPr>
          <a:lstStyle/>
          <a:p>
            <a:r>
              <a:rPr lang="en-US" sz="1200" dirty="0" err="1">
                <a:solidFill>
                  <a:srgbClr val="000000"/>
                </a:solidFill>
                <a:latin typeface="Consolas" panose="020B0609020204030204" pitchFamily="49" charset="0"/>
              </a:rPr>
              <a:t>Dòng</a:t>
            </a:r>
            <a:r>
              <a:rPr lang="en-US" sz="1200" dirty="0">
                <a:solidFill>
                  <a:srgbClr val="000000"/>
                </a:solidFill>
                <a:latin typeface="Consolas" panose="020B0609020204030204" pitchFamily="49" charset="0"/>
              </a:rPr>
              <a:t> peak </a:t>
            </a:r>
            <a:r>
              <a:rPr lang="en-US" sz="1200" dirty="0" err="1">
                <a:solidFill>
                  <a:srgbClr val="000000"/>
                </a:solidFill>
                <a:latin typeface="Consolas" panose="020B0609020204030204" pitchFamily="49" charset="0"/>
              </a:rPr>
              <a:t>tiêu</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thụ</a:t>
            </a:r>
            <a:r>
              <a:rPr lang="en-US" sz="1200" dirty="0">
                <a:solidFill>
                  <a:srgbClr val="000000"/>
                </a:solidFill>
                <a:latin typeface="Consolas" panose="020B0609020204030204" pitchFamily="49" charset="0"/>
              </a:rPr>
              <a:t> ở </a:t>
            </a:r>
            <a:r>
              <a:rPr lang="en-US" sz="1200" dirty="0" err="1">
                <a:solidFill>
                  <a:srgbClr val="000000"/>
                </a:solidFill>
                <a:latin typeface="Consolas" panose="020B0609020204030204" pitchFamily="49" charset="0"/>
              </a:rPr>
              <a:t>chế</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độ</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truyền</a:t>
            </a:r>
            <a:r>
              <a:rPr lang="en-US" sz="1200" dirty="0">
                <a:solidFill>
                  <a:srgbClr val="000000"/>
                </a:solidFill>
                <a:latin typeface="Consolas" panose="020B0609020204030204" pitchFamily="49" charset="0"/>
              </a:rPr>
              <a:t> 1 </a:t>
            </a:r>
            <a:r>
              <a:rPr lang="en-US" sz="1200" dirty="0" err="1">
                <a:solidFill>
                  <a:srgbClr val="000000"/>
                </a:solidFill>
                <a:latin typeface="Consolas" panose="020B0609020204030204" pitchFamily="49" charset="0"/>
              </a:rPr>
              <a:t>bản</a:t>
            </a:r>
            <a:r>
              <a:rPr lang="en-US" sz="1200" dirty="0">
                <a:solidFill>
                  <a:srgbClr val="000000"/>
                </a:solidFill>
                <a:latin typeface="Consolas" panose="020B0609020204030204" pitchFamily="49" charset="0"/>
              </a:rPr>
              <a:t> tin 60mA </a:t>
            </a:r>
            <a:r>
              <a:rPr lang="en-US" sz="1200" dirty="0">
                <a:solidFill>
                  <a:srgbClr val="000000"/>
                </a:solidFill>
                <a:effectLst/>
                <a:latin typeface="Consolas" panose="020B0609020204030204" pitchFamily="49" charset="0"/>
              </a:rPr>
              <a:t>Stm32: 34mA =&gt; 26mA (~93% so </a:t>
            </a:r>
            <a:r>
              <a:rPr lang="en-US" sz="1200" dirty="0" err="1">
                <a:solidFill>
                  <a:srgbClr val="000000"/>
                </a:solidFill>
                <a:effectLst/>
                <a:latin typeface="Consolas" panose="020B0609020204030204" pitchFamily="49" charset="0"/>
              </a:rPr>
              <a:t>với</a:t>
            </a:r>
            <a:r>
              <a:rPr lang="en-US" sz="1200" dirty="0">
                <a:solidFill>
                  <a:srgbClr val="000000"/>
                </a:solidFill>
                <a:effectLst/>
                <a:latin typeface="Consolas" panose="020B0609020204030204" pitchFamily="49" charset="0"/>
              </a:rPr>
              <a:t> datasheet)</a:t>
            </a:r>
          </a:p>
        </p:txBody>
      </p:sp>
      <p:pic>
        <p:nvPicPr>
          <p:cNvPr id="10" name="Picture 9">
            <a:extLst>
              <a:ext uri="{FF2B5EF4-FFF2-40B4-BE49-F238E27FC236}">
                <a16:creationId xmlns:a16="http://schemas.microsoft.com/office/drawing/2014/main" id="{80086110-74C4-6BAB-DCFF-F3AB31E30736}"/>
              </a:ext>
            </a:extLst>
          </p:cNvPr>
          <p:cNvPicPr>
            <a:picLocks noChangeAspect="1"/>
          </p:cNvPicPr>
          <p:nvPr/>
        </p:nvPicPr>
        <p:blipFill>
          <a:blip r:embed="rId3"/>
          <a:stretch>
            <a:fillRect/>
          </a:stretch>
        </p:blipFill>
        <p:spPr>
          <a:xfrm>
            <a:off x="150402" y="5182681"/>
            <a:ext cx="4357380" cy="863771"/>
          </a:xfrm>
          <a:prstGeom prst="rect">
            <a:avLst/>
          </a:prstGeom>
        </p:spPr>
      </p:pic>
      <p:pic>
        <p:nvPicPr>
          <p:cNvPr id="12" name="Picture 11">
            <a:extLst>
              <a:ext uri="{FF2B5EF4-FFF2-40B4-BE49-F238E27FC236}">
                <a16:creationId xmlns:a16="http://schemas.microsoft.com/office/drawing/2014/main" id="{BDD7B889-2ED2-2E45-762B-713B98F6F69A}"/>
              </a:ext>
            </a:extLst>
          </p:cNvPr>
          <p:cNvPicPr>
            <a:picLocks noChangeAspect="1"/>
          </p:cNvPicPr>
          <p:nvPr/>
        </p:nvPicPr>
        <p:blipFill>
          <a:blip r:embed="rId4"/>
          <a:stretch>
            <a:fillRect/>
          </a:stretch>
        </p:blipFill>
        <p:spPr>
          <a:xfrm>
            <a:off x="1177634" y="1255022"/>
            <a:ext cx="4039164" cy="1571844"/>
          </a:xfrm>
          <a:prstGeom prst="rect">
            <a:avLst/>
          </a:prstGeom>
        </p:spPr>
      </p:pic>
      <p:pic>
        <p:nvPicPr>
          <p:cNvPr id="14" name="Picture 13">
            <a:extLst>
              <a:ext uri="{FF2B5EF4-FFF2-40B4-BE49-F238E27FC236}">
                <a16:creationId xmlns:a16="http://schemas.microsoft.com/office/drawing/2014/main" id="{03AB9835-5D36-1BA5-1F02-3E69F4A10329}"/>
              </a:ext>
            </a:extLst>
          </p:cNvPr>
          <p:cNvPicPr>
            <a:picLocks noChangeAspect="1"/>
          </p:cNvPicPr>
          <p:nvPr/>
        </p:nvPicPr>
        <p:blipFill>
          <a:blip r:embed="rId5"/>
          <a:stretch>
            <a:fillRect/>
          </a:stretch>
        </p:blipFill>
        <p:spPr>
          <a:xfrm>
            <a:off x="4579812" y="5006238"/>
            <a:ext cx="4166543" cy="1040214"/>
          </a:xfrm>
          <a:prstGeom prst="rect">
            <a:avLst/>
          </a:prstGeom>
        </p:spPr>
      </p:pic>
    </p:spTree>
    <p:extLst>
      <p:ext uri="{BB962C8B-B14F-4D97-AF65-F5344CB8AC3E}">
        <p14:creationId xmlns:p14="http://schemas.microsoft.com/office/powerpoint/2010/main" val="1341840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994D1-B0B9-97CB-A9B2-4F2D31319A3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7508968A-F2A2-8005-6E03-B78E65864C76}"/>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Tree>
    <p:extLst>
      <p:ext uri="{BB962C8B-B14F-4D97-AF65-F5344CB8AC3E}">
        <p14:creationId xmlns:p14="http://schemas.microsoft.com/office/powerpoint/2010/main" val="3651498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644728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Tree>
    <p:extLst>
      <p:ext uri="{BB962C8B-B14F-4D97-AF65-F5344CB8AC3E}">
        <p14:creationId xmlns:p14="http://schemas.microsoft.com/office/powerpoint/2010/main" val="2581069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130957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931</TotalTime>
  <Words>1189</Words>
  <Application>Microsoft Office PowerPoint</Application>
  <PresentationFormat>On-screen Show (4:3)</PresentationFormat>
  <Paragraphs>149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Consolas</vt:lpstr>
      <vt:lpstr>Google Sans Text</vt:lpstr>
      <vt:lpstr>Lato</vt:lpstr>
      <vt:lpstr>Wingdings</vt:lpstr>
      <vt:lpstr>Office Theme</vt:lpstr>
      <vt:lpstr>PowerPoint Presentation</vt:lpstr>
      <vt:lpstr>PowerPoint Presentation</vt:lpstr>
      <vt:lpstr>I. Tổng quan về LoRa</vt:lpstr>
      <vt:lpstr>II. SX1278 &amp; Module RA-02</vt:lpstr>
      <vt:lpstr>III. Lập trình cấu hình các thông số của LoRa</vt:lpstr>
      <vt:lpstr>III. Lập trình cấu hình các thông số của LoRa</vt:lpstr>
      <vt:lpstr>III. Lập trình cấu hình các thông số của LoRa</vt:lpstr>
      <vt:lpstr>III. Cấu hình các thông số của LoRa</vt:lpstr>
      <vt:lpstr>III. Lập trình cấu hình các thông số của LoRa</vt:lpstr>
      <vt:lpstr>III. Lập trình cấu hình các thông số của LoRa</vt:lpstr>
      <vt:lpstr>IV. Quá trình truyền và nhận bản tin</vt:lpstr>
      <vt:lpstr>ĐO KIỂM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Quoc Anh 20222454</cp:lastModifiedBy>
  <cp:revision>61</cp:revision>
  <dcterms:created xsi:type="dcterms:W3CDTF">2021-05-28T04:32:29Z</dcterms:created>
  <dcterms:modified xsi:type="dcterms:W3CDTF">2026-05-17T06:42:07Z</dcterms:modified>
</cp:coreProperties>
</file>